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notesMasterIdLst>
    <p:notesMasterId r:id="rId21"/>
  </p:notesMasterIdLst>
  <p:sldIdLst>
    <p:sldId id="269" r:id="rId2"/>
    <p:sldId id="257" r:id="rId3"/>
    <p:sldId id="258" r:id="rId4"/>
    <p:sldId id="260" r:id="rId5"/>
    <p:sldId id="259" r:id="rId6"/>
    <p:sldId id="278" r:id="rId7"/>
    <p:sldId id="261" r:id="rId8"/>
    <p:sldId id="295" r:id="rId9"/>
    <p:sldId id="294" r:id="rId10"/>
    <p:sldId id="296" r:id="rId11"/>
    <p:sldId id="297" r:id="rId12"/>
    <p:sldId id="263" r:id="rId13"/>
    <p:sldId id="264" r:id="rId14"/>
    <p:sldId id="265" r:id="rId15"/>
    <p:sldId id="266" r:id="rId16"/>
    <p:sldId id="267" r:id="rId17"/>
    <p:sldId id="285" r:id="rId18"/>
    <p:sldId id="298" r:id="rId19"/>
    <p:sldId id="277" r:id="rId2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4053C-EE5F-49A7-A434-33124332E952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696F3-0CED-42B7-9BA3-658181192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26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696F3-0CED-42B7-9BA3-6581811920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43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696F3-0CED-42B7-9BA3-6581811920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72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BE64E-AA6B-97BC-6744-0D22562F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42A61-2D93-773E-2A12-68E3CDEB4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DD20A-F4B3-BB5B-6ABF-C0D64C9E7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AE6E0-0B9E-9EF2-BD0A-6062D1A09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696F3-0CED-42B7-9BA3-6581811920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48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A23F-6B8A-98AC-8A8A-A4D628337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C0A33-48CB-CC8A-9F27-80B6C1C5C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3587B-0005-5183-27B5-6CFA5AD9F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B6D7A-D936-6C9C-96AE-C6B235343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696F3-0CED-42B7-9BA3-6581811920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34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2BC1C-2E0B-4313-6B3A-F13E1320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E3C02-2689-332B-CAC9-3DA84740A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9D174-CB3B-2780-0AFA-4BE91767D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31E15-B477-85C0-E9BA-21F7B5203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696F3-0CED-42B7-9BA3-6581811920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84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9DAED-AF42-1C63-88ED-06309B84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36B3D-7205-00E9-6881-96C3F3DE0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FFA3E-8DDF-C760-D578-875669A91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4A096-D19F-CDB9-CDC7-488B5AC43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696F3-0CED-42B7-9BA3-6581811920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2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2FDA-C3A1-4485-94ED-8D5328978C71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8F7E-26DE-43B8-861F-88D6AF6B6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1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807AF-0B8F-471E-BA59-6B19150596A0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0B40-061E-4F84-BA61-C2718CEB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3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4994-0678-42BF-89BB-2A2111B35EC2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06023-F377-4656-8959-B78E94F88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4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9BFE4-6C92-46A8-952F-57A802E8789E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3BD5-857C-4627-8055-65D381668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9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2BC-7C78-4A03-9929-F499D30448A0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BC86D-773F-43FE-8E4D-65D76D8E0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6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A73C6-0042-455E-8B2F-75B2189B5283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154C-27AA-41D7-A83F-562448F81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7CCB-C2F4-44F8-A1ED-76504DF8BDBC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0B81-D738-47BD-B272-501509EDC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84C3-2DCE-4BE0-9311-8CB1C190C7E8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4EB9-794F-4DAA-84E7-248B4BED0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DE9F-D025-4A96-9436-A9B54598C24A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42D6-2A26-479A-9B16-2F701678A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0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9D5E0-4F80-4C37-BE2D-2254170079DA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21C67-2251-4F43-AF36-005A94535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8BB8-8D90-489A-8AF2-46E7BE23BAFA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4F58-CD59-4AA2-8C1F-6EBD5A9D7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63F3F4-13F2-4143-9618-08A48950E4B2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9A044B-FC12-4343-995C-1E329064C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Senior Design Project  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1600200" y="3612891"/>
            <a:ext cx="6400800" cy="1752600"/>
          </a:xfrm>
        </p:spPr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AutoFYP</a:t>
            </a:r>
          </a:p>
          <a:p>
            <a:pPr marL="63500" eaLnBrk="1" fontAlgn="auto" hangingPunct="1">
              <a:spcAft>
                <a:spcPts val="0"/>
              </a:spcAft>
              <a:defRPr/>
            </a:pPr>
            <a:r>
              <a:rPr lang="en-US" sz="1400" dirty="0"/>
              <a:t>Supervised By: Dr Hajra Murtaza (Senior Lecturer)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b="1" dirty="0"/>
              <a:t>SDGs: 4 - Quality Education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Iman Arshad (46188)</a:t>
            </a:r>
          </a:p>
          <a:p>
            <a:pPr eaLnBrk="1" hangingPunct="1"/>
            <a:r>
              <a:rPr lang="en-US" dirty="0"/>
              <a:t>Ayesha Butt (48288)</a:t>
            </a:r>
          </a:p>
          <a:p>
            <a:pPr eaLnBrk="1" hangingPunct="1"/>
            <a:r>
              <a:rPr lang="en-US" dirty="0"/>
              <a:t>Sana Arshad(46189)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</a:p>
          <a:p>
            <a:pPr eaLnBrk="1" hangingPunct="1"/>
            <a:r>
              <a:rPr lang="en-US" dirty="0"/>
              <a:t>Existing Systems</a:t>
            </a:r>
          </a:p>
          <a:p>
            <a:pPr eaLnBrk="1" hangingPunct="1"/>
            <a:r>
              <a:rPr lang="en-US" dirty="0"/>
              <a:t>Problem Statement</a:t>
            </a:r>
          </a:p>
          <a:p>
            <a:pPr eaLnBrk="1" hangingPunct="1"/>
            <a:r>
              <a:rPr lang="en-US" dirty="0"/>
              <a:t>Proposed Solution</a:t>
            </a:r>
          </a:p>
          <a:p>
            <a:pPr eaLnBrk="1" hangingPunct="1"/>
            <a:r>
              <a:rPr lang="en-US" dirty="0"/>
              <a:t>Project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Opportunity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32619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>
                <a:latin typeface="Calibri (Body)"/>
              </a:rPr>
              <a:t>FYP is a </a:t>
            </a:r>
            <a:r>
              <a:rPr lang="en-US" b="1" dirty="0">
                <a:latin typeface="Calibri (Body)"/>
              </a:rPr>
              <a:t>mandatory part</a:t>
            </a:r>
            <a:r>
              <a:rPr lang="en-US" dirty="0">
                <a:latin typeface="Calibri (Body)"/>
              </a:rPr>
              <a:t> of every student’s degree.</a:t>
            </a:r>
          </a:p>
          <a:p>
            <a:pPr eaLnBrk="1" hangingPunct="1"/>
            <a:r>
              <a:rPr lang="en-US" altLang="en-US" dirty="0">
                <a:latin typeface="Calibri (Body)"/>
              </a:rPr>
              <a:t>Currently managed </a:t>
            </a:r>
            <a:r>
              <a:rPr lang="en-US" altLang="en-US" b="1" dirty="0">
                <a:latin typeface="Calibri (Body)"/>
              </a:rPr>
              <a:t>manually</a:t>
            </a:r>
            <a:r>
              <a:rPr lang="en-US" altLang="en-US" dirty="0">
                <a:latin typeface="Calibri (Body)"/>
              </a:rPr>
              <a:t> in out university.</a:t>
            </a:r>
          </a:p>
          <a:p>
            <a:pPr eaLnBrk="1" hangingPunct="1"/>
            <a:r>
              <a:rPr lang="en-US" dirty="0"/>
              <a:t>Manual handling leads to delays, errors, unfair evaluation and poor project monitoring.</a:t>
            </a:r>
          </a:p>
          <a:p>
            <a:pPr eaLnBrk="1" hangingPunct="1"/>
            <a:r>
              <a:rPr lang="en-US" dirty="0"/>
              <a:t>Faculty and management recognize the need for an automated system for smooth, transparent, and fair FYP management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C8DE-0CEC-3BCC-FF0C-9C60C68B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F2C56-1F0C-3AAF-36E5-E23B804B5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b="1" dirty="0"/>
              <a:t>Students :</a:t>
            </a:r>
            <a:r>
              <a:rPr lang="en-US" dirty="0"/>
              <a:t> Propose, execute &amp; complete FYPs</a:t>
            </a:r>
          </a:p>
          <a:p>
            <a:r>
              <a:rPr lang="en-US" b="1" dirty="0"/>
              <a:t>Faculty</a:t>
            </a:r>
            <a:r>
              <a:rPr lang="en-US" dirty="0"/>
              <a:t> : Guide, manage &amp; evaluate projects</a:t>
            </a:r>
          </a:p>
          <a:p>
            <a:r>
              <a:rPr lang="en-US" b="1" dirty="0"/>
              <a:t>Project Coordinators</a:t>
            </a:r>
            <a:r>
              <a:rPr lang="en-US" dirty="0"/>
              <a:t> : Manage process, deadlines &amp; resources</a:t>
            </a:r>
          </a:p>
          <a:p>
            <a:r>
              <a:rPr lang="en-US" b="1" dirty="0"/>
              <a:t>Admins</a:t>
            </a:r>
            <a:r>
              <a:rPr lang="en-US" dirty="0"/>
              <a:t> : Oversee system, access &amp; security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115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Existing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1B13-E94B-CDAD-D5EF-A7AE67E3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113F4819-DCCA-341F-E9F4-B6F1F979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547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Existing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FC96B-8C86-46B1-E572-CB9E553EE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>
                <a:latin typeface="Calibri (Body)"/>
              </a:rPr>
              <a:t>FYP systems are usually proprietary and specific to each university.</a:t>
            </a:r>
          </a:p>
          <a:p>
            <a:r>
              <a:rPr lang="en-US" altLang="en-US" dirty="0">
                <a:latin typeface="Calibri (Body)"/>
              </a:rPr>
              <a:t>Not </a:t>
            </a:r>
            <a:r>
              <a:rPr lang="en-US" altLang="en-US" b="1" dirty="0">
                <a:latin typeface="Calibri (Body)"/>
              </a:rPr>
              <a:t>publicly accessible</a:t>
            </a:r>
            <a:r>
              <a:rPr lang="en-US" altLang="en-US" dirty="0">
                <a:latin typeface="Calibri (Body)"/>
              </a:rPr>
              <a:t> to others.</a:t>
            </a:r>
          </a:p>
          <a:p>
            <a:r>
              <a:rPr lang="en-US" altLang="en-US" dirty="0">
                <a:latin typeface="Calibri (Body)"/>
              </a:rPr>
              <a:t>For literature survey, we followed </a:t>
            </a:r>
            <a:r>
              <a:rPr lang="en-US" altLang="en-US" b="1" dirty="0">
                <a:latin typeface="Calibri (Body)"/>
              </a:rPr>
              <a:t>academic automated workflow systems.</a:t>
            </a:r>
          </a:p>
          <a:p>
            <a:pPr marL="0" indent="0" algn="just">
              <a:buNone/>
            </a:pPr>
            <a:r>
              <a:rPr lang="en-US" dirty="0"/>
              <a:t>                ✓ = Feature exists in tool </a:t>
            </a:r>
          </a:p>
          <a:p>
            <a:pPr marL="0" indent="0" algn="just">
              <a:buNone/>
            </a:pPr>
            <a:r>
              <a:rPr lang="en-US" dirty="0"/>
              <a:t>                ✗ = Not available </a:t>
            </a:r>
          </a:p>
          <a:p>
            <a:pPr marL="0" indent="0" algn="just">
              <a:buNone/>
            </a:pPr>
            <a:r>
              <a:rPr lang="en-US" dirty="0"/>
              <a:t>                ★ = Unique or advanced in your system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58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60D6D-CAC4-4B12-443F-CF81831F8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B90D0DED-2578-12D5-7692-8B10F466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547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Existing Systems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57F2F9C-4B5E-A352-87A7-44F40C781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723078"/>
              </p:ext>
            </p:extLst>
          </p:nvPr>
        </p:nvGraphicFramePr>
        <p:xfrm>
          <a:off x="152400" y="1451409"/>
          <a:ext cx="8839201" cy="4050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86">
                  <a:extLst>
                    <a:ext uri="{9D8B030D-6E8A-4147-A177-3AD203B41FA5}">
                      <a16:colId xmlns:a16="http://schemas.microsoft.com/office/drawing/2014/main" val="914166250"/>
                    </a:ext>
                  </a:extLst>
                </a:gridCol>
                <a:gridCol w="1477959">
                  <a:extLst>
                    <a:ext uri="{9D8B030D-6E8A-4147-A177-3AD203B41FA5}">
                      <a16:colId xmlns:a16="http://schemas.microsoft.com/office/drawing/2014/main" val="2311887982"/>
                    </a:ext>
                  </a:extLst>
                </a:gridCol>
                <a:gridCol w="1253255">
                  <a:extLst>
                    <a:ext uri="{9D8B030D-6E8A-4147-A177-3AD203B41FA5}">
                      <a16:colId xmlns:a16="http://schemas.microsoft.com/office/drawing/2014/main" val="32931300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6457646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4048663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4623658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25832177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28110088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114605188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OpenProject</a:t>
                      </a:r>
                    </a:p>
                    <a:p>
                      <a:endParaRPr 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Moodle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Acadly</a:t>
                      </a:r>
                      <a:endParaRPr lang="en-US" sz="16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Gradescope</a:t>
                      </a:r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Sakai</a:t>
                      </a:r>
                    </a:p>
                    <a:p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Teamwork</a:t>
                      </a:r>
                      <a:endParaRPr lang="en-US" sz="1600" b="1" dirty="0"/>
                    </a:p>
                    <a:p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AutoFYP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50521"/>
                  </a:ext>
                </a:extLst>
              </a:tr>
              <a:tr h="51374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Project Title Rewriter 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ym typeface="Wingdings" panose="05000000000000000000" pitchFamily="2" charset="2"/>
                        </a:rPr>
                        <a:t>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 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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801097"/>
                  </a:ext>
                </a:extLst>
              </a:tr>
              <a:tr h="41589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Supervisor Allocation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932993"/>
                  </a:ext>
                </a:extLst>
              </a:tr>
              <a:tr h="41589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Interactive Feedback Viewer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941140"/>
                  </a:ext>
                </a:extLst>
              </a:tr>
              <a:tr h="51374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Smart Project Readiness Checklist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563837"/>
                  </a:ext>
                </a:extLst>
              </a:tr>
              <a:tr h="7583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Google Drive Auto Backup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526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87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67031-2179-8A33-B3EF-971DD164C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ACD3B079-88B0-D379-5CF1-59CDC067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547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Existing Systems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34EF9B0-CC00-C12B-9A0E-EFEFF43CA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24173"/>
              </p:ext>
            </p:extLst>
          </p:nvPr>
        </p:nvGraphicFramePr>
        <p:xfrm>
          <a:off x="152400" y="1737360"/>
          <a:ext cx="8839200" cy="3592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85">
                  <a:extLst>
                    <a:ext uri="{9D8B030D-6E8A-4147-A177-3AD203B41FA5}">
                      <a16:colId xmlns:a16="http://schemas.microsoft.com/office/drawing/2014/main" val="914166250"/>
                    </a:ext>
                  </a:extLst>
                </a:gridCol>
                <a:gridCol w="1359615">
                  <a:extLst>
                    <a:ext uri="{9D8B030D-6E8A-4147-A177-3AD203B41FA5}">
                      <a16:colId xmlns:a16="http://schemas.microsoft.com/office/drawing/2014/main" val="231188798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2931300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6457646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4048663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4623658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25832177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2811008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36572096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OpenProject</a:t>
                      </a:r>
                    </a:p>
                    <a:p>
                      <a:endParaRPr 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Moodle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Acadly</a:t>
                      </a:r>
                      <a:endParaRPr lang="en-US" sz="16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Gradescope</a:t>
                      </a:r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Sakai</a:t>
                      </a:r>
                    </a:p>
                    <a:p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Teamwork</a:t>
                      </a:r>
                      <a:endParaRPr lang="en-US" sz="1600" b="1" dirty="0"/>
                    </a:p>
                    <a:p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AutoFYP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50521"/>
                  </a:ext>
                </a:extLst>
              </a:tr>
              <a:tr h="513748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Notice board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801097"/>
                  </a:ext>
                </a:extLst>
              </a:tr>
              <a:tr h="415892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FYP Journey Journal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932993"/>
                  </a:ext>
                </a:extLst>
              </a:tr>
              <a:tr h="415892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Meeting Scheduler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941140"/>
                  </a:ext>
                </a:extLst>
              </a:tr>
              <a:tr h="513748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Auto Deadline Calculator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563837"/>
                  </a:ext>
                </a:extLst>
              </a:tr>
              <a:tr h="7583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Template Enforcement and </a:t>
                      </a:r>
                      <a:r>
                        <a:rPr lang="en-US" sz="1400" dirty="0" err="1"/>
                        <a:t>AutoDownload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  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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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</a:t>
                      </a:r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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en-US" sz="2000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  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3526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509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8C5D-DD14-B1B4-7E3A-B3EC1585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940E527-F66F-233A-8ACC-78A9C501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547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Existing Systems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D2B4F15-A3C8-A1C4-0EC6-9B95122EA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669599"/>
              </p:ext>
            </p:extLst>
          </p:nvPr>
        </p:nvGraphicFramePr>
        <p:xfrm>
          <a:off x="152400" y="1676400"/>
          <a:ext cx="8839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85">
                  <a:extLst>
                    <a:ext uri="{9D8B030D-6E8A-4147-A177-3AD203B41FA5}">
                      <a16:colId xmlns:a16="http://schemas.microsoft.com/office/drawing/2014/main" val="914166250"/>
                    </a:ext>
                  </a:extLst>
                </a:gridCol>
                <a:gridCol w="1359615">
                  <a:extLst>
                    <a:ext uri="{9D8B030D-6E8A-4147-A177-3AD203B41FA5}">
                      <a16:colId xmlns:a16="http://schemas.microsoft.com/office/drawing/2014/main" val="231188798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2931300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6457646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4048663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4623658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25832177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2811008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36572096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OpenProject</a:t>
                      </a:r>
                    </a:p>
                    <a:p>
                      <a:endParaRPr 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Moodle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Acadly</a:t>
                      </a:r>
                      <a:endParaRPr lang="en-US" sz="16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Gradescope</a:t>
                      </a:r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Sakai</a:t>
                      </a:r>
                    </a:p>
                    <a:p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Teamwork</a:t>
                      </a:r>
                      <a:endParaRPr lang="en-US" sz="1600" b="1" dirty="0"/>
                    </a:p>
                    <a:p>
                      <a:endParaRPr 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AutoFYP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50521"/>
                  </a:ext>
                </a:extLst>
              </a:tr>
              <a:tr h="513748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Timeline &amp; Milestone Tracker</a:t>
                      </a:r>
                    </a:p>
                    <a:p>
                      <a:endParaRPr 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tx2"/>
                          </a:solidFill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en-US" sz="2000" dirty="0">
                          <a:sym typeface="Wingdings" panose="05000000000000000000" pitchFamily="2" charset="2"/>
                        </a:rPr>
                        <a:t>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801097"/>
                  </a:ext>
                </a:extLst>
              </a:tr>
              <a:tr h="415892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Evaluation Module 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932993"/>
                  </a:ext>
                </a:extLst>
              </a:tr>
              <a:tr h="415892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Archive &amp; Search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941140"/>
                  </a:ext>
                </a:extLst>
              </a:tr>
              <a:tr h="513748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Progress Reporting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ym typeface="Wingdings" panose="05000000000000000000" pitchFamily="2" charset="2"/>
                        </a:rPr>
                        <a:t>     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 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56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650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 Statement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 Statement 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current FYP management process is manual and fragmented.</a:t>
            </a:r>
          </a:p>
          <a:p>
            <a:r>
              <a:rPr lang="en-US" dirty="0"/>
              <a:t>This causes: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Frequent miscommunication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Uneven supervisor workload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Delays in feedback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Inefficient deadline management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Reduced academic quality and productivity</a:t>
            </a:r>
          </a:p>
          <a:p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Proposed Solution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Proposed Solution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/>
            <a:r>
              <a:rPr lang="en-US" b="1" dirty="0"/>
              <a:t>Automates all FYP tasks</a:t>
            </a:r>
            <a:r>
              <a:rPr lang="en-US" dirty="0"/>
              <a:t> on one easy to use platform, simplifying management for students and supervisors.</a:t>
            </a:r>
          </a:p>
          <a:p>
            <a:pPr eaLnBrk="1" hangingPunct="1"/>
            <a:r>
              <a:rPr lang="en-US" b="1" dirty="0"/>
              <a:t>Checklists &amp; feedback </a:t>
            </a:r>
            <a:r>
              <a:rPr lang="en-US" dirty="0"/>
              <a:t> to keep students on track and clarify next steps.</a:t>
            </a:r>
          </a:p>
          <a:p>
            <a:pPr eaLnBrk="1" hangingPunct="1"/>
            <a:r>
              <a:rPr lang="en-US" b="1" dirty="0"/>
              <a:t>Automates deadlines &amp; meeting scheduling</a:t>
            </a:r>
            <a:r>
              <a:rPr lang="en-US" dirty="0"/>
              <a:t> to keep teams organized and ensure timely completion.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Project Scope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CBB5-42DE-5343-B016-57E41EB47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Project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524F8-6F07-10D0-33D6-852B46C5E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Automated FYP system  with supervisor allocation, and progress tracking.</a:t>
            </a:r>
          </a:p>
          <a:p>
            <a:r>
              <a:rPr lang="en-US" dirty="0"/>
              <a:t>Supports milestone management, user management, feedback, and meeting scheduling.</a:t>
            </a:r>
          </a:p>
          <a:p>
            <a:r>
              <a:rPr lang="en-US" dirty="0"/>
              <a:t>Timeline automation with tracking notifications.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679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54F4F-8FD6-499A-015D-EF860A51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5FC1-C1CA-42FD-7BBF-B66DBD1E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Project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9B3A-C1DF-644A-A6B4-D58B1142A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Enables feedback and meeting reporting for better collaboration.</a:t>
            </a:r>
          </a:p>
          <a:p>
            <a:r>
              <a:rPr lang="en-US" dirty="0"/>
              <a:t>Uses standard templates for all submissions</a:t>
            </a:r>
          </a:p>
          <a:p>
            <a:r>
              <a:rPr lang="en-US" dirty="0"/>
              <a:t>A searchable project archive for easy access to previous work.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14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40271" y="916520"/>
            <a:ext cx="6613211" cy="136207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ur-PK" sz="9600" kern="0" dirty="0">
                <a:solidFill>
                  <a:schemeClr val="bg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جزاک اللہ</a:t>
            </a:r>
            <a:endParaRPr lang="en-US" sz="9600" kern="0" dirty="0">
              <a:solidFill>
                <a:schemeClr val="bg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0" y="3984415"/>
            <a:ext cx="27788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r-PK" sz="9600" b="1" dirty="0">
                <a:solidFill>
                  <a:schemeClr val="tx2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شکراً</a:t>
            </a:r>
            <a:endParaRPr lang="en-US" sz="9600" b="1" dirty="0">
              <a:solidFill>
                <a:schemeClr val="tx2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235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1342</TotalTime>
  <Words>625</Words>
  <Application>Microsoft Office PowerPoint</Application>
  <PresentationFormat>On-screen Show (4:3)</PresentationFormat>
  <Paragraphs>219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(Body)</vt:lpstr>
      <vt:lpstr>Jameel Noori Nastaleeq</vt:lpstr>
      <vt:lpstr>Wingdings</vt:lpstr>
      <vt:lpstr>Office Theme</vt:lpstr>
      <vt:lpstr>Senior Design Project  </vt:lpstr>
      <vt:lpstr>Project Team</vt:lpstr>
      <vt:lpstr>Table of Content</vt:lpstr>
      <vt:lpstr>Opportunity &amp; Stakeholders</vt:lpstr>
      <vt:lpstr>Opportunity</vt:lpstr>
      <vt:lpstr>Stakeholders</vt:lpstr>
      <vt:lpstr>Existing Systems</vt:lpstr>
      <vt:lpstr>Existing Systems</vt:lpstr>
      <vt:lpstr>Existing Systems</vt:lpstr>
      <vt:lpstr>Existing Systems</vt:lpstr>
      <vt:lpstr>Existing Systems</vt:lpstr>
      <vt:lpstr>Problem Statement</vt:lpstr>
      <vt:lpstr>Problem Statement </vt:lpstr>
      <vt:lpstr>Proposed Solution</vt:lpstr>
      <vt:lpstr>Proposed Solution</vt:lpstr>
      <vt:lpstr>Project Scope</vt:lpstr>
      <vt:lpstr>Project Scope </vt:lpstr>
      <vt:lpstr>Project Scope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Ayesha</cp:lastModifiedBy>
  <cp:revision>34</cp:revision>
  <dcterms:created xsi:type="dcterms:W3CDTF">2013-01-22T07:04:44Z</dcterms:created>
  <dcterms:modified xsi:type="dcterms:W3CDTF">2025-11-11T08:33:39Z</dcterms:modified>
</cp:coreProperties>
</file>