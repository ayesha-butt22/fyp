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7E7E7E"/>
                </a:solidFill>
                <a:latin typeface="Verdana"/>
                <a:cs typeface="Verdana"/>
              </a:defRPr>
            </a:lvl1pPr>
          </a:lstStyle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7E7E7E"/>
                </a:solidFill>
                <a:latin typeface="Verdana"/>
                <a:cs typeface="Verdana"/>
              </a:defRPr>
            </a:lvl1pPr>
          </a:lstStyle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7E7E7E"/>
                </a:solidFill>
                <a:latin typeface="Verdana"/>
                <a:cs typeface="Verdana"/>
              </a:defRPr>
            </a:lvl1pPr>
          </a:lstStyle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7E7E7E"/>
                </a:solidFill>
                <a:latin typeface="Verdana"/>
                <a:cs typeface="Verdana"/>
              </a:defRPr>
            </a:lvl1pPr>
          </a:lstStyle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1">
                <a:solidFill>
                  <a:srgbClr val="7E7E7E"/>
                </a:solidFill>
                <a:latin typeface="Verdana"/>
                <a:cs typeface="Verdana"/>
              </a:defRPr>
            </a:lvl1pPr>
          </a:lstStyle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343" y="484073"/>
            <a:ext cx="593661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098549"/>
            <a:ext cx="7922259" cy="4501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63002" y="6432696"/>
            <a:ext cx="951229" cy="504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1">
                <a:solidFill>
                  <a:srgbClr val="7E7E7E"/>
                </a:solidFill>
                <a:latin typeface="Verdana"/>
                <a:cs typeface="Verdana"/>
              </a:defRPr>
            </a:lvl1pPr>
          </a:lstStyle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hyperlink" Target="https://en.wikipedia.org/wiki/CryptoLocker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1" y="1790445"/>
            <a:ext cx="5715000" cy="998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/>
              <a:t>Information</a:t>
            </a:r>
            <a:r>
              <a:rPr sz="3200" spc="-135" dirty="0"/>
              <a:t> </a:t>
            </a:r>
            <a:r>
              <a:rPr sz="3200" spc="-10" dirty="0"/>
              <a:t>Security</a:t>
            </a:r>
            <a:br>
              <a:rPr lang="en-US" sz="3200" spc="-10" dirty="0"/>
            </a:br>
            <a:r>
              <a:rPr lang="en-US" sz="3200" spc="-10" dirty="0"/>
              <a:t>Malware and its forms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3634105" y="3657600"/>
            <a:ext cx="187578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 Black"/>
                <a:cs typeface="Arial Black"/>
              </a:rPr>
              <a:t>Lecture</a:t>
            </a:r>
            <a:r>
              <a:rPr sz="2800" spc="-40" dirty="0">
                <a:latin typeface="Arial Black"/>
                <a:cs typeface="Arial Black"/>
              </a:rPr>
              <a:t> </a:t>
            </a:r>
            <a:r>
              <a:rPr lang="en-US" sz="2800" spc="-50" dirty="0">
                <a:latin typeface="Arial Black"/>
                <a:cs typeface="Arial Black"/>
              </a:rPr>
              <a:t>4</a:t>
            </a:r>
            <a:endParaRPr sz="28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200" y="1522349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" y="3001282"/>
            <a:ext cx="8305800" cy="45719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7924165" cy="514413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10" dirty="0">
                <a:latin typeface="Arial Black"/>
                <a:cs typeface="Arial Black"/>
              </a:rPr>
              <a:t>Malware</a:t>
            </a:r>
            <a:endParaRPr sz="2800">
              <a:latin typeface="Arial Black"/>
              <a:cs typeface="Arial Black"/>
            </a:endParaRPr>
          </a:p>
          <a:p>
            <a:pPr marL="405765" marR="607695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A</a:t>
            </a:r>
            <a:r>
              <a:rPr sz="2800" spc="-1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(malicious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software)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is </a:t>
            </a:r>
            <a:r>
              <a:rPr sz="2800" dirty="0">
                <a:latin typeface="Verdana"/>
                <a:cs typeface="Verdana"/>
              </a:rPr>
              <a:t>software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that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intentionally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designed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to </a:t>
            </a:r>
            <a:r>
              <a:rPr sz="2800" dirty="0">
                <a:latin typeface="Verdana"/>
                <a:cs typeface="Verdana"/>
              </a:rPr>
              <a:t>cause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damage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systems.</a:t>
            </a:r>
            <a:endParaRPr sz="2800">
              <a:latin typeface="Verdana"/>
              <a:cs typeface="Verdana"/>
            </a:endParaRPr>
          </a:p>
          <a:p>
            <a:pPr marL="405765" marR="5080" indent="-342900">
              <a:lnSpc>
                <a:spcPct val="100000"/>
              </a:lnSpc>
              <a:spcBef>
                <a:spcPts val="18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has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malicious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intent,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acting </a:t>
            </a:r>
            <a:r>
              <a:rPr sz="2800" dirty="0">
                <a:latin typeface="Verdana"/>
                <a:cs typeface="Verdana"/>
              </a:rPr>
              <a:t>against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interest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user.</a:t>
            </a:r>
            <a:endParaRPr sz="2800">
              <a:latin typeface="Verdana"/>
              <a:cs typeface="Verdana"/>
            </a:endParaRPr>
          </a:p>
          <a:p>
            <a:pPr marL="405765" marR="95885" indent="-342900">
              <a:lnSpc>
                <a:spcPct val="100000"/>
              </a:lnSpc>
              <a:spcBef>
                <a:spcPts val="18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does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not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include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software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that </a:t>
            </a:r>
            <a:r>
              <a:rPr sz="2800" dirty="0">
                <a:latin typeface="Verdana"/>
                <a:cs typeface="Verdana"/>
              </a:rPr>
              <a:t>causes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unintentional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harm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due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some </a:t>
            </a:r>
            <a:r>
              <a:rPr sz="2800" dirty="0">
                <a:latin typeface="Verdana"/>
                <a:cs typeface="Verdana"/>
              </a:rPr>
              <a:t>deficiency,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which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typically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described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as </a:t>
            </a:r>
            <a:r>
              <a:rPr sz="2800" dirty="0">
                <a:latin typeface="Verdana"/>
                <a:cs typeface="Verdana"/>
              </a:rPr>
              <a:t>software</a:t>
            </a:r>
            <a:r>
              <a:rPr sz="2800" spc="-12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bug.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8025130" cy="557149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10" dirty="0">
                <a:latin typeface="Arial Black"/>
                <a:cs typeface="Arial Black"/>
              </a:rPr>
              <a:t>Malware</a:t>
            </a:r>
            <a:endParaRPr sz="2800">
              <a:latin typeface="Arial Black"/>
              <a:cs typeface="Arial Black"/>
            </a:endParaRPr>
          </a:p>
          <a:p>
            <a:pPr marL="405765" marR="144780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does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damage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after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is </a:t>
            </a:r>
            <a:r>
              <a:rPr sz="2800" dirty="0">
                <a:latin typeface="Verdana"/>
                <a:cs typeface="Verdana"/>
              </a:rPr>
              <a:t>implanted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or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introduced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some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way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into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target’s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computer.</a:t>
            </a:r>
            <a:endParaRPr sz="2800">
              <a:latin typeface="Verdana"/>
              <a:cs typeface="Verdana"/>
            </a:endParaRPr>
          </a:p>
          <a:p>
            <a:pPr marL="405765" marR="5080" indent="-342900">
              <a:lnSpc>
                <a:spcPct val="100000"/>
              </a:lnSpc>
              <a:spcBef>
                <a:spcPts val="18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One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strategy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for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protecting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against </a:t>
            </a: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prevent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malware </a:t>
            </a:r>
            <a:r>
              <a:rPr sz="2800" dirty="0">
                <a:latin typeface="Verdana"/>
                <a:cs typeface="Verdana"/>
              </a:rPr>
              <a:t>software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gaining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access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target computer.</a:t>
            </a:r>
            <a:endParaRPr sz="2800">
              <a:latin typeface="Verdana"/>
              <a:cs typeface="Verdana"/>
            </a:endParaRPr>
          </a:p>
          <a:p>
            <a:pPr marL="405765" marR="9525" indent="-342900">
              <a:lnSpc>
                <a:spcPct val="100000"/>
              </a:lnSpc>
              <a:spcBef>
                <a:spcPts val="18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Antivirus,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firewalls,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IPS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other </a:t>
            </a:r>
            <a:r>
              <a:rPr sz="2800" dirty="0">
                <a:latin typeface="Verdana"/>
                <a:cs typeface="Verdana"/>
              </a:rPr>
              <a:t>strategies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used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help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protect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against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introduction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malware.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7994015" cy="210820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10" dirty="0">
                <a:latin typeface="Arial Black"/>
                <a:cs typeface="Arial Black"/>
              </a:rPr>
              <a:t>Malware</a:t>
            </a:r>
            <a:endParaRPr sz="2800">
              <a:latin typeface="Arial Black"/>
              <a:cs typeface="Arial Black"/>
            </a:endParaRPr>
          </a:p>
          <a:p>
            <a:pPr marL="405765" marR="5080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Viruses,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worms,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Trojan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horses,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bombs, </a:t>
            </a:r>
            <a:r>
              <a:rPr sz="2800" dirty="0">
                <a:latin typeface="Verdana"/>
                <a:cs typeface="Verdana"/>
              </a:rPr>
              <a:t>spyware,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adware,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ransomware,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scareware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subgroups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malware.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7583805" cy="279082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dirty="0">
                <a:latin typeface="Arial Black"/>
                <a:cs typeface="Arial Black"/>
              </a:rPr>
              <a:t>What</a:t>
            </a:r>
            <a:r>
              <a:rPr sz="2800" spc="-3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malware</a:t>
            </a:r>
            <a:r>
              <a:rPr sz="2800" spc="-15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can</a:t>
            </a:r>
            <a:r>
              <a:rPr sz="2800" spc="-15" dirty="0">
                <a:latin typeface="Arial Black"/>
                <a:cs typeface="Arial Black"/>
              </a:rPr>
              <a:t> </a:t>
            </a:r>
            <a:r>
              <a:rPr sz="2800" spc="-25" dirty="0">
                <a:latin typeface="Arial Black"/>
                <a:cs typeface="Arial Black"/>
              </a:rPr>
              <a:t>do?</a:t>
            </a:r>
            <a:endParaRPr sz="2800">
              <a:latin typeface="Arial Black"/>
              <a:cs typeface="Arial Black"/>
            </a:endParaRPr>
          </a:p>
          <a:p>
            <a:pPr marL="687705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687705" algn="l"/>
              </a:tabLst>
            </a:pPr>
            <a:r>
              <a:rPr sz="2800" dirty="0">
                <a:latin typeface="Verdana"/>
                <a:cs typeface="Verdana"/>
              </a:rPr>
              <a:t>Steal</a:t>
            </a:r>
            <a:r>
              <a:rPr sz="2800" spc="-1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personal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or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business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information</a:t>
            </a:r>
            <a:endParaRPr sz="2800">
              <a:latin typeface="Verdana"/>
              <a:cs typeface="Verdana"/>
            </a:endParaRPr>
          </a:p>
          <a:p>
            <a:pPr marL="687705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687705" algn="l"/>
              </a:tabLst>
            </a:pPr>
            <a:r>
              <a:rPr sz="2800" dirty="0">
                <a:latin typeface="Verdana"/>
                <a:cs typeface="Verdana"/>
              </a:rPr>
              <a:t>Delete,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damage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files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data</a:t>
            </a:r>
            <a:endParaRPr sz="2800">
              <a:latin typeface="Verdana"/>
              <a:cs typeface="Verdana"/>
            </a:endParaRPr>
          </a:p>
          <a:p>
            <a:pPr marL="68770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687705" algn="l"/>
              </a:tabLst>
            </a:pPr>
            <a:r>
              <a:rPr sz="2800" dirty="0">
                <a:latin typeface="Verdana"/>
                <a:cs typeface="Verdana"/>
              </a:rPr>
              <a:t>Financial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fraud</a:t>
            </a:r>
            <a:endParaRPr sz="2800">
              <a:latin typeface="Verdana"/>
              <a:cs typeface="Verdana"/>
            </a:endParaRPr>
          </a:p>
          <a:p>
            <a:pPr marL="68770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687705" algn="l"/>
              </a:tabLst>
            </a:pPr>
            <a:r>
              <a:rPr sz="2800" dirty="0">
                <a:latin typeface="Verdana"/>
                <a:cs typeface="Verdana"/>
              </a:rPr>
              <a:t>Use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your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relay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6064" y="6433515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solidFill>
                  <a:srgbClr val="7E7E7E"/>
                </a:solidFill>
                <a:latin typeface="Verdana"/>
                <a:cs typeface="Verdana"/>
              </a:rPr>
              <a:t>6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Viruses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098549"/>
            <a:ext cx="7990840" cy="224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A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type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program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that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can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infect </a:t>
            </a:r>
            <a:r>
              <a:rPr sz="2800" dirty="0">
                <a:latin typeface="Verdana"/>
                <a:cs typeface="Verdana"/>
              </a:rPr>
              <a:t>other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programs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by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modifying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them.</a:t>
            </a:r>
            <a:endParaRPr sz="2800">
              <a:latin typeface="Verdana"/>
              <a:cs typeface="Verdana"/>
            </a:endParaRPr>
          </a:p>
          <a:p>
            <a:pPr marL="355600" marR="39624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A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virus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can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replicate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itself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and </a:t>
            </a:r>
            <a:r>
              <a:rPr sz="2800" dirty="0">
                <a:latin typeface="Verdana"/>
                <a:cs typeface="Verdana"/>
              </a:rPr>
              <a:t>spread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another </a:t>
            </a:r>
            <a:r>
              <a:rPr sz="2800" dirty="0">
                <a:latin typeface="Verdana"/>
                <a:cs typeface="Verdana"/>
              </a:rPr>
              <a:t>through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carrier.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84591" y="6500571"/>
            <a:ext cx="177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Viruses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8550"/>
            <a:ext cx="40608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A</a:t>
            </a:r>
            <a:r>
              <a:rPr sz="2400" u="sng" spc="-5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virus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needs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a</a:t>
            </a:r>
            <a:r>
              <a:rPr sz="2400" u="sng" spc="-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host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file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902841"/>
            <a:ext cx="4208780" cy="13430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Requires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user</a:t>
            </a:r>
            <a:r>
              <a:rPr sz="2400" u="sng" spc="-7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spc="-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interaction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Like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opening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file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User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Propagated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3586035"/>
            <a:ext cx="4239260" cy="17818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Different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types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viruses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Program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viruses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Boot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viruses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Macro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viruses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9900" y="4395723"/>
            <a:ext cx="1577975" cy="10541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819900" y="2794000"/>
            <a:ext cx="1587500" cy="2654300"/>
          </a:xfrm>
          <a:prstGeom prst="rect">
            <a:avLst/>
          </a:prstGeom>
          <a:solidFill>
            <a:srgbClr val="C0C0C0">
              <a:alpha val="25097"/>
            </a:srgbClr>
          </a:solidFill>
          <a:ln w="38100">
            <a:solidFill>
              <a:srgbClr val="FFCC00"/>
            </a:solidFill>
          </a:ln>
        </p:spPr>
        <p:txBody>
          <a:bodyPr vert="horz" wrap="square" lIns="0" tIns="88265" rIns="0" bIns="0" rtlCol="0">
            <a:spAutoFit/>
          </a:bodyPr>
          <a:lstStyle/>
          <a:p>
            <a:pPr marL="168275">
              <a:lnSpc>
                <a:spcPct val="100000"/>
              </a:lnSpc>
              <a:spcBef>
                <a:spcPts val="695"/>
              </a:spcBef>
            </a:pPr>
            <a:r>
              <a:rPr sz="2000" spc="-10" dirty="0">
                <a:latin typeface="Times New Roman"/>
                <a:cs typeface="Times New Roman"/>
              </a:rPr>
              <a:t>Infected</a:t>
            </a:r>
            <a:endParaRPr sz="2000">
              <a:latin typeface="Times New Roman"/>
              <a:cs typeface="Times New Roman"/>
            </a:endParaRPr>
          </a:p>
          <a:p>
            <a:pPr marL="168275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File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457950" y="4438650"/>
            <a:ext cx="211454" cy="965200"/>
          </a:xfrm>
          <a:custGeom>
            <a:avLst/>
            <a:gdLst/>
            <a:ahLst/>
            <a:cxnLst/>
            <a:rect l="l" t="t" r="r" b="b"/>
            <a:pathLst>
              <a:path w="211454" h="965200">
                <a:moveTo>
                  <a:pt x="211200" y="965200"/>
                </a:moveTo>
                <a:lnTo>
                  <a:pt x="170045" y="958871"/>
                </a:lnTo>
                <a:lnTo>
                  <a:pt x="136461" y="941625"/>
                </a:lnTo>
                <a:lnTo>
                  <a:pt x="113831" y="916068"/>
                </a:lnTo>
                <a:lnTo>
                  <a:pt x="105536" y="884809"/>
                </a:lnTo>
                <a:lnTo>
                  <a:pt x="105536" y="577976"/>
                </a:lnTo>
                <a:lnTo>
                  <a:pt x="97244" y="546663"/>
                </a:lnTo>
                <a:lnTo>
                  <a:pt x="74628" y="521112"/>
                </a:lnTo>
                <a:lnTo>
                  <a:pt x="41082" y="503896"/>
                </a:lnTo>
                <a:lnTo>
                  <a:pt x="0" y="497586"/>
                </a:lnTo>
                <a:lnTo>
                  <a:pt x="41082" y="491257"/>
                </a:lnTo>
                <a:lnTo>
                  <a:pt x="74628" y="474011"/>
                </a:lnTo>
                <a:lnTo>
                  <a:pt x="97244" y="448454"/>
                </a:lnTo>
                <a:lnTo>
                  <a:pt x="105536" y="417194"/>
                </a:lnTo>
                <a:lnTo>
                  <a:pt x="105536" y="80391"/>
                </a:lnTo>
                <a:lnTo>
                  <a:pt x="113831" y="49131"/>
                </a:lnTo>
                <a:lnTo>
                  <a:pt x="136461" y="23574"/>
                </a:lnTo>
                <a:lnTo>
                  <a:pt x="170045" y="6328"/>
                </a:lnTo>
                <a:lnTo>
                  <a:pt x="211200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504179" y="4463237"/>
            <a:ext cx="84772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Times New Roman"/>
                <a:cs typeface="Times New Roman"/>
              </a:rPr>
              <a:t>Virus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as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payload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86064" y="6433515"/>
            <a:ext cx="1225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solidFill>
                  <a:srgbClr val="7E7E7E"/>
                </a:solidFill>
                <a:latin typeface="Verdana"/>
                <a:cs typeface="Verdana"/>
              </a:rPr>
              <a:t>8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Viruses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012617"/>
            <a:ext cx="7685405" cy="33921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4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phases:</a:t>
            </a:r>
            <a:endParaRPr sz="2800">
              <a:latin typeface="Verdana"/>
              <a:cs typeface="Verdana"/>
            </a:endParaRPr>
          </a:p>
          <a:p>
            <a:pPr marL="756285" marR="262890" indent="-2870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Dormant</a:t>
            </a:r>
            <a:r>
              <a:rPr sz="2400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phase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It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idle,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waiting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for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some </a:t>
            </a:r>
            <a:r>
              <a:rPr sz="2400" spc="-10" dirty="0">
                <a:latin typeface="Verdana"/>
                <a:cs typeface="Verdana"/>
              </a:rPr>
              <a:t>event</a:t>
            </a:r>
            <a:endParaRPr sz="2400">
              <a:latin typeface="Verdana"/>
              <a:cs typeface="Verdana"/>
            </a:endParaRPr>
          </a:p>
          <a:p>
            <a:pPr marL="756285" marR="5080" indent="-2870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Triggering</a:t>
            </a:r>
            <a:r>
              <a:rPr sz="2400" spc="-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phase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activated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perform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some </a:t>
            </a:r>
            <a:r>
              <a:rPr sz="2400" dirty="0">
                <a:latin typeface="Verdana"/>
                <a:cs typeface="Verdana"/>
              </a:rPr>
              <a:t>intended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actions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Execution</a:t>
            </a:r>
            <a:r>
              <a:rPr sz="2400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phase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execute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payload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Propagation</a:t>
            </a:r>
            <a:r>
              <a:rPr sz="2400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phase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Copy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itself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into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other</a:t>
            </a:r>
            <a:endParaRPr sz="2400">
              <a:latin typeface="Verdana"/>
              <a:cs typeface="Verdana"/>
            </a:endParaRPr>
          </a:p>
          <a:p>
            <a:pPr marL="756285">
              <a:lnSpc>
                <a:spcPct val="100000"/>
              </a:lnSpc>
            </a:pPr>
            <a:r>
              <a:rPr sz="2400" spc="-10" dirty="0">
                <a:latin typeface="Verdana"/>
                <a:cs typeface="Verdana"/>
              </a:rPr>
              <a:t>programs</a:t>
            </a:r>
            <a:endParaRPr sz="2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Worms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25398"/>
            <a:ext cx="7936865" cy="4123054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More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dangerous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than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virus</a:t>
            </a:r>
            <a:endParaRPr sz="24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malicious piece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code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spreads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itself</a:t>
            </a:r>
            <a:r>
              <a:rPr sz="2400" spc="-20" dirty="0">
                <a:latin typeface="Verdana"/>
                <a:cs typeface="Verdana"/>
              </a:rPr>
              <a:t> from </a:t>
            </a:r>
            <a:r>
              <a:rPr sz="2400" dirty="0">
                <a:latin typeface="Verdana"/>
                <a:cs typeface="Verdana"/>
              </a:rPr>
              <a:t>computer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computer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by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exploiting vulnerabilities.</a:t>
            </a:r>
            <a:endParaRPr sz="24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A</a:t>
            </a:r>
            <a:r>
              <a:rPr sz="2400" u="sng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worm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needs</a:t>
            </a:r>
            <a:r>
              <a:rPr sz="2400" u="sng" spc="-4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no</a:t>
            </a:r>
            <a:r>
              <a:rPr sz="2400" u="sng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host</a:t>
            </a:r>
            <a:r>
              <a:rPr sz="2400" u="sng" spc="-3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spc="-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file</a:t>
            </a:r>
            <a:endParaRPr sz="2400">
              <a:latin typeface="Verdana"/>
              <a:cs typeface="Verdana"/>
            </a:endParaRPr>
          </a:p>
          <a:p>
            <a:pPr marL="756285" marR="1162685" indent="-28702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Self</a:t>
            </a:r>
            <a:r>
              <a:rPr sz="2400" u="sng" spc="-7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u="sng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propagation</a:t>
            </a:r>
            <a:r>
              <a:rPr sz="2400" dirty="0">
                <a:latin typeface="Verdana"/>
                <a:cs typeface="Verdana"/>
              </a:rPr>
              <a:t>: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spreads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without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user </a:t>
            </a:r>
            <a:r>
              <a:rPr sz="2400" spc="-10" dirty="0">
                <a:latin typeface="Verdana"/>
                <a:cs typeface="Verdana"/>
              </a:rPr>
              <a:t>interaction</a:t>
            </a:r>
            <a:endParaRPr sz="2400">
              <a:latin typeface="Verdana"/>
              <a:cs typeface="Verdana"/>
            </a:endParaRPr>
          </a:p>
          <a:p>
            <a:pPr marL="355600" marR="93345" indent="-342900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Worm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designed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replicate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itself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disperse </a:t>
            </a:r>
            <a:r>
              <a:rPr sz="2400" dirty="0">
                <a:latin typeface="Verdana"/>
                <a:cs typeface="Verdana"/>
              </a:rPr>
              <a:t>throughout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user’s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network.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Example: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Morris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worm,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blaster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worm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Worms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10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400" dirty="0"/>
              <a:t>2</a:t>
            </a:r>
            <a:r>
              <a:rPr sz="2400" baseline="24305" dirty="0"/>
              <a:t>nd</a:t>
            </a:r>
            <a:r>
              <a:rPr sz="2400" spc="307" baseline="24305" dirty="0"/>
              <a:t> </a:t>
            </a:r>
            <a:r>
              <a:rPr sz="2400" dirty="0"/>
              <a:t>generation</a:t>
            </a:r>
            <a:r>
              <a:rPr sz="2400" spc="-45" dirty="0"/>
              <a:t> </a:t>
            </a:r>
            <a:r>
              <a:rPr sz="2400" dirty="0"/>
              <a:t>of</a:t>
            </a:r>
            <a:r>
              <a:rPr sz="2400" spc="-75" dirty="0"/>
              <a:t> </a:t>
            </a:r>
            <a:r>
              <a:rPr sz="2400" dirty="0"/>
              <a:t>worms</a:t>
            </a:r>
            <a:r>
              <a:rPr sz="2400" spc="-65" dirty="0"/>
              <a:t> </a:t>
            </a:r>
            <a:r>
              <a:rPr sz="2400" spc="-10" dirty="0"/>
              <a:t>automatically</a:t>
            </a:r>
            <a:r>
              <a:rPr sz="2400" spc="-25" dirty="0"/>
              <a:t> </a:t>
            </a:r>
            <a:r>
              <a:rPr sz="2400" dirty="0"/>
              <a:t>search</a:t>
            </a:r>
            <a:r>
              <a:rPr sz="2400" spc="-70" dirty="0"/>
              <a:t> </a:t>
            </a:r>
            <a:r>
              <a:rPr sz="2400" spc="-25" dirty="0"/>
              <a:t>for </a:t>
            </a:r>
            <a:r>
              <a:rPr sz="2400" dirty="0"/>
              <a:t>vulnerable</a:t>
            </a:r>
            <a:r>
              <a:rPr sz="2400" spc="-60" dirty="0"/>
              <a:t> </a:t>
            </a:r>
            <a:r>
              <a:rPr sz="2400" dirty="0"/>
              <a:t>computers</a:t>
            </a:r>
            <a:r>
              <a:rPr sz="2400" spc="-70" dirty="0"/>
              <a:t> </a:t>
            </a:r>
            <a:r>
              <a:rPr sz="2400" dirty="0"/>
              <a:t>and</a:t>
            </a:r>
            <a:r>
              <a:rPr sz="2400" spc="-70" dirty="0"/>
              <a:t> </a:t>
            </a:r>
            <a:r>
              <a:rPr sz="2400" dirty="0"/>
              <a:t>infect</a:t>
            </a:r>
            <a:r>
              <a:rPr sz="2400" spc="-55" dirty="0"/>
              <a:t> </a:t>
            </a:r>
            <a:r>
              <a:rPr sz="2400" spc="-20" dirty="0"/>
              <a:t>them</a:t>
            </a:r>
            <a:endParaRPr sz="2400"/>
          </a:p>
          <a:p>
            <a:pPr marL="756285" marR="30480" indent="-28702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</a:rPr>
              <a:t>—</a:t>
            </a:r>
            <a:r>
              <a:rPr sz="2400" dirty="0"/>
              <a:t>Whole</a:t>
            </a:r>
            <a:r>
              <a:rPr sz="2400" spc="-40" dirty="0"/>
              <a:t> </a:t>
            </a:r>
            <a:r>
              <a:rPr sz="2400" dirty="0"/>
              <a:t>Internet</a:t>
            </a:r>
            <a:r>
              <a:rPr sz="2400" spc="-35" dirty="0"/>
              <a:t> </a:t>
            </a:r>
            <a:r>
              <a:rPr sz="2400" dirty="0"/>
              <a:t>can</a:t>
            </a:r>
            <a:r>
              <a:rPr sz="2400" spc="-50" dirty="0"/>
              <a:t> </a:t>
            </a:r>
            <a:r>
              <a:rPr sz="2400" dirty="0"/>
              <a:t>be</a:t>
            </a:r>
            <a:r>
              <a:rPr sz="2400" spc="-50" dirty="0"/>
              <a:t> </a:t>
            </a:r>
            <a:r>
              <a:rPr sz="2400" dirty="0"/>
              <a:t>infected</a:t>
            </a:r>
            <a:r>
              <a:rPr sz="2400" spc="-25" dirty="0"/>
              <a:t> </a:t>
            </a:r>
            <a:r>
              <a:rPr sz="2400" dirty="0"/>
              <a:t>in</a:t>
            </a:r>
            <a:r>
              <a:rPr sz="2400" spc="-40" dirty="0"/>
              <a:t> </a:t>
            </a:r>
            <a:r>
              <a:rPr sz="2400" dirty="0"/>
              <a:t>less</a:t>
            </a:r>
            <a:r>
              <a:rPr sz="2400" spc="-40" dirty="0"/>
              <a:t> </a:t>
            </a:r>
            <a:r>
              <a:rPr sz="2400" dirty="0"/>
              <a:t>than</a:t>
            </a:r>
            <a:r>
              <a:rPr sz="2400" spc="-50" dirty="0"/>
              <a:t> </a:t>
            </a:r>
            <a:r>
              <a:rPr sz="2400" spc="-25" dirty="0"/>
              <a:t>20 </a:t>
            </a:r>
            <a:r>
              <a:rPr sz="2400" spc="-10" dirty="0"/>
              <a:t>minutes</a:t>
            </a:r>
            <a:endParaRPr sz="2400"/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dirty="0"/>
              <a:t>Two</a:t>
            </a:r>
            <a:r>
              <a:rPr sz="2400" spc="-45" dirty="0"/>
              <a:t> </a:t>
            </a:r>
            <a:r>
              <a:rPr sz="2400" dirty="0"/>
              <a:t>types,</a:t>
            </a:r>
            <a:r>
              <a:rPr sz="2400" spc="-25" dirty="0"/>
              <a:t> </a:t>
            </a:r>
            <a:r>
              <a:rPr sz="2400" dirty="0"/>
              <a:t>can</a:t>
            </a:r>
            <a:r>
              <a:rPr sz="2400" spc="-30" dirty="0"/>
              <a:t> </a:t>
            </a:r>
            <a:r>
              <a:rPr sz="2400" dirty="0"/>
              <a:t>spread</a:t>
            </a:r>
            <a:r>
              <a:rPr sz="2400" spc="-25" dirty="0"/>
              <a:t> via</a:t>
            </a:r>
            <a:endParaRPr sz="2400"/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</a:rPr>
              <a:t>—</a:t>
            </a:r>
            <a:r>
              <a:rPr sz="2400" dirty="0"/>
              <a:t>Email</a:t>
            </a:r>
            <a:r>
              <a:rPr sz="2400" spc="-45" dirty="0"/>
              <a:t> </a:t>
            </a:r>
            <a:r>
              <a:rPr sz="2400" spc="-10" dirty="0"/>
              <a:t>attachments</a:t>
            </a:r>
            <a:endParaRPr sz="2400"/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</a:rPr>
              <a:t>—</a:t>
            </a:r>
            <a:r>
              <a:rPr sz="2400" dirty="0"/>
              <a:t>LAN</a:t>
            </a:r>
            <a:r>
              <a:rPr sz="2400" spc="-45" dirty="0"/>
              <a:t> </a:t>
            </a:r>
            <a:r>
              <a:rPr sz="2400" dirty="0"/>
              <a:t>or</a:t>
            </a:r>
            <a:r>
              <a:rPr sz="2400" spc="-35" dirty="0"/>
              <a:t> </a:t>
            </a:r>
            <a:r>
              <a:rPr sz="2400" spc="-10" dirty="0"/>
              <a:t>Internet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8007350" cy="441261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dirty="0">
                <a:latin typeface="Arial Black"/>
                <a:cs typeface="Arial Black"/>
              </a:rPr>
              <a:t>Email</a:t>
            </a:r>
            <a:r>
              <a:rPr sz="2800" spc="-85" dirty="0">
                <a:latin typeface="Arial Black"/>
                <a:cs typeface="Arial Black"/>
              </a:rPr>
              <a:t> </a:t>
            </a:r>
            <a:r>
              <a:rPr sz="2800" spc="-20" dirty="0">
                <a:latin typeface="Arial Black"/>
                <a:cs typeface="Arial Black"/>
              </a:rPr>
              <a:t>Worm</a:t>
            </a:r>
            <a:endParaRPr sz="2800">
              <a:latin typeface="Arial Black"/>
              <a:cs typeface="Arial Black"/>
            </a:endParaRPr>
          </a:p>
          <a:p>
            <a:pPr marL="405765" marR="285750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Email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worm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goes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into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user’s </a:t>
            </a:r>
            <a:r>
              <a:rPr sz="2800" dirty="0">
                <a:latin typeface="Verdana"/>
                <a:cs typeface="Verdana"/>
              </a:rPr>
              <a:t>contact/address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book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chooses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every </a:t>
            </a:r>
            <a:r>
              <a:rPr sz="2800" dirty="0">
                <a:latin typeface="Verdana"/>
                <a:cs typeface="Verdana"/>
              </a:rPr>
              <a:t>user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that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contact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list.</a:t>
            </a:r>
            <a:endParaRPr sz="2800">
              <a:latin typeface="Verdana"/>
              <a:cs typeface="Verdana"/>
            </a:endParaRPr>
          </a:p>
          <a:p>
            <a:pPr marL="405765" marR="508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It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then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copies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itself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puts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itself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into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an </a:t>
            </a:r>
            <a:r>
              <a:rPr sz="2800" dirty="0">
                <a:latin typeface="Verdana"/>
                <a:cs typeface="Verdana"/>
              </a:rPr>
              <a:t>attachment;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then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user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will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open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dirty="0">
                <a:latin typeface="Verdana"/>
                <a:cs typeface="Verdana"/>
              </a:rPr>
              <a:t>attachment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process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will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start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over </a:t>
            </a:r>
            <a:r>
              <a:rPr sz="2800" spc="-10" dirty="0">
                <a:latin typeface="Verdana"/>
                <a:cs typeface="Verdana"/>
              </a:rPr>
              <a:t>again!</a:t>
            </a:r>
            <a:endParaRPr sz="2800">
              <a:latin typeface="Verdana"/>
              <a:cs typeface="Verdana"/>
            </a:endParaRPr>
          </a:p>
          <a:p>
            <a:pPr marL="40576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Example: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LOVE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WORM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7654290" cy="441261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dirty="0">
                <a:latin typeface="Arial Black"/>
                <a:cs typeface="Arial Black"/>
              </a:rPr>
              <a:t>Internet</a:t>
            </a:r>
            <a:r>
              <a:rPr sz="2800" spc="-45" dirty="0">
                <a:latin typeface="Arial Black"/>
                <a:cs typeface="Arial Black"/>
              </a:rPr>
              <a:t> </a:t>
            </a:r>
            <a:r>
              <a:rPr sz="2800" spc="-20" dirty="0">
                <a:latin typeface="Arial Black"/>
                <a:cs typeface="Arial Black"/>
              </a:rPr>
              <a:t>Worms</a:t>
            </a:r>
            <a:endParaRPr sz="2800">
              <a:latin typeface="Arial Black"/>
              <a:cs typeface="Arial Black"/>
            </a:endParaRPr>
          </a:p>
          <a:p>
            <a:pPr marL="405765" marR="1174115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A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internet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worm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designed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be </a:t>
            </a:r>
            <a:r>
              <a:rPr sz="2800" dirty="0">
                <a:latin typeface="Verdana"/>
                <a:cs typeface="Verdana"/>
              </a:rPr>
              <a:t>conspicuous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user.</a:t>
            </a:r>
            <a:endParaRPr sz="2800">
              <a:latin typeface="Verdana"/>
              <a:cs typeface="Verdana"/>
            </a:endParaRPr>
          </a:p>
          <a:p>
            <a:pPr marL="405765" marR="508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The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worms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scans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for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open </a:t>
            </a:r>
            <a:r>
              <a:rPr sz="2800" dirty="0">
                <a:latin typeface="Verdana"/>
                <a:cs typeface="Verdana"/>
              </a:rPr>
              <a:t>internet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ports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that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worm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can </a:t>
            </a:r>
            <a:r>
              <a:rPr sz="2800" dirty="0">
                <a:latin typeface="Verdana"/>
                <a:cs typeface="Verdana"/>
              </a:rPr>
              <a:t>download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itself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into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computer.</a:t>
            </a:r>
            <a:endParaRPr sz="2800">
              <a:latin typeface="Verdana"/>
              <a:cs typeface="Verdana"/>
            </a:endParaRPr>
          </a:p>
          <a:p>
            <a:pPr marL="405765" marR="635000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Once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inside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worms </a:t>
            </a:r>
            <a:r>
              <a:rPr sz="2800" dirty="0">
                <a:latin typeface="Verdana"/>
                <a:cs typeface="Verdana"/>
              </a:rPr>
              <a:t>scans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internet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infect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more </a:t>
            </a:r>
            <a:r>
              <a:rPr sz="2800" spc="-10" dirty="0">
                <a:latin typeface="Verdana"/>
                <a:cs typeface="Verdana"/>
              </a:rPr>
              <a:t>computers.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Trojans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8550"/>
            <a:ext cx="7496175" cy="558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96570" indent="-34290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Also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called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Trojan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Horse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program</a:t>
            </a:r>
            <a:r>
              <a:rPr sz="2400" spc="-25" dirty="0">
                <a:latin typeface="Verdana"/>
                <a:cs typeface="Verdana"/>
              </a:rPr>
              <a:t> or </a:t>
            </a:r>
            <a:r>
              <a:rPr sz="2400" dirty="0">
                <a:latin typeface="Verdana"/>
                <a:cs typeface="Verdana"/>
              </a:rPr>
              <a:t>software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designed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look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like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useful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or </a:t>
            </a:r>
            <a:r>
              <a:rPr sz="2400" dirty="0">
                <a:latin typeface="Verdana"/>
                <a:cs typeface="Verdana"/>
              </a:rPr>
              <a:t>legitimate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file.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A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program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with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hidden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functionalities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are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400" dirty="0">
                <a:latin typeface="Verdana"/>
                <a:cs typeface="Verdana"/>
              </a:rPr>
              <a:t>not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specified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program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documentation.</a:t>
            </a:r>
            <a:endParaRPr sz="2400">
              <a:latin typeface="Verdana"/>
              <a:cs typeface="Verdana"/>
            </a:endParaRPr>
          </a:p>
          <a:p>
            <a:pPr marL="355600" marR="391160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Once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program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installed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opened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it </a:t>
            </a:r>
            <a:r>
              <a:rPr sz="2400" dirty="0">
                <a:latin typeface="Verdana"/>
                <a:cs typeface="Verdana"/>
              </a:rPr>
              <a:t>steals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information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deletes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data.</a:t>
            </a:r>
            <a:endParaRPr sz="2400">
              <a:latin typeface="Verdana"/>
              <a:cs typeface="Verdana"/>
            </a:endParaRPr>
          </a:p>
          <a:p>
            <a:pPr marL="355600" marR="212725" indent="-342900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400" dirty="0">
                <a:latin typeface="Verdana"/>
                <a:cs typeface="Verdana"/>
              </a:rPr>
              <a:t>Trojan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horses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compared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other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types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of </a:t>
            </a:r>
            <a:r>
              <a:rPr sz="2400" dirty="0">
                <a:latin typeface="Verdana"/>
                <a:cs typeface="Verdana"/>
              </a:rPr>
              <a:t>malware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that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it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usually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runs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once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and </a:t>
            </a:r>
            <a:r>
              <a:rPr sz="2400" dirty="0">
                <a:latin typeface="Verdana"/>
                <a:cs typeface="Verdana"/>
              </a:rPr>
              <a:t>then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done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functioning.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Programs</a:t>
            </a:r>
            <a:r>
              <a:rPr sz="2400" spc="-10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with</a:t>
            </a:r>
            <a:r>
              <a:rPr sz="2400" spc="-9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hidden</a:t>
            </a:r>
            <a:r>
              <a:rPr sz="2400" spc="-9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malicious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functionalities</a:t>
            </a:r>
            <a:endParaRPr sz="24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400" dirty="0">
                <a:latin typeface="Verdana"/>
                <a:cs typeface="Verdana"/>
              </a:rPr>
              <a:t>Appear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be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screen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savers,</a:t>
            </a:r>
            <a:r>
              <a:rPr sz="2400" spc="-1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games,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or</a:t>
            </a:r>
            <a:r>
              <a:rPr sz="2400" spc="-10" dirty="0">
                <a:latin typeface="Verdana"/>
                <a:cs typeface="Verdana"/>
              </a:rPr>
              <a:t> other</a:t>
            </a:r>
            <a:endParaRPr sz="24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400" spc="-345" dirty="0">
                <a:latin typeface="Verdana"/>
                <a:cs typeface="Verdana"/>
              </a:rPr>
              <a:t>―useful‖</a:t>
            </a:r>
            <a:r>
              <a:rPr sz="2400" spc="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programs</a:t>
            </a:r>
            <a:endParaRPr sz="24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FF0000"/>
                </a:solidFill>
                <a:latin typeface="Verdana"/>
                <a:cs typeface="Verdana"/>
              </a:rPr>
              <a:t>–</a:t>
            </a:r>
            <a:r>
              <a:rPr sz="2400" spc="-5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IPhone</a:t>
            </a:r>
            <a:r>
              <a:rPr sz="2400" spc="-8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</a:t>
            </a:r>
            <a:r>
              <a:rPr sz="2400" spc="-7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Android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apps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7958455" cy="526669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10" dirty="0">
                <a:latin typeface="Arial Black"/>
                <a:cs typeface="Arial Black"/>
              </a:rPr>
              <a:t>Adware</a:t>
            </a:r>
            <a:endParaRPr sz="2800">
              <a:latin typeface="Arial Black"/>
              <a:cs typeface="Arial Black"/>
            </a:endParaRPr>
          </a:p>
          <a:p>
            <a:pPr marL="405765" marR="234950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Adware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type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designed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to </a:t>
            </a:r>
            <a:r>
              <a:rPr sz="2800" dirty="0">
                <a:latin typeface="Verdana"/>
                <a:cs typeface="Verdana"/>
              </a:rPr>
              <a:t>display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advertisements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user’s software.</a:t>
            </a:r>
            <a:endParaRPr sz="2800">
              <a:latin typeface="Verdana"/>
              <a:cs typeface="Verdana"/>
            </a:endParaRPr>
          </a:p>
          <a:p>
            <a:pPr marL="405765" marR="508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They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can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designed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harmless.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But </a:t>
            </a:r>
            <a:r>
              <a:rPr sz="2800" dirty="0">
                <a:latin typeface="Verdana"/>
                <a:cs typeface="Verdana"/>
              </a:rPr>
              <a:t>could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use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steel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user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likeliness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to </a:t>
            </a:r>
            <a:r>
              <a:rPr sz="2800" dirty="0">
                <a:latin typeface="Verdana"/>
                <a:cs typeface="Verdana"/>
              </a:rPr>
              <a:t>gathers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information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what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user </a:t>
            </a:r>
            <a:r>
              <a:rPr sz="2800" dirty="0">
                <a:latin typeface="Verdana"/>
                <a:cs typeface="Verdana"/>
              </a:rPr>
              <a:t>searches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World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Wide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Web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for.</a:t>
            </a:r>
            <a:endParaRPr sz="2800">
              <a:latin typeface="Verdana"/>
              <a:cs typeface="Verdana"/>
            </a:endParaRPr>
          </a:p>
          <a:p>
            <a:pPr marL="405765" marR="13843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With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this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gathered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information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displays </a:t>
            </a:r>
            <a:r>
              <a:rPr sz="2800" dirty="0">
                <a:latin typeface="Verdana"/>
                <a:cs typeface="Verdana"/>
              </a:rPr>
              <a:t>ads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corresponding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information collected.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Adware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9795" y="1830539"/>
            <a:ext cx="5804281" cy="444703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7982584" cy="5693410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10" dirty="0">
                <a:latin typeface="Arial Black"/>
                <a:cs typeface="Arial Black"/>
              </a:rPr>
              <a:t>Spyware</a:t>
            </a:r>
            <a:endParaRPr sz="2800">
              <a:latin typeface="Arial Black"/>
              <a:cs typeface="Arial Black"/>
            </a:endParaRPr>
          </a:p>
          <a:p>
            <a:pPr marL="405765" marR="10795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Spyware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like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adware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spies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dirty="0">
                <a:latin typeface="Verdana"/>
                <a:cs typeface="Verdana"/>
              </a:rPr>
              <a:t>user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what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information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can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collect </a:t>
            </a:r>
            <a:r>
              <a:rPr sz="2800" dirty="0">
                <a:latin typeface="Verdana"/>
                <a:cs typeface="Verdana"/>
              </a:rPr>
              <a:t>off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user’s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display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pop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ads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user’s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computer.</a:t>
            </a:r>
            <a:endParaRPr sz="2800">
              <a:latin typeface="Verdana"/>
              <a:cs typeface="Verdana"/>
            </a:endParaRPr>
          </a:p>
          <a:p>
            <a:pPr marL="405765" marR="508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Spyware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unlike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adware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likes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use </a:t>
            </a:r>
            <a:r>
              <a:rPr sz="2800" dirty="0">
                <a:latin typeface="Verdana"/>
                <a:cs typeface="Verdana"/>
              </a:rPr>
              <a:t>memory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programs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running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dirty="0">
                <a:latin typeface="Verdana"/>
                <a:cs typeface="Verdana"/>
              </a:rPr>
              <a:t>background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keep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close </a:t>
            </a:r>
            <a:r>
              <a:rPr sz="2800" dirty="0">
                <a:latin typeface="Verdana"/>
                <a:cs typeface="Verdana"/>
              </a:rPr>
              <a:t>watch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user.</a:t>
            </a:r>
            <a:endParaRPr sz="2800">
              <a:latin typeface="Verdana"/>
              <a:cs typeface="Verdana"/>
            </a:endParaRPr>
          </a:p>
          <a:p>
            <a:pPr marL="405765" marR="15303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This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most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often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clogs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up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computer </a:t>
            </a:r>
            <a:r>
              <a:rPr sz="2800" dirty="0">
                <a:latin typeface="Verdana"/>
                <a:cs typeface="Verdana"/>
              </a:rPr>
              <a:t>causing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program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or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slow </a:t>
            </a:r>
            <a:r>
              <a:rPr sz="2800" spc="-10" dirty="0">
                <a:latin typeface="Verdana"/>
                <a:cs typeface="Verdana"/>
              </a:rPr>
              <a:t>down.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Malicious</a:t>
            </a:r>
            <a:r>
              <a:rPr spc="-125" dirty="0"/>
              <a:t> </a:t>
            </a:r>
            <a:r>
              <a:rPr spc="-10" dirty="0"/>
              <a:t>Scripts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7026"/>
            <a:ext cx="7644765" cy="2465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Malicious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scripts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written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VBScript,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ActiveX, </a:t>
            </a:r>
            <a:r>
              <a:rPr sz="2000" dirty="0">
                <a:latin typeface="Verdana"/>
                <a:cs typeface="Verdana"/>
              </a:rPr>
              <a:t>Flash,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etc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FF0000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Can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hidden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e-</a:t>
            </a:r>
            <a:r>
              <a:rPr sz="2000" dirty="0">
                <a:latin typeface="Verdana"/>
                <a:cs typeface="Verdana"/>
              </a:rPr>
              <a:t>mails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websites</a:t>
            </a:r>
            <a:endParaRPr sz="2000">
              <a:latin typeface="Verdana"/>
              <a:cs typeface="Verdana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—"/>
              <a:tabLst>
                <a:tab pos="755015" algn="l"/>
              </a:tabLst>
            </a:pPr>
            <a:r>
              <a:rPr sz="2000" dirty="0">
                <a:latin typeface="Verdana"/>
                <a:cs typeface="Verdana"/>
              </a:rPr>
              <a:t>Flash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banners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included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JavaScript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files</a:t>
            </a:r>
            <a:endParaRPr sz="2000">
              <a:latin typeface="Verdana"/>
              <a:cs typeface="Verdana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—"/>
              <a:tabLst>
                <a:tab pos="755015" algn="l"/>
              </a:tabLst>
            </a:pPr>
            <a:r>
              <a:rPr sz="2000" dirty="0">
                <a:latin typeface="Verdana"/>
                <a:cs typeface="Verdana"/>
              </a:rPr>
              <a:t>Cross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Site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Script</a:t>
            </a:r>
            <a:r>
              <a:rPr sz="2000" spc="-20" dirty="0">
                <a:latin typeface="Verdana"/>
                <a:cs typeface="Verdana"/>
              </a:rPr>
              <a:t> (XSS)</a:t>
            </a:r>
            <a:endParaRPr sz="2000">
              <a:latin typeface="Verdana"/>
              <a:cs typeface="Verdana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—"/>
              <a:tabLst>
                <a:tab pos="755015" algn="l"/>
              </a:tabLst>
            </a:pPr>
            <a:r>
              <a:rPr sz="2000" dirty="0">
                <a:latin typeface="Verdana"/>
                <a:cs typeface="Verdana"/>
              </a:rPr>
              <a:t>Cookie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steal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Backdoors</a:t>
            </a:r>
            <a:r>
              <a:rPr spc="-35" dirty="0"/>
              <a:t> </a:t>
            </a:r>
            <a:r>
              <a:rPr dirty="0"/>
              <a:t>&amp;</a:t>
            </a:r>
            <a:r>
              <a:rPr spc="-35" dirty="0"/>
              <a:t> </a:t>
            </a:r>
            <a:r>
              <a:rPr spc="-10" dirty="0"/>
              <a:t>Rootkits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7026"/>
            <a:ext cx="7782559" cy="405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6068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secret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entry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point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allows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someone </a:t>
            </a:r>
            <a:r>
              <a:rPr sz="2000" dirty="0">
                <a:latin typeface="Verdana"/>
                <a:cs typeface="Verdana"/>
              </a:rPr>
              <a:t>aware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trap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door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gain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without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going </a:t>
            </a:r>
            <a:r>
              <a:rPr sz="2000" dirty="0">
                <a:latin typeface="Verdana"/>
                <a:cs typeface="Verdana"/>
              </a:rPr>
              <a:t>through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usual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security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procedures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FF0000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Backdoors</a:t>
            </a:r>
            <a:endParaRPr sz="2000">
              <a:latin typeface="Verdana"/>
              <a:cs typeface="Verdana"/>
            </a:endParaRPr>
          </a:p>
          <a:p>
            <a:pPr marL="754380" marR="5080" lvl="1" indent="-28511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—"/>
              <a:tabLst>
                <a:tab pos="756285" algn="l"/>
              </a:tabLst>
            </a:pPr>
            <a:r>
              <a:rPr sz="2000" dirty="0">
                <a:latin typeface="Verdana"/>
                <a:cs typeface="Verdana"/>
              </a:rPr>
              <a:t>Usually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left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programmers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debugging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testing 	</a:t>
            </a:r>
            <a:r>
              <a:rPr sz="2000" dirty="0">
                <a:latin typeface="Verdana"/>
                <a:cs typeface="Verdana"/>
              </a:rPr>
              <a:t>purposes,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intentionally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unintentionally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450"/>
              </a:spcBef>
              <a:buClr>
                <a:srgbClr val="FF0000"/>
              </a:buClr>
              <a:buFont typeface="Verdana"/>
              <a:buChar char="—"/>
            </a:pP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000" spc="-10" dirty="0">
                <a:latin typeface="Verdana"/>
                <a:cs typeface="Verdana"/>
              </a:rPr>
              <a:t>Rootkits</a:t>
            </a:r>
            <a:endParaRPr sz="2000">
              <a:latin typeface="Verdana"/>
              <a:cs typeface="Verdana"/>
            </a:endParaRPr>
          </a:p>
          <a:p>
            <a:pPr marL="754380" marR="446405" lvl="1" indent="-28511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—"/>
              <a:tabLst>
                <a:tab pos="756285" algn="l"/>
              </a:tabLst>
            </a:pPr>
            <a:r>
              <a:rPr sz="2000" dirty="0">
                <a:latin typeface="Verdana"/>
                <a:cs typeface="Verdana"/>
              </a:rPr>
              <a:t>Usually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installed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attacker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after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gained 	</a:t>
            </a:r>
            <a:r>
              <a:rPr sz="2000" dirty="0">
                <a:latin typeface="Verdana"/>
                <a:cs typeface="Verdana"/>
              </a:rPr>
              <a:t>root/administrator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access</a:t>
            </a:r>
            <a:endParaRPr sz="2000">
              <a:latin typeface="Verdana"/>
              <a:cs typeface="Verdana"/>
            </a:endParaRPr>
          </a:p>
          <a:p>
            <a:pPr marL="755015" lvl="1" indent="-28511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—"/>
              <a:tabLst>
                <a:tab pos="755015" algn="l"/>
              </a:tabLst>
            </a:pPr>
            <a:r>
              <a:rPr sz="2000" dirty="0">
                <a:latin typeface="Verdana"/>
                <a:cs typeface="Verdana"/>
              </a:rPr>
              <a:t>Modifies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entire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avoids</a:t>
            </a:r>
            <a:r>
              <a:rPr sz="2000" spc="-10" dirty="0">
                <a:latin typeface="Verdana"/>
                <a:cs typeface="Verdana"/>
              </a:rPr>
              <a:t> detection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Logical</a:t>
            </a:r>
            <a:r>
              <a:rPr spc="-60" dirty="0"/>
              <a:t> </a:t>
            </a:r>
            <a:r>
              <a:rPr spc="-10" dirty="0"/>
              <a:t>Bombs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7026"/>
            <a:ext cx="7702550" cy="240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0541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Malicious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code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programmed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activated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specific </a:t>
            </a:r>
            <a:r>
              <a:rPr sz="2000" dirty="0">
                <a:latin typeface="Verdana"/>
                <a:cs typeface="Verdana"/>
              </a:rPr>
              <a:t>date,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time 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circumstances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FF0000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355600" marR="85725" indent="-342900">
              <a:lnSpc>
                <a:spcPct val="100000"/>
              </a:lnSpc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Action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could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everything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formatting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hard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drive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display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silly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message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user’s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screen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Clr>
                <a:srgbClr val="FF0000"/>
              </a:buClr>
              <a:buFont typeface="Verdana"/>
              <a:buChar char="•"/>
            </a:pP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Often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combined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virus/worm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(e.g,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Chernobyl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virus)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4735297"/>
            <a:ext cx="1643414" cy="118325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97026"/>
            <a:ext cx="7891145" cy="4232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Ransomware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malicious software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threatens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publish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victim's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temporarily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block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access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data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system,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unless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ransom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paid.</a:t>
            </a:r>
            <a:endParaRPr sz="2000">
              <a:latin typeface="Verdana"/>
              <a:cs typeface="Verdana"/>
            </a:endParaRPr>
          </a:p>
          <a:p>
            <a:pPr marL="355600" marR="762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Vistm’s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data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encrypted.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unavailable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access </a:t>
            </a:r>
            <a:r>
              <a:rPr sz="2000" dirty="0">
                <a:latin typeface="Verdana"/>
                <a:cs typeface="Verdana"/>
              </a:rPr>
              <a:t>unless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money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paid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attacker</a:t>
            </a:r>
            <a:endParaRPr sz="2000">
              <a:latin typeface="Verdana"/>
              <a:cs typeface="Verdana"/>
            </a:endParaRPr>
          </a:p>
          <a:p>
            <a:pPr marL="355600" marR="1120775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Financial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payment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mostly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done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through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bit-</a:t>
            </a:r>
            <a:r>
              <a:rPr sz="2000" spc="-20" dirty="0">
                <a:latin typeface="Verdana"/>
                <a:cs typeface="Verdana"/>
              </a:rPr>
              <a:t>coin </a:t>
            </a:r>
            <a:r>
              <a:rPr sz="2000" spc="-10" dirty="0">
                <a:latin typeface="Verdana"/>
                <a:cs typeface="Verdana"/>
              </a:rPr>
              <a:t>currency.</a:t>
            </a:r>
            <a:endParaRPr sz="2000">
              <a:latin typeface="Verdana"/>
              <a:cs typeface="Verdana"/>
            </a:endParaRPr>
          </a:p>
          <a:p>
            <a:pPr marL="355600" marR="454659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Ransomware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attacks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typically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carried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out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Trojan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legitimate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file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tricked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into </a:t>
            </a:r>
            <a:r>
              <a:rPr sz="2000" dirty="0">
                <a:latin typeface="Verdana"/>
                <a:cs typeface="Verdana"/>
              </a:rPr>
              <a:t>downloading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opening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arrives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email attachment.</a:t>
            </a:r>
            <a:endParaRPr sz="2000">
              <a:latin typeface="Verdana"/>
              <a:cs typeface="Verdana"/>
            </a:endParaRPr>
          </a:p>
          <a:p>
            <a:pPr marL="355600" marR="518795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Ransomware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30" dirty="0">
                <a:latin typeface="Verdana"/>
                <a:cs typeface="Verdana"/>
              </a:rPr>
              <a:t>―WannaCry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29" dirty="0">
                <a:latin typeface="Verdana"/>
                <a:cs typeface="Verdana"/>
              </a:rPr>
              <a:t>worm‖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traveled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automatically </a:t>
            </a:r>
            <a:r>
              <a:rPr sz="2000" dirty="0">
                <a:latin typeface="Verdana"/>
                <a:cs typeface="Verdana"/>
              </a:rPr>
              <a:t>between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computers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without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interaction.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Ransomware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97026"/>
            <a:ext cx="7470140" cy="19773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46685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u="sng" dirty="0">
                <a:solidFill>
                  <a:srgbClr val="996633"/>
                </a:solidFill>
                <a:uFill>
                  <a:solidFill>
                    <a:srgbClr val="996633"/>
                  </a:solidFill>
                </a:uFill>
                <a:latin typeface="Verdana"/>
                <a:cs typeface="Verdana"/>
                <a:hlinkClick r:id="rId2"/>
              </a:rPr>
              <a:t>CryptoLocker</a:t>
            </a:r>
            <a:r>
              <a:rPr sz="2000" spc="-65" dirty="0">
                <a:solidFill>
                  <a:srgbClr val="996633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particularly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successful,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procuring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 </a:t>
            </a:r>
            <a:r>
              <a:rPr sz="2000" dirty="0">
                <a:latin typeface="Verdana"/>
                <a:cs typeface="Verdana"/>
              </a:rPr>
              <a:t>estimated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$3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million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before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taken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down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by </a:t>
            </a:r>
            <a:r>
              <a:rPr sz="2000" spc="-10" dirty="0">
                <a:latin typeface="Verdana"/>
                <a:cs typeface="Verdana"/>
              </a:rPr>
              <a:t>authorities.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CryptoWall was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estimated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(FBI)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accrued </a:t>
            </a:r>
            <a:r>
              <a:rPr sz="2000" dirty="0">
                <a:latin typeface="Verdana"/>
                <a:cs typeface="Verdana"/>
              </a:rPr>
              <a:t>over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$18m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June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2015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Russian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ransomware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Ransomware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19600" y="3352825"/>
            <a:ext cx="4232656" cy="249135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44500" y="4058792"/>
            <a:ext cx="3707129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9855">
              <a:lnSpc>
                <a:spcPct val="100000"/>
              </a:lnSpc>
              <a:spcBef>
                <a:spcPts val="95"/>
              </a:spcBef>
            </a:pPr>
            <a:r>
              <a:rPr sz="1600" i="1" spc="-75" dirty="0">
                <a:latin typeface="Times New Roman"/>
                <a:cs typeface="Times New Roman"/>
              </a:rPr>
              <a:t>To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unlock</a:t>
            </a:r>
            <a:r>
              <a:rPr sz="1600" i="1" spc="-4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you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need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to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send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an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SMS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with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the </a:t>
            </a:r>
            <a:r>
              <a:rPr sz="1600" i="1" dirty="0">
                <a:latin typeface="Times New Roman"/>
                <a:cs typeface="Times New Roman"/>
              </a:rPr>
              <a:t>text</a:t>
            </a:r>
            <a:r>
              <a:rPr sz="1600" i="1" spc="-10" dirty="0">
                <a:latin typeface="Times New Roman"/>
                <a:cs typeface="Times New Roman"/>
              </a:rPr>
              <a:t> 4121800286</a:t>
            </a:r>
            <a:r>
              <a:rPr sz="1600" i="1" spc="-5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to</a:t>
            </a:r>
            <a:r>
              <a:rPr sz="1600" i="1" spc="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the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number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3649.</a:t>
            </a:r>
            <a:endParaRPr sz="16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1600" i="1" dirty="0">
                <a:latin typeface="Times New Roman"/>
                <a:cs typeface="Times New Roman"/>
              </a:rPr>
              <a:t>Enter</a:t>
            </a:r>
            <a:r>
              <a:rPr sz="1600" i="1" spc="-3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the</a:t>
            </a:r>
            <a:r>
              <a:rPr sz="1600" i="1" spc="-30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resulting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code:</a:t>
            </a:r>
            <a:r>
              <a:rPr sz="1600" i="1" spc="-6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Any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attempt</a:t>
            </a:r>
            <a:r>
              <a:rPr sz="1600" i="1" spc="-30" dirty="0"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to </a:t>
            </a:r>
            <a:r>
              <a:rPr sz="1600" i="1" spc="-10" dirty="0">
                <a:latin typeface="Times New Roman"/>
                <a:cs typeface="Times New Roman"/>
              </a:rPr>
              <a:t>reinstall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the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system</a:t>
            </a:r>
            <a:r>
              <a:rPr sz="1600" i="1" spc="-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may</a:t>
            </a:r>
            <a:r>
              <a:rPr sz="1600" i="1" spc="-3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lead</a:t>
            </a:r>
            <a:r>
              <a:rPr sz="1600" i="1" spc="-2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to</a:t>
            </a:r>
            <a:r>
              <a:rPr sz="1600" i="1" spc="-1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loss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of </a:t>
            </a:r>
            <a:r>
              <a:rPr sz="1600" i="1" dirty="0">
                <a:latin typeface="Times New Roman"/>
                <a:cs typeface="Times New Roman"/>
              </a:rPr>
              <a:t>important</a:t>
            </a:r>
            <a:r>
              <a:rPr sz="1600" i="1" spc="-7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information</a:t>
            </a:r>
            <a:r>
              <a:rPr sz="1600" i="1" spc="-40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and</a:t>
            </a:r>
            <a:r>
              <a:rPr sz="1600" i="1" spc="-6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computer</a:t>
            </a:r>
            <a:r>
              <a:rPr sz="1600" i="1" spc="-45" dirty="0">
                <a:latin typeface="Times New Roman"/>
                <a:cs typeface="Times New Roman"/>
              </a:rPr>
              <a:t> </a:t>
            </a:r>
            <a:r>
              <a:rPr sz="1600" i="1" spc="-10" dirty="0">
                <a:latin typeface="Times New Roman"/>
                <a:cs typeface="Times New Roman"/>
              </a:rPr>
              <a:t>damage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97026"/>
            <a:ext cx="7762240" cy="41719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24130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Type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malware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social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engineering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cause </a:t>
            </a:r>
            <a:r>
              <a:rPr sz="2000" dirty="0">
                <a:latin typeface="Verdana"/>
                <a:cs typeface="Verdana"/>
              </a:rPr>
              <a:t>shock,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anxiety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perception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threat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order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manipulate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buying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unwanted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software.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"scareware"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label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also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application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or </a:t>
            </a:r>
            <a:r>
              <a:rPr sz="2000" dirty="0">
                <a:latin typeface="Verdana"/>
                <a:cs typeface="Verdana"/>
              </a:rPr>
              <a:t>virus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which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pranks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intent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anxiety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or </a:t>
            </a:r>
            <a:r>
              <a:rPr sz="2000" spc="-10" dirty="0">
                <a:latin typeface="Verdana"/>
                <a:cs typeface="Verdana"/>
              </a:rPr>
              <a:t>panic.</a:t>
            </a:r>
            <a:endParaRPr sz="2000">
              <a:latin typeface="Verdana"/>
              <a:cs typeface="Verdana"/>
            </a:endParaRPr>
          </a:p>
          <a:p>
            <a:pPr marL="355600" marR="4191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This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class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program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tries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increase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perceived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value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bombarding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with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constant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warning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messages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increase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effectiveness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like </a:t>
            </a:r>
            <a:r>
              <a:rPr sz="2000" dirty="0">
                <a:latin typeface="Verdana"/>
                <a:cs typeface="Verdana"/>
              </a:rPr>
              <a:t>cleaning,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scanning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software.</a:t>
            </a:r>
            <a:endParaRPr sz="2000">
              <a:latin typeface="Verdana"/>
              <a:cs typeface="Verdana"/>
            </a:endParaRPr>
          </a:p>
          <a:p>
            <a:pPr marL="355600" marR="173355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Example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scareware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Smart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Fortress.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scares </a:t>
            </a:r>
            <a:r>
              <a:rPr sz="2000" dirty="0">
                <a:latin typeface="Verdana"/>
                <a:cs typeface="Verdana"/>
              </a:rPr>
              <a:t>people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thinking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have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lots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viruses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their </a:t>
            </a:r>
            <a:r>
              <a:rPr sz="2000" dirty="0">
                <a:latin typeface="Verdana"/>
                <a:cs typeface="Verdana"/>
              </a:rPr>
              <a:t>computer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asks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them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professional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service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Scare-ware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97026"/>
            <a:ext cx="7918450" cy="3196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keylogger,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sometimes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called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keystroke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logger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type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surveillance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software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used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monitor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record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each </a:t>
            </a:r>
            <a:r>
              <a:rPr sz="2000" dirty="0">
                <a:latin typeface="Verdana"/>
                <a:cs typeface="Verdana"/>
              </a:rPr>
              <a:t>keystroke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typed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specific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computer's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keyboard.</a:t>
            </a:r>
            <a:endParaRPr sz="2000">
              <a:latin typeface="Verdana"/>
              <a:cs typeface="Verdana"/>
            </a:endParaRPr>
          </a:p>
          <a:p>
            <a:pPr marL="355600" marR="78740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Keylogger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software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also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available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smart </a:t>
            </a:r>
            <a:r>
              <a:rPr sz="2000" dirty="0">
                <a:latin typeface="Verdana"/>
                <a:cs typeface="Verdana"/>
              </a:rPr>
              <a:t>phones,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such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Apple's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iPhone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Android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devices.</a:t>
            </a:r>
            <a:endParaRPr sz="2000">
              <a:latin typeface="Verdana"/>
              <a:cs typeface="Verdana"/>
            </a:endParaRPr>
          </a:p>
          <a:p>
            <a:pPr marL="355600" marR="641350" indent="-342900">
              <a:lnSpc>
                <a:spcPct val="100000"/>
              </a:lnSpc>
              <a:spcBef>
                <a:spcPts val="48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hardware-</a:t>
            </a:r>
            <a:r>
              <a:rPr sz="2000" dirty="0">
                <a:latin typeface="Verdana"/>
                <a:cs typeface="Verdana"/>
              </a:rPr>
              <a:t>based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keylogger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part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computer </a:t>
            </a:r>
            <a:r>
              <a:rPr sz="2000" dirty="0">
                <a:latin typeface="Verdana"/>
                <a:cs typeface="Verdana"/>
              </a:rPr>
              <a:t>cabling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small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device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serves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connector </a:t>
            </a:r>
            <a:r>
              <a:rPr sz="2000" dirty="0">
                <a:latin typeface="Verdana"/>
                <a:cs typeface="Verdana"/>
              </a:rPr>
              <a:t>between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computer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keyboard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computer., </a:t>
            </a:r>
            <a:r>
              <a:rPr sz="2000" dirty="0">
                <a:latin typeface="Verdana"/>
                <a:cs typeface="Verdana"/>
              </a:rPr>
              <a:t>making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relatively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easy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someone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wants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to </a:t>
            </a:r>
            <a:r>
              <a:rPr sz="2000" dirty="0">
                <a:latin typeface="Verdana"/>
                <a:cs typeface="Verdana"/>
              </a:rPr>
              <a:t>monitor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user's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behavior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hide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device.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Keyloggers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4572000"/>
            <a:ext cx="1666875" cy="16668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9400" y="4572000"/>
            <a:ext cx="2447925" cy="18669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Blended</a:t>
            </a:r>
            <a:r>
              <a:rPr spc="-30" dirty="0"/>
              <a:t> </a:t>
            </a:r>
            <a:r>
              <a:rPr spc="-10" dirty="0"/>
              <a:t>Threats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7026"/>
            <a:ext cx="7460615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Advanced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malicious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software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combines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characteristics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viruses,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worms,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trojans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malicious </a:t>
            </a:r>
            <a:r>
              <a:rPr sz="2000" dirty="0">
                <a:latin typeface="Verdana"/>
                <a:cs typeface="Verdana"/>
              </a:rPr>
              <a:t>scripts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are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sometimes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called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45" dirty="0">
                <a:latin typeface="Verdana"/>
                <a:cs typeface="Verdana"/>
              </a:rPr>
              <a:t>―Blended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Threats‖</a:t>
            </a:r>
            <a:endParaRPr sz="20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000" spc="-4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It’s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hard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know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where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draw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line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474846"/>
            <a:ext cx="525018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Exploits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many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vulnerabilities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in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Verdana"/>
                <a:cs typeface="Verdana"/>
              </a:rPr>
              <a:t>programs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operating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system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00800" y="2362200"/>
            <a:ext cx="2551049" cy="36576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970644" y="6351219"/>
            <a:ext cx="95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 Black"/>
                <a:cs typeface="Arial Black"/>
              </a:rPr>
              <a:t>*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98549"/>
            <a:ext cx="7884795" cy="5123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27432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Use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antivirus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program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keep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it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up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date!</a:t>
            </a:r>
            <a:endParaRPr sz="2800">
              <a:latin typeface="Verdana"/>
              <a:cs typeface="Verdana"/>
            </a:endParaRPr>
          </a:p>
          <a:p>
            <a:pPr marL="756285" marR="571500" indent="-2870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Yes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they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only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protect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from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know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malicious </a:t>
            </a:r>
            <a:r>
              <a:rPr sz="2400" dirty="0">
                <a:latin typeface="Verdana"/>
                <a:cs typeface="Verdana"/>
              </a:rPr>
              <a:t>code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out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there,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but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it’s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still</a:t>
            </a:r>
            <a:r>
              <a:rPr sz="2400" spc="-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something!</a:t>
            </a:r>
            <a:endParaRPr sz="24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Keep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your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Operating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System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up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date!</a:t>
            </a:r>
            <a:endParaRPr sz="2800">
              <a:latin typeface="Verdana"/>
              <a:cs typeface="Verdana"/>
            </a:endParaRPr>
          </a:p>
          <a:p>
            <a:pPr marL="756285" marR="5080" indent="-2870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Windows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of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most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hacked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OS</a:t>
            </a:r>
            <a:r>
              <a:rPr sz="2400" spc="-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the </a:t>
            </a:r>
            <a:r>
              <a:rPr sz="2400" spc="-10" dirty="0">
                <a:latin typeface="Verdana"/>
                <a:cs typeface="Verdana"/>
              </a:rPr>
              <a:t>market.</a:t>
            </a:r>
            <a:endParaRPr sz="2400">
              <a:latin typeface="Verdana"/>
              <a:cs typeface="Verdana"/>
            </a:endParaRPr>
          </a:p>
          <a:p>
            <a:pPr marL="756285" marR="395605" indent="-2870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updates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mostly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focused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security patches</a:t>
            </a:r>
            <a:endParaRPr sz="24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6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Keep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your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Application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System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up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date!</a:t>
            </a:r>
            <a:endParaRPr sz="2800">
              <a:latin typeface="Verdana"/>
              <a:cs typeface="Verdana"/>
            </a:endParaRPr>
          </a:p>
          <a:p>
            <a:pPr marL="756285" marR="395605" indent="-287020">
              <a:lnSpc>
                <a:spcPct val="100000"/>
              </a:lnSpc>
              <a:spcBef>
                <a:spcPts val="585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updates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are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mostly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focused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security patches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we</a:t>
            </a:r>
            <a:r>
              <a:rPr spc="-30" dirty="0"/>
              <a:t> </a:t>
            </a:r>
            <a:r>
              <a:rPr dirty="0"/>
              <a:t>protect</a:t>
            </a:r>
            <a:r>
              <a:rPr spc="-35" dirty="0"/>
              <a:t> </a:t>
            </a:r>
            <a:r>
              <a:rPr spc="-10" dirty="0"/>
              <a:t>ourselves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dirty="0"/>
              <a:t>Antivirus</a:t>
            </a:r>
            <a:r>
              <a:rPr spc="-65" dirty="0"/>
              <a:t> </a:t>
            </a:r>
            <a:r>
              <a:rPr dirty="0"/>
              <a:t>programs</a:t>
            </a:r>
            <a:r>
              <a:rPr spc="-70" dirty="0"/>
              <a:t> </a:t>
            </a:r>
            <a:r>
              <a:rPr dirty="0"/>
              <a:t>are</a:t>
            </a:r>
            <a:r>
              <a:rPr spc="-95" dirty="0"/>
              <a:t> </a:t>
            </a:r>
            <a:r>
              <a:rPr dirty="0"/>
              <a:t>designed</a:t>
            </a:r>
            <a:r>
              <a:rPr spc="-50" dirty="0"/>
              <a:t> </a:t>
            </a:r>
            <a:r>
              <a:rPr dirty="0"/>
              <a:t>to</a:t>
            </a:r>
            <a:r>
              <a:rPr spc="-100" dirty="0"/>
              <a:t> </a:t>
            </a:r>
            <a:r>
              <a:rPr spc="-10" dirty="0"/>
              <a:t>detect </a:t>
            </a:r>
            <a:r>
              <a:rPr dirty="0"/>
              <a:t>malware</a:t>
            </a:r>
            <a:r>
              <a:rPr spc="-80" dirty="0"/>
              <a:t> </a:t>
            </a:r>
            <a:r>
              <a:rPr dirty="0"/>
              <a:t>trying</a:t>
            </a:r>
            <a:r>
              <a:rPr spc="-35" dirty="0"/>
              <a:t> </a:t>
            </a:r>
            <a:r>
              <a:rPr dirty="0"/>
              <a:t>to</a:t>
            </a:r>
            <a:r>
              <a:rPr spc="-70" dirty="0"/>
              <a:t> </a:t>
            </a:r>
            <a:r>
              <a:rPr dirty="0"/>
              <a:t>enter</a:t>
            </a:r>
            <a:r>
              <a:rPr spc="-70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user’s system.</a:t>
            </a:r>
          </a:p>
          <a:p>
            <a:pPr marL="355600" marR="29781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dirty="0"/>
              <a:t>There</a:t>
            </a:r>
            <a:r>
              <a:rPr spc="-75" dirty="0"/>
              <a:t> </a:t>
            </a:r>
            <a:r>
              <a:rPr dirty="0"/>
              <a:t>are</a:t>
            </a:r>
            <a:r>
              <a:rPr spc="-55" dirty="0"/>
              <a:t> </a:t>
            </a:r>
            <a:r>
              <a:rPr dirty="0"/>
              <a:t>several</a:t>
            </a:r>
            <a:r>
              <a:rPr spc="-75" dirty="0"/>
              <a:t> </a:t>
            </a:r>
            <a:r>
              <a:rPr dirty="0"/>
              <a:t>ways</a:t>
            </a:r>
            <a:r>
              <a:rPr spc="-50" dirty="0"/>
              <a:t> </a:t>
            </a:r>
            <a:r>
              <a:rPr dirty="0"/>
              <a:t>a</a:t>
            </a:r>
            <a:r>
              <a:rPr spc="-70" dirty="0"/>
              <a:t> </a:t>
            </a:r>
            <a:r>
              <a:rPr spc="-10" dirty="0"/>
              <a:t>antivirus </a:t>
            </a:r>
            <a:r>
              <a:rPr dirty="0"/>
              <a:t>program</a:t>
            </a:r>
            <a:r>
              <a:rPr spc="-65" dirty="0"/>
              <a:t> </a:t>
            </a:r>
            <a:r>
              <a:rPr dirty="0"/>
              <a:t>can</a:t>
            </a:r>
            <a:r>
              <a:rPr spc="-80" dirty="0"/>
              <a:t> </a:t>
            </a:r>
            <a:r>
              <a:rPr dirty="0"/>
              <a:t>track</a:t>
            </a:r>
            <a:r>
              <a:rPr spc="-70" dirty="0"/>
              <a:t> </a:t>
            </a:r>
            <a:r>
              <a:rPr dirty="0"/>
              <a:t>malware</a:t>
            </a:r>
            <a:r>
              <a:rPr spc="-80" dirty="0"/>
              <a:t> </a:t>
            </a:r>
            <a:r>
              <a:rPr dirty="0"/>
              <a:t>entering</a:t>
            </a:r>
            <a:r>
              <a:rPr spc="-65" dirty="0"/>
              <a:t> </a:t>
            </a:r>
            <a:r>
              <a:rPr spc="-25" dirty="0"/>
              <a:t>the </a:t>
            </a:r>
            <a:r>
              <a:rPr spc="-10" dirty="0"/>
              <a:t>computer.</a:t>
            </a:r>
          </a:p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4965" algn="l"/>
              </a:tabLst>
            </a:pPr>
            <a:r>
              <a:rPr dirty="0"/>
              <a:t>Antivirus</a:t>
            </a:r>
            <a:r>
              <a:rPr spc="-60" dirty="0"/>
              <a:t> </a:t>
            </a:r>
            <a:r>
              <a:rPr dirty="0"/>
              <a:t>can</a:t>
            </a:r>
            <a:r>
              <a:rPr spc="-100" dirty="0"/>
              <a:t> </a:t>
            </a:r>
            <a:r>
              <a:rPr spc="-20" dirty="0"/>
              <a:t>use:</a:t>
            </a: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</a:rPr>
              <a:t>—</a:t>
            </a:r>
            <a:r>
              <a:rPr sz="2400" dirty="0"/>
              <a:t>Signature</a:t>
            </a:r>
            <a:r>
              <a:rPr sz="2400" spc="-75" dirty="0"/>
              <a:t> </a:t>
            </a:r>
            <a:r>
              <a:rPr sz="2400" dirty="0"/>
              <a:t>based</a:t>
            </a:r>
            <a:r>
              <a:rPr sz="2400" spc="-70" dirty="0"/>
              <a:t> </a:t>
            </a:r>
            <a:r>
              <a:rPr sz="2400" spc="-10" dirty="0"/>
              <a:t>detection</a:t>
            </a:r>
            <a:endParaRPr sz="2400"/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FF0000"/>
                </a:solidFill>
              </a:rPr>
              <a:t>—</a:t>
            </a:r>
            <a:r>
              <a:rPr sz="2400" spc="-10" dirty="0"/>
              <a:t>Heuristics</a:t>
            </a:r>
            <a:endParaRPr sz="2400"/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</a:rPr>
              <a:t>—</a:t>
            </a:r>
            <a:r>
              <a:rPr sz="2400" dirty="0"/>
              <a:t>Cloud</a:t>
            </a:r>
            <a:r>
              <a:rPr sz="2400" spc="-60" dirty="0"/>
              <a:t> </a:t>
            </a:r>
            <a:r>
              <a:rPr sz="2400" spc="-10" dirty="0"/>
              <a:t>Antivirus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Antivirus</a:t>
            </a:r>
            <a:r>
              <a:rPr spc="-85" dirty="0"/>
              <a:t> </a:t>
            </a:r>
            <a:r>
              <a:rPr spc="-10" dirty="0"/>
              <a:t>Programs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5343" y="295911"/>
            <a:ext cx="7399020" cy="424243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spc="-20" dirty="0">
                <a:latin typeface="Arial Black"/>
                <a:cs typeface="Arial Black"/>
              </a:rPr>
              <a:t>Signature-</a:t>
            </a:r>
            <a:r>
              <a:rPr sz="2800" dirty="0">
                <a:latin typeface="Arial Black"/>
                <a:cs typeface="Arial Black"/>
              </a:rPr>
              <a:t>Based</a:t>
            </a:r>
            <a:r>
              <a:rPr sz="2800" spc="6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Detection</a:t>
            </a:r>
            <a:endParaRPr sz="2800">
              <a:latin typeface="Arial Black"/>
              <a:cs typeface="Arial Black"/>
            </a:endParaRPr>
          </a:p>
          <a:p>
            <a:pPr marL="405765" marR="656590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Most</a:t>
            </a:r>
            <a:r>
              <a:rPr sz="2800" spc="-9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common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way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antivirus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finds </a:t>
            </a: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computer</a:t>
            </a:r>
            <a:endParaRPr sz="2800">
              <a:latin typeface="Verdana"/>
              <a:cs typeface="Verdana"/>
            </a:endParaRPr>
          </a:p>
          <a:p>
            <a:pPr marL="408305" indent="-34544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8305" algn="l"/>
              </a:tabLst>
            </a:pPr>
            <a:r>
              <a:rPr sz="2800" dirty="0">
                <a:latin typeface="Verdana"/>
                <a:cs typeface="Verdana"/>
              </a:rPr>
              <a:t>Find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string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that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can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identify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virus</a:t>
            </a:r>
            <a:endParaRPr sz="2800">
              <a:latin typeface="Verdana"/>
              <a:cs typeface="Verdana"/>
            </a:endParaRPr>
          </a:p>
          <a:p>
            <a:pPr marL="408305" indent="-34544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8305" algn="l"/>
              </a:tabLst>
            </a:pPr>
            <a:r>
              <a:rPr sz="2800" spc="-10" dirty="0">
                <a:latin typeface="Verdana"/>
                <a:cs typeface="Verdana"/>
              </a:rPr>
              <a:t>Fingerprint</a:t>
            </a:r>
            <a:endParaRPr sz="2800">
              <a:latin typeface="Verdana"/>
              <a:cs typeface="Verdana"/>
            </a:endParaRPr>
          </a:p>
          <a:p>
            <a:pPr marL="40576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Database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virus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signatures</a:t>
            </a:r>
            <a:endParaRPr sz="2800">
              <a:latin typeface="Verdana"/>
              <a:cs typeface="Verdana"/>
            </a:endParaRPr>
          </a:p>
          <a:p>
            <a:pPr marL="405765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Constant</a:t>
            </a:r>
            <a:r>
              <a:rPr sz="2800" spc="-1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Updates</a:t>
            </a:r>
            <a:endParaRPr sz="2800">
              <a:latin typeface="Verdana"/>
              <a:cs typeface="Verdana"/>
            </a:endParaRPr>
          </a:p>
          <a:p>
            <a:pPr marL="40576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Not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100%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foolproof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Impossibility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60701" rIns="0" bIns="0" rtlCol="0">
            <a:spAutoFit/>
          </a:bodyPr>
          <a:lstStyle/>
          <a:p>
            <a:pPr marL="2243455" marR="5080" indent="-1166495">
              <a:lnSpc>
                <a:spcPct val="100000"/>
              </a:lnSpc>
              <a:spcBef>
                <a:spcPts val="95"/>
              </a:spcBef>
            </a:pPr>
            <a:r>
              <a:rPr dirty="0"/>
              <a:t>It</a:t>
            </a:r>
            <a:r>
              <a:rPr spc="-7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possible</a:t>
            </a:r>
            <a:r>
              <a:rPr spc="-1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build</a:t>
            </a:r>
            <a:r>
              <a:rPr spc="-1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10" dirty="0"/>
              <a:t>perfect </a:t>
            </a:r>
            <a:r>
              <a:rPr dirty="0"/>
              <a:t>virus/malware</a:t>
            </a:r>
            <a:r>
              <a:rPr spc="-220" dirty="0"/>
              <a:t> </a:t>
            </a:r>
            <a:r>
              <a:rPr spc="-10" dirty="0"/>
              <a:t>detector</a:t>
            </a:r>
          </a:p>
          <a:p>
            <a:pPr marL="3427729">
              <a:lnSpc>
                <a:spcPct val="100000"/>
              </a:lnSpc>
              <a:spcBef>
                <a:spcPts val="675"/>
              </a:spcBef>
            </a:pPr>
            <a:r>
              <a:rPr spc="-10" dirty="0"/>
              <a:t>(Cohen)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1340" y="1307782"/>
            <a:ext cx="7868920" cy="4242435"/>
          </a:xfrm>
          <a:prstGeom prst="rect">
            <a:avLst/>
          </a:prstGeom>
        </p:spPr>
        <p:txBody>
          <a:bodyPr vert="horz" wrap="square" lIns="0" tIns="200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2800" dirty="0">
                <a:latin typeface="Arial Black"/>
                <a:cs typeface="Arial Black"/>
              </a:rPr>
              <a:t>Lifecycle</a:t>
            </a:r>
            <a:r>
              <a:rPr sz="2800" spc="-30" dirty="0">
                <a:latin typeface="Arial Black"/>
                <a:cs typeface="Arial Black"/>
              </a:rPr>
              <a:t> </a:t>
            </a:r>
            <a:r>
              <a:rPr sz="2800" dirty="0">
                <a:latin typeface="Arial Black"/>
                <a:cs typeface="Arial Black"/>
              </a:rPr>
              <a:t>of</a:t>
            </a:r>
            <a:r>
              <a:rPr sz="2800" spc="-35" dirty="0">
                <a:latin typeface="Arial Black"/>
                <a:cs typeface="Arial Black"/>
              </a:rPr>
              <a:t> </a:t>
            </a:r>
            <a:r>
              <a:rPr sz="2800" spc="-10" dirty="0">
                <a:latin typeface="Arial Black"/>
                <a:cs typeface="Arial Black"/>
              </a:rPr>
              <a:t>virus</a:t>
            </a:r>
            <a:endParaRPr sz="2800" dirty="0">
              <a:latin typeface="Arial Black"/>
              <a:cs typeface="Arial Black"/>
            </a:endParaRPr>
          </a:p>
          <a:p>
            <a:pPr marL="405765" indent="-342900">
              <a:lnSpc>
                <a:spcPct val="100000"/>
              </a:lnSpc>
              <a:spcBef>
                <a:spcPts val="14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A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virus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gets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created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released</a:t>
            </a:r>
            <a:endParaRPr sz="2800" dirty="0">
              <a:latin typeface="Verdana"/>
              <a:cs typeface="Verdana"/>
            </a:endParaRPr>
          </a:p>
          <a:p>
            <a:pPr marL="405765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The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virus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infects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several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machines</a:t>
            </a:r>
            <a:endParaRPr sz="2800" dirty="0">
              <a:latin typeface="Verdana"/>
              <a:cs typeface="Verdana"/>
            </a:endParaRPr>
          </a:p>
          <a:p>
            <a:pPr marL="405130" indent="-342265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130" algn="l"/>
              </a:tabLst>
            </a:pPr>
            <a:r>
              <a:rPr sz="2800" dirty="0">
                <a:latin typeface="Verdana"/>
                <a:cs typeface="Verdana"/>
              </a:rPr>
              <a:t>Samples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sent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anti-</a:t>
            </a:r>
            <a:r>
              <a:rPr sz="2800" dirty="0">
                <a:latin typeface="Verdana"/>
                <a:cs typeface="Verdana"/>
              </a:rPr>
              <a:t>virus</a:t>
            </a:r>
            <a:r>
              <a:rPr sz="2800" spc="-10" dirty="0">
                <a:latin typeface="Verdana"/>
                <a:cs typeface="Verdana"/>
              </a:rPr>
              <a:t> companies</a:t>
            </a:r>
            <a:endParaRPr sz="2800" dirty="0">
              <a:latin typeface="Verdana"/>
              <a:cs typeface="Verdana"/>
            </a:endParaRPr>
          </a:p>
          <a:p>
            <a:pPr marL="40576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Records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signature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virus</a:t>
            </a:r>
            <a:endParaRPr sz="2800" dirty="0">
              <a:latin typeface="Verdana"/>
              <a:cs typeface="Verdana"/>
            </a:endParaRPr>
          </a:p>
          <a:p>
            <a:pPr marL="405765" marR="37465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The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companies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include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new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signature </a:t>
            </a:r>
            <a:r>
              <a:rPr sz="2800" dirty="0">
                <a:latin typeface="Verdana"/>
                <a:cs typeface="Verdana"/>
              </a:rPr>
              <a:t>in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their</a:t>
            </a:r>
            <a:r>
              <a:rPr sz="2800" spc="-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database</a:t>
            </a:r>
            <a:endParaRPr sz="2800" dirty="0">
              <a:latin typeface="Verdana"/>
              <a:cs typeface="Verdana"/>
            </a:endParaRPr>
          </a:p>
          <a:p>
            <a:pPr marL="40576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405765" algn="l"/>
              </a:tabLst>
            </a:pPr>
            <a:r>
              <a:rPr sz="2800" dirty="0">
                <a:latin typeface="Verdana"/>
                <a:cs typeface="Verdana"/>
              </a:rPr>
              <a:t>Their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scanner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now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can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detect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virus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12617"/>
            <a:ext cx="7969250" cy="50253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Char char="•"/>
              <a:tabLst>
                <a:tab pos="469900" algn="l"/>
              </a:tabLst>
            </a:pPr>
            <a:r>
              <a:rPr sz="2800" dirty="0">
                <a:latin typeface="Verdana"/>
                <a:cs typeface="Verdana"/>
              </a:rPr>
              <a:t>Analyze</a:t>
            </a:r>
            <a:r>
              <a:rPr sz="2800" spc="-10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program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behavior</a:t>
            </a:r>
            <a:endParaRPr sz="2800">
              <a:latin typeface="Verdana"/>
              <a:cs typeface="Verdana"/>
            </a:endParaRPr>
          </a:p>
          <a:p>
            <a:pPr marL="789305" lvl="1" indent="-31940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Char char="—"/>
              <a:tabLst>
                <a:tab pos="789305" algn="l"/>
              </a:tabLst>
            </a:pPr>
            <a:r>
              <a:rPr sz="2400" dirty="0">
                <a:latin typeface="Verdana"/>
                <a:cs typeface="Verdana"/>
              </a:rPr>
              <a:t>Network</a:t>
            </a:r>
            <a:r>
              <a:rPr sz="2400" spc="-1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access</a:t>
            </a:r>
            <a:endParaRPr sz="2400">
              <a:latin typeface="Verdana"/>
              <a:cs typeface="Verdana"/>
            </a:endParaRPr>
          </a:p>
          <a:p>
            <a:pPr marL="789305" lvl="1" indent="-31940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—"/>
              <a:tabLst>
                <a:tab pos="789305" algn="l"/>
              </a:tabLst>
            </a:pPr>
            <a:r>
              <a:rPr sz="2400" dirty="0">
                <a:latin typeface="Verdana"/>
                <a:cs typeface="Verdana"/>
              </a:rPr>
              <a:t>File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open</a:t>
            </a:r>
            <a:endParaRPr sz="2400">
              <a:latin typeface="Verdana"/>
              <a:cs typeface="Verdana"/>
            </a:endParaRPr>
          </a:p>
          <a:p>
            <a:pPr marL="789305" lvl="1" indent="-319405">
              <a:lnSpc>
                <a:spcPct val="100000"/>
              </a:lnSpc>
              <a:spcBef>
                <a:spcPts val="580"/>
              </a:spcBef>
              <a:buClr>
                <a:srgbClr val="FF0000"/>
              </a:buClr>
              <a:buChar char="—"/>
              <a:tabLst>
                <a:tab pos="789305" algn="l"/>
              </a:tabLst>
            </a:pPr>
            <a:r>
              <a:rPr sz="2400" dirty="0">
                <a:latin typeface="Verdana"/>
                <a:cs typeface="Verdana"/>
              </a:rPr>
              <a:t>Attempt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delete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file</a:t>
            </a:r>
            <a:endParaRPr sz="2400">
              <a:latin typeface="Verdana"/>
              <a:cs typeface="Verdana"/>
            </a:endParaRPr>
          </a:p>
          <a:p>
            <a:pPr marL="789305" lvl="1" indent="-319405">
              <a:lnSpc>
                <a:spcPct val="100000"/>
              </a:lnSpc>
              <a:spcBef>
                <a:spcPts val="575"/>
              </a:spcBef>
              <a:buClr>
                <a:srgbClr val="FF0000"/>
              </a:buClr>
              <a:buChar char="—"/>
              <a:tabLst>
                <a:tab pos="789305" algn="l"/>
              </a:tabLst>
            </a:pPr>
            <a:r>
              <a:rPr sz="2400" dirty="0">
                <a:latin typeface="Verdana"/>
                <a:cs typeface="Verdana"/>
              </a:rPr>
              <a:t>Attempt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modify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boot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sector</a:t>
            </a:r>
            <a:endParaRPr sz="24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Detection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malware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done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by </a:t>
            </a:r>
            <a:r>
              <a:rPr sz="2800" dirty="0">
                <a:latin typeface="Verdana"/>
                <a:cs typeface="Verdana"/>
              </a:rPr>
              <a:t>monitoring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files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how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certain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programs </a:t>
            </a:r>
            <a:r>
              <a:rPr sz="2800" dirty="0">
                <a:latin typeface="Verdana"/>
                <a:cs typeface="Verdana"/>
              </a:rPr>
              <a:t>try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to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reform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files</a:t>
            </a:r>
            <a:r>
              <a:rPr sz="2800" spc="-2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system.</a:t>
            </a:r>
            <a:endParaRPr sz="2800">
              <a:latin typeface="Verdana"/>
              <a:cs typeface="Verdana"/>
            </a:endParaRPr>
          </a:p>
          <a:p>
            <a:pPr marL="355600" marR="1106805" indent="-342900" algn="just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When</a:t>
            </a:r>
            <a:r>
              <a:rPr sz="2800" spc="-10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modification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takes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place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dirty="0">
                <a:latin typeface="Verdana"/>
                <a:cs typeface="Verdana"/>
              </a:rPr>
              <a:t>antivirus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alerts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user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and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tries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to </a:t>
            </a:r>
            <a:r>
              <a:rPr sz="2800" dirty="0">
                <a:latin typeface="Verdana"/>
                <a:cs typeface="Verdana"/>
              </a:rPr>
              <a:t>elevate</a:t>
            </a:r>
            <a:r>
              <a:rPr sz="2800" spc="-9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problem.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Heuristics</a:t>
            </a:r>
            <a:r>
              <a:rPr spc="-114" dirty="0"/>
              <a:t> </a:t>
            </a:r>
            <a:r>
              <a:rPr dirty="0"/>
              <a:t>antivirus</a:t>
            </a:r>
            <a:r>
              <a:rPr spc="-110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12596"/>
            <a:ext cx="7841615" cy="336677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7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New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form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antivirus</a:t>
            </a:r>
            <a:r>
              <a:rPr sz="2800" spc="-3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program</a:t>
            </a:r>
            <a:endParaRPr sz="2800">
              <a:latin typeface="Verdana"/>
              <a:cs typeface="Verdana"/>
            </a:endParaRPr>
          </a:p>
          <a:p>
            <a:pPr marL="355600" marR="5080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The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virus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scanning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done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from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remote </a:t>
            </a:r>
            <a:r>
              <a:rPr sz="2800" dirty="0">
                <a:latin typeface="Verdana"/>
                <a:cs typeface="Verdana"/>
              </a:rPr>
              <a:t>location(not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on</a:t>
            </a:r>
            <a:r>
              <a:rPr sz="2800" spc="-7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8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computer).</a:t>
            </a:r>
            <a:endParaRPr sz="2800">
              <a:latin typeface="Verdana"/>
              <a:cs typeface="Verdana"/>
            </a:endParaRPr>
          </a:p>
          <a:p>
            <a:pPr marL="355600" marR="45085" indent="-342900">
              <a:lnSpc>
                <a:spcPct val="100000"/>
              </a:lnSpc>
              <a:spcBef>
                <a:spcPts val="67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Why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this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6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so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popular</a:t>
            </a:r>
            <a:r>
              <a:rPr sz="2800" spc="-2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is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because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it </a:t>
            </a:r>
            <a:r>
              <a:rPr sz="2800" dirty="0">
                <a:latin typeface="Verdana"/>
                <a:cs typeface="Verdana"/>
              </a:rPr>
              <a:t>relieves</a:t>
            </a:r>
            <a:r>
              <a:rPr sz="2800" spc="-11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1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physical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computer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resources.</a:t>
            </a:r>
            <a:endParaRPr sz="2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Constant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functionality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(Nonstop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scanning)</a:t>
            </a:r>
            <a:endParaRPr sz="240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Security</a:t>
            </a:r>
            <a:r>
              <a:rPr sz="2800" spc="-13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Issues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Cloud</a:t>
            </a:r>
            <a:r>
              <a:rPr spc="-20" dirty="0"/>
              <a:t> </a:t>
            </a:r>
            <a:r>
              <a:rPr spc="-10" dirty="0"/>
              <a:t>Antivirus</a:t>
            </a:r>
          </a:p>
        </p:txBody>
      </p:sp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098549"/>
            <a:ext cx="7605395" cy="1318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Char char="•"/>
              <a:tabLst>
                <a:tab pos="355600" algn="l"/>
              </a:tabLst>
            </a:pPr>
            <a:r>
              <a:rPr sz="2800" dirty="0">
                <a:latin typeface="Verdana"/>
                <a:cs typeface="Verdana"/>
              </a:rPr>
              <a:t>Become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aware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of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what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you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are</a:t>
            </a:r>
            <a:r>
              <a:rPr sz="2800" spc="-7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doing</a:t>
            </a:r>
            <a:r>
              <a:rPr sz="2800" spc="-25" dirty="0">
                <a:latin typeface="Verdana"/>
                <a:cs typeface="Verdana"/>
              </a:rPr>
              <a:t> on </a:t>
            </a:r>
            <a:r>
              <a:rPr sz="2800" dirty="0">
                <a:latin typeface="Verdana"/>
                <a:cs typeface="Verdana"/>
              </a:rPr>
              <a:t>the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internet!</a:t>
            </a:r>
            <a:endParaRPr sz="28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Don’t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click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pop</a:t>
            </a:r>
            <a:r>
              <a:rPr sz="2400" spc="-3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ads!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5098160"/>
            <a:ext cx="72320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Verdana"/>
                <a:cs typeface="Verdana"/>
              </a:rPr>
              <a:t>—</a:t>
            </a:r>
            <a:r>
              <a:rPr sz="2400" dirty="0">
                <a:latin typeface="Verdana"/>
                <a:cs typeface="Verdana"/>
              </a:rPr>
              <a:t>Keep</a:t>
            </a:r>
            <a:r>
              <a:rPr sz="2400" spc="-6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up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to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date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current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issues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happening </a:t>
            </a:r>
            <a:r>
              <a:rPr sz="2400" dirty="0">
                <a:latin typeface="Verdana"/>
                <a:cs typeface="Verdana"/>
              </a:rPr>
              <a:t>on</a:t>
            </a:r>
            <a:r>
              <a:rPr sz="2400" spc="-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the</a:t>
            </a:r>
            <a:r>
              <a:rPr sz="2400" spc="-2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web!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Become</a:t>
            </a:r>
            <a:r>
              <a:rPr spc="-30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dirty="0"/>
              <a:t>Informed</a:t>
            </a:r>
            <a:r>
              <a:rPr spc="-15" dirty="0"/>
              <a:t> </a:t>
            </a:r>
            <a:r>
              <a:rPr spc="-10" dirty="0"/>
              <a:t>User!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2971800"/>
            <a:ext cx="1628775" cy="18288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Shared</a:t>
            </a:r>
            <a:r>
              <a:rPr spc="-75" dirty="0"/>
              <a:t> </a:t>
            </a:r>
            <a:r>
              <a:rPr spc="-10" dirty="0"/>
              <a:t>folder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1532929"/>
            <a:ext cx="5536398" cy="36968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635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Email</a:t>
            </a:r>
            <a:r>
              <a:rPr spc="-85" dirty="0"/>
              <a:t> </a:t>
            </a:r>
            <a:r>
              <a:rPr spc="-10" dirty="0"/>
              <a:t>propagation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3061" y="1446669"/>
            <a:ext cx="5357876" cy="52148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11760" algn="r">
              <a:lnSpc>
                <a:spcPts val="14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  <a:p>
            <a:pPr marL="12700" marR="5080">
              <a:lnSpc>
                <a:spcPts val="1200"/>
              </a:lnSpc>
            </a:pPr>
            <a:r>
              <a:rPr sz="1000" i="0" dirty="0">
                <a:solidFill>
                  <a:srgbClr val="808080"/>
                </a:solidFill>
                <a:latin typeface="Verdana"/>
                <a:cs typeface="Verdana"/>
              </a:rPr>
              <a:t>from</a:t>
            </a:r>
            <a:r>
              <a:rPr sz="1000" i="0" spc="-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1000" i="0" spc="-10" dirty="0">
                <a:solidFill>
                  <a:srgbClr val="808080"/>
                </a:solidFill>
                <a:latin typeface="Verdana"/>
                <a:cs typeface="Verdana"/>
              </a:rPr>
              <a:t>pandalab </a:t>
            </a:r>
            <a:r>
              <a:rPr sz="1000" i="0" spc="-20" dirty="0">
                <a:solidFill>
                  <a:srgbClr val="808080"/>
                </a:solidFill>
                <a:latin typeface="Verdana"/>
                <a:cs typeface="Verdana"/>
              </a:rPr>
              <a:t>blog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20102" y="6605961"/>
            <a:ext cx="94615" cy="17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0000"/>
                </a:solidFill>
                <a:latin typeface="Verdana"/>
                <a:cs typeface="Verdana"/>
              </a:rPr>
              <a:t>•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Fake</a:t>
            </a:r>
            <a:r>
              <a:rPr spc="-45" dirty="0"/>
              <a:t> </a:t>
            </a:r>
            <a:r>
              <a:rPr spc="-10" dirty="0"/>
              <a:t>antivirus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6328" y="1893125"/>
            <a:ext cx="6250813" cy="446481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11760" algn="r">
              <a:lnSpc>
                <a:spcPts val="14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  <a:p>
            <a:pPr marL="12700" marR="5080">
              <a:lnSpc>
                <a:spcPts val="1200"/>
              </a:lnSpc>
            </a:pPr>
            <a:r>
              <a:rPr sz="1000" i="0" dirty="0">
                <a:solidFill>
                  <a:srgbClr val="808080"/>
                </a:solidFill>
                <a:latin typeface="Verdana"/>
                <a:cs typeface="Verdana"/>
              </a:rPr>
              <a:t>from</a:t>
            </a:r>
            <a:r>
              <a:rPr sz="1000" i="0" spc="-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1000" i="0" spc="-10" dirty="0">
                <a:solidFill>
                  <a:srgbClr val="808080"/>
                </a:solidFill>
                <a:latin typeface="Verdana"/>
                <a:cs typeface="Verdana"/>
              </a:rPr>
              <a:t>pandalab </a:t>
            </a:r>
            <a:r>
              <a:rPr sz="1000" i="0" spc="-20" dirty="0">
                <a:solidFill>
                  <a:srgbClr val="808080"/>
                </a:solidFill>
                <a:latin typeface="Verdana"/>
                <a:cs typeface="Verdana"/>
              </a:rPr>
              <a:t>blog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20102" y="6605961"/>
            <a:ext cx="94615" cy="17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0000"/>
                </a:solidFill>
                <a:latin typeface="Verdana"/>
                <a:cs typeface="Verdana"/>
              </a:rPr>
              <a:t>•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Hijack</a:t>
            </a:r>
            <a:r>
              <a:rPr spc="-65" dirty="0"/>
              <a:t> </a:t>
            </a:r>
            <a:r>
              <a:rPr dirty="0"/>
              <a:t>you</a:t>
            </a:r>
            <a:r>
              <a:rPr spc="-55" dirty="0"/>
              <a:t> </a:t>
            </a:r>
            <a:r>
              <a:rPr spc="-10" dirty="0"/>
              <a:t>browser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4487" y="954087"/>
            <a:ext cx="8302625" cy="1800860"/>
            <a:chOff x="344487" y="954087"/>
            <a:chExt cx="8302625" cy="1800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066800"/>
              <a:ext cx="6250813" cy="168770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81000" y="990600"/>
              <a:ext cx="8229600" cy="1905"/>
            </a:xfrm>
            <a:custGeom>
              <a:avLst/>
              <a:gdLst/>
              <a:ahLst/>
              <a:cxnLst/>
              <a:rect l="l" t="t" r="r" b="b"/>
              <a:pathLst>
                <a:path w="8229600" h="1905">
                  <a:moveTo>
                    <a:pt x="0" y="0"/>
                  </a:moveTo>
                  <a:lnTo>
                    <a:pt x="8229600" y="1650"/>
                  </a:lnTo>
                </a:path>
              </a:pathLst>
            </a:custGeom>
            <a:ln w="73025">
              <a:solidFill>
                <a:srgbClr val="FF6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2971812"/>
            <a:ext cx="6688328" cy="388618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11760" algn="r">
              <a:lnSpc>
                <a:spcPts val="14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  <a:p>
            <a:pPr marL="12700" marR="5080">
              <a:lnSpc>
                <a:spcPts val="1200"/>
              </a:lnSpc>
            </a:pPr>
            <a:r>
              <a:rPr sz="1000" i="0" dirty="0">
                <a:solidFill>
                  <a:srgbClr val="808080"/>
                </a:solidFill>
                <a:latin typeface="Verdana"/>
                <a:cs typeface="Verdana"/>
              </a:rPr>
              <a:t>from</a:t>
            </a:r>
            <a:r>
              <a:rPr sz="1000" i="0" spc="-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1000" i="0" spc="-10" dirty="0">
                <a:solidFill>
                  <a:srgbClr val="808080"/>
                </a:solidFill>
                <a:latin typeface="Verdana"/>
                <a:cs typeface="Verdana"/>
              </a:rPr>
              <a:t>pandalab </a:t>
            </a:r>
            <a:r>
              <a:rPr sz="1000" i="0" spc="-20" dirty="0">
                <a:solidFill>
                  <a:srgbClr val="808080"/>
                </a:solidFill>
                <a:latin typeface="Verdana"/>
                <a:cs typeface="Verdana"/>
              </a:rPr>
              <a:t>blog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20102" y="6605961"/>
            <a:ext cx="94615" cy="17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0000"/>
                </a:solidFill>
                <a:latin typeface="Verdana"/>
                <a:cs typeface="Verdana"/>
              </a:rPr>
              <a:t>•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Fake</a:t>
            </a:r>
            <a:r>
              <a:rPr spc="-45" dirty="0"/>
              <a:t> </a:t>
            </a:r>
            <a:r>
              <a:rPr dirty="0"/>
              <a:t>page</a:t>
            </a:r>
            <a:r>
              <a:rPr spc="-15" dirty="0"/>
              <a:t> </a:t>
            </a:r>
            <a:r>
              <a:rPr spc="-50" dirty="0"/>
              <a:t>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7375" y="1705622"/>
            <a:ext cx="6250812" cy="469696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81000" y="990600"/>
            <a:ext cx="8229600" cy="1905"/>
          </a:xfrm>
          <a:custGeom>
            <a:avLst/>
            <a:gdLst/>
            <a:ahLst/>
            <a:cxnLst/>
            <a:rect l="l" t="t" r="r" b="b"/>
            <a:pathLst>
              <a:path w="8229600" h="1905">
                <a:moveTo>
                  <a:pt x="0" y="0"/>
                </a:moveTo>
                <a:lnTo>
                  <a:pt x="8229600" y="1650"/>
                </a:lnTo>
              </a:path>
            </a:pathLst>
          </a:custGeom>
          <a:ln w="73025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11760" algn="r">
              <a:lnSpc>
                <a:spcPts val="1400"/>
              </a:lnSpc>
              <a:spcBef>
                <a:spcPts val="105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  <a:p>
            <a:pPr marL="12700" marR="5080">
              <a:lnSpc>
                <a:spcPts val="1200"/>
              </a:lnSpc>
            </a:pPr>
            <a:r>
              <a:rPr sz="1000" i="0" dirty="0">
                <a:solidFill>
                  <a:srgbClr val="808080"/>
                </a:solidFill>
                <a:latin typeface="Verdana"/>
                <a:cs typeface="Verdana"/>
              </a:rPr>
              <a:t>from</a:t>
            </a:r>
            <a:r>
              <a:rPr sz="1000" i="0" spc="-3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1000" i="0" spc="-10" dirty="0">
                <a:solidFill>
                  <a:srgbClr val="808080"/>
                </a:solidFill>
                <a:latin typeface="Verdana"/>
                <a:cs typeface="Verdana"/>
              </a:rPr>
              <a:t>pandalab </a:t>
            </a:r>
            <a:r>
              <a:rPr sz="1000" i="0" spc="-20" dirty="0">
                <a:solidFill>
                  <a:srgbClr val="808080"/>
                </a:solidFill>
                <a:latin typeface="Verdana"/>
                <a:cs typeface="Verdana"/>
              </a:rPr>
              <a:t>blog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20102" y="6605961"/>
            <a:ext cx="94615" cy="179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solidFill>
                  <a:srgbClr val="FF0000"/>
                </a:solidFill>
                <a:latin typeface="Verdana"/>
                <a:cs typeface="Verdana"/>
              </a:rPr>
              <a:t>•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807" y="2164461"/>
            <a:ext cx="28524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Verdana"/>
                <a:cs typeface="Verdana"/>
              </a:rPr>
              <a:t>Questions</a:t>
            </a:r>
            <a:r>
              <a:rPr sz="3200" spc="-30" dirty="0">
                <a:latin typeface="Verdana"/>
                <a:cs typeface="Verdana"/>
              </a:rPr>
              <a:t> </a:t>
            </a:r>
            <a:r>
              <a:rPr sz="3200" spc="-25" dirty="0">
                <a:latin typeface="Verdana"/>
                <a:cs typeface="Verdana"/>
              </a:rPr>
              <a:t>???</a:t>
            </a:r>
            <a:endParaRPr sz="32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590800" y="2819400"/>
            <a:ext cx="3505200" cy="76200"/>
          </a:xfrm>
          <a:custGeom>
            <a:avLst/>
            <a:gdLst/>
            <a:ahLst/>
            <a:cxnLst/>
            <a:rect l="l" t="t" r="r" b="b"/>
            <a:pathLst>
              <a:path w="3505200" h="76200">
                <a:moveTo>
                  <a:pt x="3505200" y="0"/>
                </a:moveTo>
                <a:lnTo>
                  <a:pt x="0" y="0"/>
                </a:lnTo>
                <a:lnTo>
                  <a:pt x="0" y="76200"/>
                </a:lnTo>
                <a:lnTo>
                  <a:pt x="3505200" y="76200"/>
                </a:lnTo>
                <a:lnTo>
                  <a:pt x="3505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966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1684</Words>
  <Application>Microsoft Office PowerPoint</Application>
  <PresentationFormat>On-screen Show (4:3)</PresentationFormat>
  <Paragraphs>223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 Black</vt:lpstr>
      <vt:lpstr>Times New Roman</vt:lpstr>
      <vt:lpstr>Verdana</vt:lpstr>
      <vt:lpstr>Office Theme</vt:lpstr>
      <vt:lpstr>Information Security Malware and its forms</vt:lpstr>
      <vt:lpstr>PowerPoint Presentation</vt:lpstr>
      <vt:lpstr>PowerPoint Presentation</vt:lpstr>
      <vt:lpstr>PowerPoint Presentation</vt:lpstr>
      <vt:lpstr>PowerPoint Presentation</vt:lpstr>
      <vt:lpstr>Viruses</vt:lpstr>
      <vt:lpstr>Viruses</vt:lpstr>
      <vt:lpstr>Viruses</vt:lpstr>
      <vt:lpstr>Worms</vt:lpstr>
      <vt:lpstr>Worms</vt:lpstr>
      <vt:lpstr>PowerPoint Presentation</vt:lpstr>
      <vt:lpstr>PowerPoint Presentation</vt:lpstr>
      <vt:lpstr>Trojans</vt:lpstr>
      <vt:lpstr>PowerPoint Presentation</vt:lpstr>
      <vt:lpstr>Adware</vt:lpstr>
      <vt:lpstr>PowerPoint Presentation</vt:lpstr>
      <vt:lpstr>Malicious Scripts</vt:lpstr>
      <vt:lpstr>Backdoors &amp; Rootkits</vt:lpstr>
      <vt:lpstr>Logical Bombs</vt:lpstr>
      <vt:lpstr>Ransomware</vt:lpstr>
      <vt:lpstr>Ransomware</vt:lpstr>
      <vt:lpstr>Scare-ware</vt:lpstr>
      <vt:lpstr>Keyloggers</vt:lpstr>
      <vt:lpstr>Blended Threats</vt:lpstr>
      <vt:lpstr>How can we protect ourselves</vt:lpstr>
      <vt:lpstr>Antivirus Programs</vt:lpstr>
      <vt:lpstr>PowerPoint Presentation</vt:lpstr>
      <vt:lpstr>Impossibility</vt:lpstr>
      <vt:lpstr>PowerPoint Presentation</vt:lpstr>
      <vt:lpstr>Heuristics antivirus approach</vt:lpstr>
      <vt:lpstr>Cloud Antivirus</vt:lpstr>
      <vt:lpstr>Become An Informed User!</vt:lpstr>
      <vt:lpstr>Shared folder</vt:lpstr>
      <vt:lpstr>Email propagation</vt:lpstr>
      <vt:lpstr>Fake antivirus</vt:lpstr>
      <vt:lpstr>Hijack you browser</vt:lpstr>
      <vt:lpstr>Fake page !</vt:lpstr>
      <vt:lpstr>Questions 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basics</dc:title>
  <dc:creator>M.Yousaf</dc:creator>
  <cp:lastModifiedBy>Sumera Saleem</cp:lastModifiedBy>
  <cp:revision>4</cp:revision>
  <dcterms:created xsi:type="dcterms:W3CDTF">2024-09-24T07:56:04Z</dcterms:created>
  <dcterms:modified xsi:type="dcterms:W3CDTF">2025-02-27T09:58:51Z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2021-11-01T00:00:00Z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2024-09-24T00:00:00Z</vt:filetime>
  </property>
  <property fmtid="{D5CDD505-2E9C-101B-9397-08002B2CF9AE}" pid="5" name="Producer">
    <vt:lpwstr>Microsoft® Office PowerPoint® 2007</vt:lpwstr>
  </property>
</Properties>
</file>