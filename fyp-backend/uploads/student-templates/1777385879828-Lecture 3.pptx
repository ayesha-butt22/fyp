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308" r:id="rId3"/>
    <p:sldId id="266" r:id="rId4"/>
    <p:sldId id="267" r:id="rId5"/>
    <p:sldId id="323" r:id="rId6"/>
    <p:sldId id="325" r:id="rId7"/>
    <p:sldId id="326" r:id="rId8"/>
    <p:sldId id="327" r:id="rId9"/>
    <p:sldId id="328" r:id="rId10"/>
    <p:sldId id="329" r:id="rId11"/>
    <p:sldId id="268" r:id="rId12"/>
    <p:sldId id="332" r:id="rId13"/>
    <p:sldId id="333" r:id="rId14"/>
    <p:sldId id="334" r:id="rId15"/>
    <p:sldId id="335" r:id="rId16"/>
    <p:sldId id="336" r:id="rId17"/>
    <p:sldId id="337" r:id="rId18"/>
    <p:sldId id="338" r:id="rId19"/>
    <p:sldId id="339" r:id="rId20"/>
    <p:sldId id="340" r:id="rId21"/>
    <p:sldId id="341" r:id="rId22"/>
    <p:sldId id="343" r:id="rId23"/>
    <p:sldId id="342" r:id="rId24"/>
    <p:sldId id="347" r:id="rId25"/>
    <p:sldId id="272" r:id="rId26"/>
    <p:sldId id="344" r:id="rId27"/>
    <p:sldId id="345" r:id="rId28"/>
    <p:sldId id="348" r:id="rId29"/>
    <p:sldId id="349" r:id="rId30"/>
    <p:sldId id="350" r:id="rId31"/>
    <p:sldId id="351" r:id="rId32"/>
    <p:sldId id="352" r:id="rId33"/>
    <p:sldId id="273" r:id="rId34"/>
    <p:sldId id="274" r:id="rId35"/>
    <p:sldId id="275" r:id="rId36"/>
    <p:sldId id="276" r:id="rId37"/>
    <p:sldId id="277" r:id="rId38"/>
    <p:sldId id="278" r:id="rId39"/>
    <p:sldId id="279" r:id="rId40"/>
    <p:sldId id="284" r:id="rId41"/>
    <p:sldId id="287" r:id="rId42"/>
    <p:sldId id="288" r:id="rId43"/>
    <p:sldId id="289" r:id="rId44"/>
    <p:sldId id="290" r:id="rId45"/>
    <p:sldId id="291" r:id="rId46"/>
    <p:sldId id="292" r:id="rId47"/>
    <p:sldId id="293" r:id="rId48"/>
    <p:sldId id="294" r:id="rId49"/>
    <p:sldId id="296" r:id="rId50"/>
    <p:sldId id="298" r:id="rId51"/>
    <p:sldId id="300" r:id="rId52"/>
    <p:sldId id="301" r:id="rId53"/>
    <p:sldId id="302" r:id="rId54"/>
    <p:sldId id="303" r:id="rId55"/>
    <p:sldId id="304" r:id="rId56"/>
    <p:sldId id="307" r:id="rId57"/>
    <p:sldId id="35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5509-B8A8-4F5C-9FBB-091F6944BE72}" type="datetimeFigureOut">
              <a:rPr lang="en-US" smtClean="0"/>
              <a:t>9/25/2025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3563F1-0DC8-4FFB-BEFE-5D83C8712895}" type="slidenum">
              <a:rPr lang="en-US" smtClean="0"/>
              <a:t>‹#›</a:t>
            </a:fld>
            <a:endParaRPr lang="en-US"/>
          </a:p>
        </p:txBody>
      </p:sp>
    </p:spTree>
    <p:extLst>
      <p:ext uri="{BB962C8B-B14F-4D97-AF65-F5344CB8AC3E}">
        <p14:creationId xmlns:p14="http://schemas.microsoft.com/office/powerpoint/2010/main" val="1770849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csrc.nist.gov/publications/detail/sp/800-53/rev-5/final"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nist.gov/publications" TargetMode="External"/><Relationship Id="rId2" Type="http://schemas.openxmlformats.org/officeDocument/2006/relationships/slide" Target="../slides/slide53.xml"/><Relationship Id="rId1" Type="http://schemas.openxmlformats.org/officeDocument/2006/relationships/notesMaster" Target="../notesMasters/notesMaster1.xml"/><Relationship Id="rId5" Type="http://schemas.openxmlformats.org/officeDocument/2006/relationships/hyperlink" Target="http://wwi.csoonline.com/" TargetMode="External"/><Relationship Id="rId4" Type="http://schemas.openxmlformats.org/officeDocument/2006/relationships/hyperlink" Target="http://iso.org/standard/56610"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562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902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just" rtl="0">
              <a:lnSpc>
                <a:spcPct val="66666"/>
              </a:lnSpc>
              <a:spcBef>
                <a:spcPts val="0"/>
              </a:spcBef>
              <a:spcAft>
                <a:spcPts val="0"/>
              </a:spcAft>
              <a:buNone/>
            </a:pPr>
            <a:r>
              <a:rPr lang="en-US" sz="1800" b="1" dirty="0">
                <a:latin typeface="Georgia"/>
                <a:ea typeface="Georgia"/>
                <a:cs typeface="Georgia"/>
                <a:sym typeface="Georgia"/>
              </a:rPr>
              <a:t>Cost vs. Benefit of Security Controls</a:t>
            </a:r>
            <a:endParaRPr sz="1800" dirty="0">
              <a:latin typeface="Georgia"/>
              <a:ea typeface="Georgia"/>
              <a:cs typeface="Georgia"/>
              <a:sym typeface="Georgia"/>
            </a:endParaRPr>
          </a:p>
          <a:p>
            <a:pPr marL="0" marR="0" lvl="0" indent="0" algn="just" rtl="0">
              <a:lnSpc>
                <a:spcPct val="66666"/>
              </a:lnSpc>
              <a:spcBef>
                <a:spcPts val="0"/>
              </a:spcBef>
              <a:spcAft>
                <a:spcPts val="0"/>
              </a:spcAft>
              <a:buNone/>
            </a:pPr>
            <a:r>
              <a:rPr lang="en-US" sz="1800" dirty="0">
                <a:latin typeface="Georgia"/>
                <a:ea typeface="Georgia"/>
                <a:cs typeface="Georgia"/>
                <a:sym typeface="Georgia"/>
              </a:rPr>
              <a:t>Often additional calculations are involved in risk response when a qualitative risk assessment is performed. These relate to the mathematical evaluation of the cost/benefit of a safeguard. For each identified risk in criticality priority order, safeguards are considered in regard to their potential loss reduction and benefit potential. For each asset-threat pairing (i.e., identified risk), an inventory of potential and available safeguards must be made. This may include investigating the marketplace, consulting with experts, and reviewing security frameworks, regulations, and guidelines. Once a list of safeguards is obtained or produced for each risk, those safeguards should be evaluated as to their benefit and their cost relative to the asset-threat pair. This is the cost/benefit evaluation of safeguards.</a:t>
            </a:r>
            <a:endParaRPr dirty="0"/>
          </a:p>
          <a:p>
            <a:pPr marL="0" marR="0" lvl="0" indent="0" algn="just" rtl="0">
              <a:lnSpc>
                <a:spcPct val="66666"/>
              </a:lnSpc>
              <a:spcBef>
                <a:spcPts val="0"/>
              </a:spcBef>
              <a:spcAft>
                <a:spcPts val="0"/>
              </a:spcAft>
              <a:buNone/>
            </a:pPr>
            <a:r>
              <a:rPr lang="en-US" sz="1800" dirty="0">
                <a:latin typeface="Georgia"/>
                <a:ea typeface="Georgia"/>
                <a:cs typeface="Georgia"/>
                <a:sym typeface="Georgia"/>
              </a:rPr>
              <a:t>Safeguards, security controls, and countermeasures will primarily reduce risk through a reduction in the potential rate of compromise (i.e., ARO). However, some safeguards will also reduce the amount or severity of damage (i.e., EF). For those safeguards that only reduce the ARO, the amount of loss of a single realized event (i.e., SLE) is the same with or without the safeguard. But, for those safeguards that also reduce the EF, any single realized event will cause less damage than if the safeguard was not present. Either way, a reduction of the ARO and potentially a reduction of the EF will result in a smaller ALE with the safeguard than without. Thus, this potential ALE with the safeguard should be calculated (ALE </a:t>
            </a:r>
            <a:r>
              <a:rPr lang="en-US" sz="1800" i="0" dirty="0">
                <a:latin typeface="Cambria Math"/>
                <a:ea typeface="Cambria Math"/>
                <a:cs typeface="Cambria Math"/>
                <a:sym typeface="Cambria Math"/>
              </a:rPr>
              <a:t>=AV^∗ EF^∗ ARO</a:t>
            </a:r>
            <a:r>
              <a:rPr lang="en-US" sz="1800" dirty="0">
                <a:latin typeface="Georgia"/>
                <a:ea typeface="Georgia"/>
                <a:cs typeface="Georgia"/>
                <a:sym typeface="Georgia"/>
              </a:rPr>
              <a:t> ). We can then consider the original asset-threat pair risk ALE as ALE1 (or ALE pre-safeguard) and the safeguard-specific ALE as ALE2 (or ALE post-safeguard). An ALE2 should be calculated for each potential safeguard for each asset-threat pair. The best of all possible safeguards would reduce the ARO to 0 , although this is extremely unlikely. </a:t>
            </a:r>
            <a:endParaRPr dirty="0"/>
          </a:p>
          <a:p>
            <a:pPr marL="0" marR="0" lvl="0" indent="0" algn="just" rtl="0">
              <a:lnSpc>
                <a:spcPct val="66666"/>
              </a:lnSpc>
              <a:spcBef>
                <a:spcPts val="0"/>
              </a:spcBef>
              <a:spcAft>
                <a:spcPts val="0"/>
              </a:spcAft>
              <a:buNone/>
            </a:pPr>
            <a:r>
              <a:rPr lang="en-US" sz="1800" dirty="0">
                <a:latin typeface="Georgia"/>
                <a:ea typeface="Georgia"/>
                <a:cs typeface="Georgia"/>
                <a:sym typeface="Georgia"/>
              </a:rPr>
              <a:t>Any safeguard that is selected to be deployed will cost the organization something. It might not be purchase cost; it could be costs in terms of productivity loss, retraining, changes in business processes, or other opportunity costs. An estimation of the yearly costs for the safeguard to be present in the organization is needed. This estimation can be called the annual cost of the safeguard (ACS). Several common factors affect ACS:</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Cost of purchase, development, and licensing</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Cost of implementation and customization</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Cost of annual operation, maintenance, administration, and so on</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Cost of annual repairs and upgrades</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Productivity improvement or loss</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Changes to environment</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Cost of testing and evaluation</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The value of the asset to be protected determines the maximum expenditures for protection mechanisms. Security should be cost-effective, and thus it is not prudent to spend more (in terms of cash or resources) protecting an asset than its value to the organization. If the cost of the countermeasure is greater than the value of the asset (i.e., the cost of the risk), that safeguard should not be considered a reasonable option. Also, if the ACS is greater than the ALE1 (i.e., the potential annual loss of an asset due to a threat), then the safeguard is not a cost-effective solution. If no safeguard options are cost-effective, then accepting the risk may be the only remaining option.</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Once you know the potential annual cost of a safeguard, you can then evaluate the benefit of that safeguard if applied to an infrastructure. The final computation in this process is the cost/benefit calculation, or cost/benefit analysis. This calculation is used to determine whether a safeguard actually improves security without costing too much. To determine whether the safeguard is financially equitable, use the following formula:</a:t>
            </a:r>
            <a:br>
              <a:rPr lang="en-US" sz="1800" dirty="0">
                <a:latin typeface="Georgia"/>
                <a:ea typeface="Georgia"/>
                <a:cs typeface="Georgia"/>
                <a:sym typeface="Georgia"/>
              </a:rPr>
            </a:br>
            <a:endParaRPr sz="1800" dirty="0">
              <a:latin typeface="Georgia"/>
              <a:ea typeface="Georgia"/>
              <a:cs typeface="Georgia"/>
              <a:sym typeface="Georgia"/>
            </a:endParaRPr>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[ALE pre-safeguard - ALE post-safeguard] - annual cost of safeguard </a:t>
            </a:r>
            <a:r>
              <a:rPr lang="en-US" sz="1800" i="0" dirty="0">
                <a:latin typeface="Cambria Math"/>
                <a:ea typeface="Cambria Math"/>
                <a:cs typeface="Cambria Math"/>
                <a:sym typeface="Cambria Math"/>
              </a:rPr>
              <a:t>(𝐴𝐶𝑆)=</a:t>
            </a:r>
            <a:r>
              <a:rPr lang="en-US" sz="1800" dirty="0">
                <a:latin typeface="Georgia"/>
                <a:ea typeface="Georgia"/>
                <a:cs typeface="Georgia"/>
                <a:sym typeface="Georgia"/>
              </a:rPr>
              <a:t> value of the safeguard to the company</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If the result is negative, the safeguard is not a financially responsible choice. If the result is positive, then that value is the annual savings your organization may reap by deploying the safeguard because the rate of occurrence is not a guarantee of occurrence. If multiple safeguards seem to have a positive cost/benefit result, then the safeguard with the largest benefit is the most cost-effective option.</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The annual savings or loss from a safeguard should not be the only consideration when evaluating safeguards. You should also consider the issues of legal responsibility and prudent due care/due diligence. In some cases, it makes more sense to lose money in the deployment of a safeguard than to risk legal liability in the event of an asset disclosure or loss.</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In review, to perform the cost/benefit analysis of a safeguard, you must calculate the following three elements:</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pre-safeguard ALE for an asset-threat pairing</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potential post-safeguard ALE for an asset-threat pairing</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ACS (annual cost of the safeguard)</a:t>
            </a:r>
            <a:endParaRPr dirty="0"/>
          </a:p>
          <a:p>
            <a:pPr marL="0" marR="0" lvl="0" indent="0" algn="just" rtl="0">
              <a:lnSpc>
                <a:spcPct val="66666"/>
              </a:lnSpc>
              <a:spcBef>
                <a:spcPts val="0"/>
              </a:spcBef>
              <a:spcAft>
                <a:spcPts val="0"/>
              </a:spcAft>
              <a:buNone/>
            </a:pPr>
            <a:r>
              <a:rPr lang="en-US" sz="1800" dirty="0">
                <a:latin typeface="Georgia"/>
                <a:ea typeface="Georgia"/>
                <a:cs typeface="Georgia"/>
                <a:sym typeface="Georgia"/>
              </a:rPr>
              <a:t>With those elements, you can finally obtain a value for the cost/benefit formula for this specific safeguard against a specific risk against a specific asset:</a:t>
            </a:r>
            <a:endParaRPr dirty="0"/>
          </a:p>
          <a:p>
            <a:pPr marL="0" marR="0" lvl="0" indent="0" algn="l" rtl="0">
              <a:lnSpc>
                <a:spcPct val="66666"/>
              </a:lnSpc>
              <a:spcBef>
                <a:spcPts val="0"/>
              </a:spcBef>
              <a:spcAft>
                <a:spcPts val="0"/>
              </a:spcAft>
              <a:buNone/>
            </a:pPr>
            <a:br>
              <a:rPr lang="en-US" sz="1800" dirty="0">
                <a:latin typeface="Georgia"/>
                <a:ea typeface="Georgia"/>
                <a:cs typeface="Georgia"/>
                <a:sym typeface="Georgia"/>
              </a:rPr>
            </a:br>
            <a:r>
              <a:rPr lang="en-US" sz="1800" dirty="0">
                <a:latin typeface="Georgia"/>
                <a:ea typeface="Georgia"/>
                <a:cs typeface="Georgia"/>
                <a:sym typeface="Georgia"/>
              </a:rPr>
              <a:t>(pre-safeguard ALE - post-safeguard ALE) - ACS</a:t>
            </a:r>
            <a:br>
              <a:rPr lang="en-US" sz="1800" dirty="0">
                <a:latin typeface="Georgia"/>
                <a:ea typeface="Georgia"/>
                <a:cs typeface="Georgia"/>
                <a:sym typeface="Georgia"/>
              </a:rPr>
            </a:br>
            <a:endParaRPr sz="1800" dirty="0">
              <a:latin typeface="Georgia"/>
              <a:ea typeface="Georgia"/>
              <a:cs typeface="Georgia"/>
              <a:sym typeface="Georgia"/>
            </a:endParaRPr>
          </a:p>
          <a:p>
            <a:pPr marL="0" marR="0" lvl="0" indent="0" algn="l" rtl="0">
              <a:lnSpc>
                <a:spcPct val="66666"/>
              </a:lnSpc>
              <a:spcBef>
                <a:spcPts val="0"/>
              </a:spcBef>
              <a:spcAft>
                <a:spcPts val="0"/>
              </a:spcAft>
              <a:buNone/>
            </a:pPr>
            <a:r>
              <a:rPr lang="en-US" sz="1800" dirty="0">
                <a:latin typeface="Georgia"/>
                <a:ea typeface="Georgia"/>
                <a:cs typeface="Georgia"/>
                <a:sym typeface="Georgia"/>
              </a:rPr>
              <a:t>or, even more simply:</a:t>
            </a:r>
            <a:br>
              <a:rPr lang="en-US" sz="1800" dirty="0">
                <a:latin typeface="Georgia"/>
                <a:ea typeface="Georgia"/>
                <a:cs typeface="Georgia"/>
                <a:sym typeface="Georgia"/>
              </a:rPr>
            </a:br>
            <a:endParaRPr sz="1800" dirty="0">
              <a:latin typeface="Georgia"/>
              <a:ea typeface="Georgia"/>
              <a:cs typeface="Georgia"/>
              <a:sym typeface="Georgia"/>
            </a:endParaRPr>
          </a:p>
          <a:p>
            <a:pPr marL="0" marR="0" lvl="0" indent="0" algn="l" rtl="0">
              <a:lnSpc>
                <a:spcPct val="66666"/>
              </a:lnSpc>
              <a:spcBef>
                <a:spcPts val="0"/>
              </a:spcBef>
              <a:spcAft>
                <a:spcPts val="0"/>
              </a:spcAft>
              <a:buNone/>
            </a:pPr>
            <a:r>
              <a:rPr lang="en-US" sz="1800" dirty="0">
                <a:latin typeface="Georgia"/>
                <a:ea typeface="Georgia"/>
                <a:cs typeface="Georgia"/>
                <a:sym typeface="Georgia"/>
              </a:rPr>
              <a:t>(ALE1 - ALE2) - ACS</a:t>
            </a:r>
            <a:br>
              <a:rPr lang="en-US" sz="1800" dirty="0">
                <a:latin typeface="Georgia"/>
                <a:ea typeface="Georgia"/>
                <a:cs typeface="Georgia"/>
                <a:sym typeface="Georgia"/>
              </a:rPr>
            </a:br>
            <a:endParaRPr sz="1800" dirty="0">
              <a:latin typeface="Georgia"/>
              <a:ea typeface="Georgia"/>
              <a:cs typeface="Georgia"/>
              <a:sym typeface="Georgia"/>
            </a:endParaRPr>
          </a:p>
          <a:p>
            <a:pPr marL="0" marR="0" lvl="0" indent="457200" algn="just" rtl="0">
              <a:lnSpc>
                <a:spcPct val="66666"/>
              </a:lnSpc>
              <a:spcBef>
                <a:spcPts val="0"/>
              </a:spcBef>
              <a:spcAft>
                <a:spcPts val="0"/>
              </a:spcAft>
              <a:buNone/>
            </a:pPr>
            <a:r>
              <a:rPr lang="en-US" sz="1800" dirty="0">
                <a:latin typeface="Georgia"/>
                <a:ea typeface="Georgia"/>
                <a:cs typeface="Georgia"/>
                <a:sym typeface="Georgia"/>
              </a:rPr>
              <a:t>The countermeasure with the greatest resulting value from this cost/benefit formula makes the most economic sense to deploy against the specific asset-threat pairing.</a:t>
            </a:r>
            <a:endParaRPr dirty="0"/>
          </a:p>
          <a:p>
            <a:pPr marL="0" marR="0" lvl="0" indent="457200" algn="just" rtl="0">
              <a:lnSpc>
                <a:spcPct val="66666"/>
              </a:lnSpc>
              <a:spcBef>
                <a:spcPts val="0"/>
              </a:spcBef>
              <a:spcAft>
                <a:spcPts val="0"/>
              </a:spcAft>
              <a:buNone/>
            </a:pPr>
            <a:r>
              <a:rPr lang="en-US" sz="1800" dirty="0">
                <a:latin typeface="Georgia"/>
                <a:ea typeface="Georgia"/>
                <a:cs typeface="Georgia"/>
                <a:sym typeface="Georgia"/>
              </a:rPr>
              <a:t>It is important to realize that with all the calculations used in the quantitative risk assessment process (Table 2.2), the end values are used for prioritization and selection. The values themselves do not truly reflect real-world loss or costs due to security breaches. This dictions required in the process.</a:t>
            </a:r>
            <a:endParaRPr dirty="0"/>
          </a:p>
          <a:p>
            <a:pPr marL="0" marR="0" lvl="0" indent="457200" algn="just" rtl="0">
              <a:lnSpc>
                <a:spcPct val="66666"/>
              </a:lnSpc>
              <a:spcBef>
                <a:spcPts val="0"/>
              </a:spcBef>
              <a:spcAft>
                <a:spcPts val="0"/>
              </a:spcAft>
              <a:buNone/>
            </a:pPr>
            <a:r>
              <a:rPr lang="en-US" sz="1800" dirty="0">
                <a:latin typeface="Georgia"/>
                <a:ea typeface="Georgia"/>
                <a:cs typeface="Georgia"/>
                <a:sym typeface="Georgia"/>
              </a:rPr>
              <a:t>Once you have calculated a cost/benefit for each safeguard for each asset-threat pair, you must then sort these values. In most cases, the cost/benefit with the highest value is the best safeguard to implement for that specific risk against a specific asset. But as with all things in the real world, </a:t>
            </a:r>
            <a:r>
              <a:rPr lang="en-US" sz="1800" dirty="0" err="1">
                <a:latin typeface="Georgia"/>
                <a:ea typeface="Georgia"/>
                <a:cs typeface="Georgia"/>
                <a:sym typeface="Georgia"/>
              </a:rPr>
              <a:t>mary</a:t>
            </a:r>
            <a:r>
              <a:rPr lang="en-US" sz="1800" dirty="0">
                <a:latin typeface="Georgia"/>
                <a:ea typeface="Georgia"/>
                <a:cs typeface="Georgia"/>
                <a:sym typeface="Georgia"/>
              </a:rPr>
              <a:t> guiding factor, it is not the </a:t>
            </a:r>
            <a:r>
              <a:rPr lang="en-US" sz="1800" dirty="0" err="1">
                <a:latin typeface="Georgia"/>
                <a:ea typeface="Georgia"/>
                <a:cs typeface="Georgia"/>
                <a:sym typeface="Georgia"/>
              </a:rPr>
              <a:t>solmaking</a:t>
            </a:r>
            <a:r>
              <a:rPr lang="en-US" sz="1800" dirty="0">
                <a:latin typeface="Georgia"/>
                <a:ea typeface="Georgia"/>
                <a:cs typeface="Georgia"/>
                <a:sym typeface="Georgia"/>
              </a:rPr>
              <a:t> process. Although very important and often the </a:t>
            </a:r>
            <a:r>
              <a:rPr lang="en-US" sz="1800" dirty="0" err="1">
                <a:latin typeface="Georgia"/>
                <a:ea typeface="Georgia"/>
                <a:cs typeface="Georgia"/>
                <a:sym typeface="Georgia"/>
              </a:rPr>
              <a:t>pribudget</a:t>
            </a:r>
            <a:r>
              <a:rPr lang="en-US" sz="1800" dirty="0">
                <a:latin typeface="Georgia"/>
                <a:ea typeface="Georgia"/>
                <a:cs typeface="Georgia"/>
                <a:sym typeface="Georgia"/>
              </a:rPr>
              <a:t>, compatibility with existing systems, skill/knowledge base of IT staff, and availability of product as well as political issues, partnerships, market trends, fads, marketing, contracts, and favoritism. As part of senior management or even the IT staff, it is your responsibility to either obtain or use all available data and information to make the best security decision for your organization. For further discussion of safeguard, security control, and countermeasure selection issues, see the "Countermeasure Selection and Implementation" section, later in this chapter.</a:t>
            </a:r>
            <a:endParaRPr dirty="0"/>
          </a:p>
          <a:p>
            <a:pPr marL="0" lvl="0" indent="0" algn="l" rtl="0">
              <a:spcBef>
                <a:spcPts val="0"/>
              </a:spcBef>
              <a:spcAft>
                <a:spcPts val="0"/>
              </a:spcAft>
              <a:buNone/>
            </a:pPr>
            <a:endParaRPr dirty="0"/>
          </a:p>
        </p:txBody>
      </p:sp>
      <p:sp>
        <p:nvSpPr>
          <p:cNvPr id="166" name="Google Shape;16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747529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5543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228600" algn="just" rtl="0">
              <a:lnSpc>
                <a:spcPct val="66666"/>
              </a:lnSpc>
              <a:spcBef>
                <a:spcPts val="0"/>
              </a:spcBef>
              <a:spcAft>
                <a:spcPts val="0"/>
              </a:spcAft>
              <a:buNone/>
            </a:pPr>
            <a:r>
              <a:rPr lang="en-US" sz="1800" b="1" dirty="0">
                <a:latin typeface="Georgia"/>
                <a:ea typeface="Georgia"/>
                <a:cs typeface="Georgia"/>
                <a:sym typeface="Georgia"/>
              </a:rPr>
              <a:t>Countermeasure Selection and Implementation</a:t>
            </a:r>
            <a:endParaRPr sz="1800" dirty="0">
              <a:latin typeface="Georgia"/>
              <a:ea typeface="Georgia"/>
              <a:cs typeface="Georgia"/>
              <a:sym typeface="Georgia"/>
            </a:endParaRPr>
          </a:p>
          <a:p>
            <a:pPr marL="0" marR="0" lvl="0" indent="0" algn="just" rtl="0">
              <a:lnSpc>
                <a:spcPct val="66666"/>
              </a:lnSpc>
              <a:spcBef>
                <a:spcPts val="0"/>
              </a:spcBef>
              <a:spcAft>
                <a:spcPts val="0"/>
              </a:spcAft>
              <a:buNone/>
            </a:pPr>
            <a:r>
              <a:rPr lang="en-US" sz="1800" dirty="0">
                <a:latin typeface="Georgia"/>
                <a:ea typeface="Georgia"/>
                <a:cs typeface="Georgia"/>
                <a:sym typeface="Georgia"/>
              </a:rPr>
              <a:t>Selecting a countermeasure, safeguard, or control (short for security control) within the </a:t>
            </a:r>
            <a:r>
              <a:rPr lang="en-US" sz="1800" dirty="0" err="1">
                <a:latin typeface="Georgia"/>
                <a:ea typeface="Georgia"/>
                <a:cs typeface="Georgia"/>
                <a:sym typeface="Georgia"/>
              </a:rPr>
              <a:t>realin</a:t>
            </a:r>
            <a:r>
              <a:rPr lang="en-US" sz="1800" dirty="0">
                <a:latin typeface="Georgia"/>
                <a:ea typeface="Georgia"/>
                <a:cs typeface="Georgia"/>
                <a:sym typeface="Georgia"/>
              </a:rPr>
              <a:t> of risk management relies heavily on the cost/benefit analysis results. However, you should consider several other factors when assessing the value or pertinence of a security control:</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cost of the countermeasure should be less than the value of the asset.</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cost of the countermeasure should be less than the benefit of the countermeasure.</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result of the applied countermeasure should make the cost of an attack greater for the perpetrator than the derived benefit from an attack.</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countermeasure should provide a solution to a real and identified problem. (Don't install countermeasures just because they are available, are advertised, or sound appealing)</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benefit of the countermeasure should not be dependent on its secrecy. Any viable countermeasure can withstand public disclosure and scrutiny and thus maintain </a:t>
            </a:r>
            <a:r>
              <a:rPr lang="en-US" sz="1800" dirty="0" err="1">
                <a:latin typeface="Georgia"/>
                <a:ea typeface="Georgia"/>
                <a:cs typeface="Georgia"/>
                <a:sym typeface="Georgia"/>
              </a:rPr>
              <a:t>protestion</a:t>
            </a:r>
            <a:r>
              <a:rPr lang="en-US" sz="1800" dirty="0">
                <a:latin typeface="Georgia"/>
                <a:ea typeface="Georgia"/>
                <a:cs typeface="Georgia"/>
                <a:sym typeface="Georgia"/>
              </a:rPr>
              <a:t> even when known.</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benefit of the countermeasure should be testable and verifiable.</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countermeasure should provide consistent and uniform protection across all users, systems, protocols, and so on.</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countermeasure should have few or no dependencies to reduce cascade failures.</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countermeasure should require minimal human intervention after initial deployment and configuration.</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countermeasure should be tamperproof.</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countermeasure should have overrides accessible to privileged operators only.</a:t>
            </a:r>
            <a:endParaRPr dirty="0"/>
          </a:p>
          <a:p>
            <a:pPr marL="342900" marR="0" lvl="0" indent="-342900" algn="just" rtl="0">
              <a:lnSpc>
                <a:spcPct val="66666"/>
              </a:lnSpc>
              <a:spcBef>
                <a:spcPts val="0"/>
              </a:spcBef>
              <a:spcAft>
                <a:spcPts val="0"/>
              </a:spcAft>
              <a:buClr>
                <a:schemeClr val="dk1"/>
              </a:buClr>
              <a:buSzPts val="1800"/>
              <a:buFont typeface="Noto Sans Symbols"/>
              <a:buChar char="∙"/>
            </a:pPr>
            <a:r>
              <a:rPr lang="en-US" sz="1800" dirty="0">
                <a:latin typeface="Georgia"/>
                <a:ea typeface="Georgia"/>
                <a:cs typeface="Georgia"/>
                <a:sym typeface="Georgia"/>
              </a:rPr>
              <a:t>The countermeasure should provide fail-safe and/or fail-secure options.</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Keep in mind that security should be designed to support and enable business tasks and functions. Thus, countermeasures and safeguards need to be evaluated in the context of a business process. If there is no clear business case for a safeguard, it is probably not an effective security option.</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Security controls, countermeasures, and safeguards can be implemented administratively, logically/technically, or physically. These three categories of security mechanisms should be implemented in a conceptual layered defense-in-depth manner in order to provide maximum benefit (Figure 2.4). This idea is based on the concept that policies (part of administrative controls) drive all aspects of security and thus form the initial protection layer around assets. Next, logical and technical controls provide protection against logical attacks and exploits. Then, the physical controls provide protection against real-world physical attacks against the facility and devices.</a:t>
            </a:r>
            <a:endParaRPr dirty="0"/>
          </a:p>
          <a:p>
            <a:pPr marL="0" marR="0" lvl="0" indent="228600" algn="just" rtl="0">
              <a:lnSpc>
                <a:spcPct val="66666"/>
              </a:lnSpc>
              <a:spcBef>
                <a:spcPts val="0"/>
              </a:spcBef>
              <a:spcAft>
                <a:spcPts val="0"/>
              </a:spcAft>
              <a:buNone/>
            </a:pPr>
            <a:br>
              <a:rPr lang="en-US" sz="1800" dirty="0">
                <a:latin typeface="Georgia"/>
                <a:ea typeface="Georgia"/>
                <a:cs typeface="Georgia"/>
                <a:sym typeface="Georgia"/>
              </a:rPr>
            </a:br>
            <a:r>
              <a:rPr lang="en-US" sz="1800" dirty="0">
                <a:latin typeface="Georgia"/>
                <a:ea typeface="Georgia"/>
                <a:cs typeface="Georgia"/>
                <a:sym typeface="Georgia"/>
              </a:rPr>
              <a:t>FIGURE 2.4 The categories of security controls in a defense-in-depth implementation</a:t>
            </a:r>
            <a:endParaRPr dirty="0"/>
          </a:p>
          <a:p>
            <a:pPr marL="0" marR="0" lvl="0" indent="228600" algn="just" rtl="0">
              <a:lnSpc>
                <a:spcPct val="66666"/>
              </a:lnSpc>
              <a:spcBef>
                <a:spcPts val="0"/>
              </a:spcBef>
              <a:spcAft>
                <a:spcPts val="0"/>
              </a:spcAft>
              <a:buNone/>
            </a:pPr>
            <a:r>
              <a:rPr lang="en-US" sz="1800" dirty="0">
                <a:latin typeface="Georgia"/>
                <a:ea typeface="Georgia"/>
                <a:cs typeface="Georgia"/>
                <a:sym typeface="Georgia"/>
              </a:rPr>
              <a:t> </a:t>
            </a:r>
            <a:endParaRPr dirty="0"/>
          </a:p>
          <a:p>
            <a:pPr marL="0" marR="0" lvl="0" indent="228600" algn="just" rtl="0">
              <a:lnSpc>
                <a:spcPct val="66666"/>
              </a:lnSpc>
              <a:spcBef>
                <a:spcPts val="0"/>
              </a:spcBef>
              <a:spcAft>
                <a:spcPts val="0"/>
              </a:spcAft>
              <a:buNone/>
            </a:pPr>
            <a:br>
              <a:rPr lang="en-US" sz="1800" dirty="0">
                <a:latin typeface="Georgia"/>
                <a:ea typeface="Georgia"/>
                <a:cs typeface="Georgia"/>
                <a:sym typeface="Georgia"/>
              </a:rPr>
            </a:br>
            <a:r>
              <a:rPr lang="en-US" sz="1800" b="1" dirty="0">
                <a:latin typeface="Georgia"/>
                <a:ea typeface="Georgia"/>
                <a:cs typeface="Georgia"/>
                <a:sym typeface="Georgia"/>
              </a:rPr>
              <a:t>Administrative</a:t>
            </a:r>
            <a:br>
              <a:rPr lang="en-US" sz="1800" dirty="0">
                <a:latin typeface="Georgia"/>
                <a:ea typeface="Georgia"/>
                <a:cs typeface="Georgia"/>
                <a:sym typeface="Georgia"/>
              </a:rPr>
            </a:br>
            <a:r>
              <a:rPr lang="en-US" sz="1800" dirty="0">
                <a:latin typeface="Georgia"/>
                <a:ea typeface="Georgia"/>
                <a:cs typeface="Georgia"/>
                <a:sym typeface="Georgia"/>
              </a:rPr>
              <a:t>The category of administrative controls are the policies and procedures defined by an organization's security policy and other regulations or requirements. They are sometimes referred to as management controls, managerial controls, or procedural controls. These controls focus on personnel oversight and business practices. Examples of administrative controls include policies, procedures, hiring practices, background checks, data classifications and labeling, security awareness and training efforts, reports and reviews, work supervision, personnel controls, and testing.</a:t>
            </a:r>
            <a:endParaRPr dirty="0"/>
          </a:p>
          <a:p>
            <a:pPr marL="0" marR="0" lvl="0" indent="0" algn="just" rtl="0">
              <a:lnSpc>
                <a:spcPct val="66666"/>
              </a:lnSpc>
              <a:spcBef>
                <a:spcPts val="0"/>
              </a:spcBef>
              <a:spcAft>
                <a:spcPts val="0"/>
              </a:spcAft>
              <a:buNone/>
            </a:pPr>
            <a:r>
              <a:rPr lang="en-US" sz="1800" b="1" dirty="0">
                <a:latin typeface="Georgia"/>
                <a:ea typeface="Georgia"/>
                <a:cs typeface="Georgia"/>
                <a:sym typeface="Georgia"/>
              </a:rPr>
              <a:t>Technical or Logical</a:t>
            </a:r>
            <a:endParaRPr sz="1800" dirty="0">
              <a:latin typeface="Georgia"/>
              <a:ea typeface="Georgia"/>
              <a:cs typeface="Georgia"/>
              <a:sym typeface="Georgia"/>
            </a:endParaRPr>
          </a:p>
          <a:p>
            <a:pPr marL="0" marR="0" lvl="0" indent="0" algn="just" rtl="0">
              <a:lnSpc>
                <a:spcPct val="66666"/>
              </a:lnSpc>
              <a:spcBef>
                <a:spcPts val="0"/>
              </a:spcBef>
              <a:spcAft>
                <a:spcPts val="0"/>
              </a:spcAft>
              <a:buNone/>
            </a:pPr>
            <a:r>
              <a:rPr lang="en-US" sz="1800" dirty="0">
                <a:latin typeface="Georgia"/>
                <a:ea typeface="Georgia"/>
                <a:cs typeface="Georgia"/>
                <a:sym typeface="Georgia"/>
              </a:rPr>
              <a:t>The category of technical controls or logical controls involves the hardware or software</a:t>
            </a:r>
            <a:br>
              <a:rPr lang="en-US" sz="1800" dirty="0">
                <a:latin typeface="Georgia"/>
                <a:ea typeface="Georgia"/>
                <a:cs typeface="Georgia"/>
                <a:sym typeface="Georgia"/>
              </a:rPr>
            </a:br>
            <a:r>
              <a:rPr lang="en-US" sz="1800" dirty="0">
                <a:latin typeface="Georgia"/>
                <a:ea typeface="Georgia"/>
                <a:cs typeface="Georgia"/>
                <a:sym typeface="Georgia"/>
              </a:rPr>
              <a:t>Technical or Logical mechanisms used to manage access and provide protection for IT resources and systems. Examples of logical or technical controls include authentication methods (such as passwords, smartcards, and biometrics), encryption, constrained interfaces, access control lists, protocols, firewalls, routers, intrusion detection systems (IDSs), and clipping levels.</a:t>
            </a:r>
            <a:endParaRPr dirty="0"/>
          </a:p>
          <a:p>
            <a:pPr marL="0" marR="0" lvl="0" indent="0" algn="just" rtl="0">
              <a:lnSpc>
                <a:spcPct val="66666"/>
              </a:lnSpc>
              <a:spcBef>
                <a:spcPts val="0"/>
              </a:spcBef>
              <a:spcAft>
                <a:spcPts val="0"/>
              </a:spcAft>
              <a:buNone/>
            </a:pPr>
            <a:r>
              <a:rPr lang="en-US" sz="1800" b="1" dirty="0">
                <a:latin typeface="Georgia"/>
                <a:ea typeface="Georgia"/>
                <a:cs typeface="Georgia"/>
                <a:sym typeface="Georgia"/>
              </a:rPr>
              <a:t>Physical</a:t>
            </a:r>
            <a:endParaRPr sz="1800" dirty="0">
              <a:latin typeface="Georgia"/>
              <a:ea typeface="Georgia"/>
              <a:cs typeface="Georgia"/>
              <a:sym typeface="Georgia"/>
            </a:endParaRPr>
          </a:p>
          <a:p>
            <a:pPr marL="0" marR="0" lvl="0" indent="0" algn="just" rtl="0">
              <a:lnSpc>
                <a:spcPct val="66666"/>
              </a:lnSpc>
              <a:spcBef>
                <a:spcPts val="0"/>
              </a:spcBef>
              <a:spcAft>
                <a:spcPts val="0"/>
              </a:spcAft>
              <a:buNone/>
            </a:pPr>
            <a:r>
              <a:rPr lang="en-US" sz="1800" dirty="0">
                <a:latin typeface="Georgia"/>
                <a:ea typeface="Georgia"/>
                <a:cs typeface="Georgia"/>
                <a:sym typeface="Georgia"/>
              </a:rPr>
              <a:t>Physical controls are security mechanisms focused on providing protection to the facility and real-world objects. Examples of physical controls include guards, fences, motion detectors, locked doors, sealed windows, lights, cable protection, laptop locks, badges, swipe cards, guard dogs, video cameras, access control vestibules, and alarms.</a:t>
            </a:r>
            <a:endParaRPr dirty="0"/>
          </a:p>
          <a:p>
            <a:pPr marL="0" lvl="0" indent="0" algn="l" rtl="0">
              <a:spcBef>
                <a:spcPts val="0"/>
              </a:spcBef>
              <a:spcAft>
                <a:spcPts val="0"/>
              </a:spcAft>
              <a:buNone/>
            </a:pPr>
            <a:br>
              <a:rPr lang="en-US" dirty="0"/>
            </a:br>
            <a:endParaRPr dirty="0"/>
          </a:p>
        </p:txBody>
      </p:sp>
      <p:sp>
        <p:nvSpPr>
          <p:cNvPr id="196" name="Google Shape;19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1528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783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5016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7832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933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9159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7399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4827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just" rtl="0">
              <a:lnSpc>
                <a:spcPct val="66666"/>
              </a:lnSpc>
              <a:spcBef>
                <a:spcPts val="0"/>
              </a:spcBef>
              <a:spcAft>
                <a:spcPts val="0"/>
              </a:spcAft>
              <a:buNone/>
            </a:pPr>
            <a:r>
              <a:rPr lang="en-US" sz="1800" b="1">
                <a:latin typeface="Georgia"/>
                <a:ea typeface="Georgia"/>
                <a:cs typeface="Georgia"/>
                <a:sym typeface="Georgia"/>
              </a:rPr>
              <a:t>Security Control Assessment</a:t>
            </a:r>
            <a:endParaRPr sz="1800">
              <a:latin typeface="Georgia"/>
              <a:ea typeface="Georgia"/>
              <a:cs typeface="Georgia"/>
              <a:sym typeface="Georgia"/>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A security control assessment (SCA) is the formal evaluation of a security infrastructure's individual mechanisms against a baseline or reliability expectation. The SCA can be performed in addition to or independently of a full security evaluation, such as a penetration test or vulnerability assessment.</a:t>
            </a:r>
            <a:endParaRPr/>
          </a:p>
          <a:p>
            <a:pPr marL="0" marR="0" lvl="0" indent="457200" algn="just" rtl="0">
              <a:lnSpc>
                <a:spcPct val="66666"/>
              </a:lnSpc>
              <a:spcBef>
                <a:spcPts val="0"/>
              </a:spcBef>
              <a:spcAft>
                <a:spcPts val="0"/>
              </a:spcAft>
              <a:buNone/>
            </a:pPr>
            <a:r>
              <a:rPr lang="en-US" sz="1800">
                <a:latin typeface="Georgia"/>
                <a:ea typeface="Georgia"/>
                <a:cs typeface="Georgia"/>
                <a:sym typeface="Georgia"/>
              </a:rPr>
              <a:t>The goals of an SCA are to ensure the effectiveness of the security mechanisms, evaluare the quality and thoroughness of the risk management processes of the organization, and produce a report of the relative strengths and weaknesses of the deployed security infrastructure, The results of an SCA may confirm that a security mechanism has sustained its previous level of verified effectiveness or that action must be taken to address a deficient security control. In addition to verifying the reliability of security controls, an assessment should consider whether security controls affect privacy. Some controls may improve privacy protection, whereas others may in fact cause a breach of privacy. The privacy aspect of a security control should be evaluated in light of regulations, contractual obligations, and the organization's privacy policy/promise.</a:t>
            </a:r>
            <a:endParaRPr/>
          </a:p>
          <a:p>
            <a:pPr marL="0" marR="0" lvl="0" indent="457200" algn="just" rtl="0">
              <a:lnSpc>
                <a:spcPct val="66666"/>
              </a:lnSpc>
              <a:spcBef>
                <a:spcPts val="0"/>
              </a:spcBef>
              <a:spcAft>
                <a:spcPts val="0"/>
              </a:spcAft>
              <a:buNone/>
            </a:pPr>
            <a:r>
              <a:rPr lang="en-US" sz="1800">
                <a:latin typeface="Georgia"/>
                <a:ea typeface="Georgia"/>
                <a:cs typeface="Georgia"/>
                <a:sym typeface="Georgia"/>
              </a:rPr>
              <a:t>Generally, an SCA is a process implemented by federal agencies based on NIST SP </a:t>
            </a:r>
            <a:r>
              <a:rPr lang="en-US" sz="1800" i="0">
                <a:latin typeface="Cambria Math"/>
                <a:ea typeface="Cambria Math"/>
                <a:cs typeface="Cambria Math"/>
                <a:sym typeface="Cambria Math"/>
              </a:rPr>
              <a:t>800−53</a:t>
            </a:r>
            <a:r>
              <a:rPr lang="en-US" sz="1800">
                <a:latin typeface="Georgia"/>
                <a:ea typeface="Georgia"/>
                <a:cs typeface="Georgia"/>
                <a:sym typeface="Georgia"/>
              </a:rPr>
              <a:t> Rev. 5, titled "Security and Privacy Controls for Information Systems and Organizations" (</a:t>
            </a:r>
            <a:r>
              <a:rPr lang="en-US" sz="1800" u="sng" strike="noStrike">
                <a:solidFill>
                  <a:srgbClr val="4472C4"/>
                </a:solidFill>
                <a:latin typeface="Georgia"/>
                <a:ea typeface="Georgia"/>
                <a:cs typeface="Georgia"/>
                <a:sym typeface="Georgia"/>
                <a:hlinkClick r:id="rId3">
                  <a:extLst>
                    <a:ext uri="{A12FA001-AC4F-418D-AE19-62706E023703}">
                      <ahyp:hlinkClr xmlns:ahyp="http://schemas.microsoft.com/office/drawing/2018/hyperlinkcolor" val="tx"/>
                    </a:ext>
                  </a:extLst>
                </a:hlinkClick>
              </a:rPr>
              <a:t>csrc.nist.gov/publications/detail/sp/800-53/rev-5/final</a:t>
            </a:r>
            <a:r>
              <a:rPr lang="en-US" sz="1800">
                <a:latin typeface="Georgia"/>
                <a:ea typeface="Georgia"/>
                <a:cs typeface="Georgia"/>
                <a:sym typeface="Georgia"/>
              </a:rPr>
              <a:t>). However, though defined as a government process, the concept of evaluating the reliability and effectiveness of security controls should be adopted by every organization that is committed to sustaining a successful security endeavor.</a:t>
            </a:r>
            <a:endParaRPr/>
          </a:p>
          <a:p>
            <a:pPr marL="0" lvl="0" indent="0" algn="l" rtl="0">
              <a:spcBef>
                <a:spcPts val="0"/>
              </a:spcBef>
              <a:spcAft>
                <a:spcPts val="0"/>
              </a:spcAft>
              <a:buNone/>
            </a:pPr>
            <a:endParaRPr/>
          </a:p>
        </p:txBody>
      </p:sp>
      <p:sp>
        <p:nvSpPr>
          <p:cNvPr id="282" name="Google Shape;282;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1986813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766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5991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457200" algn="just" rtl="0">
              <a:lnSpc>
                <a:spcPct val="66666"/>
              </a:lnSpc>
              <a:spcBef>
                <a:spcPts val="0"/>
              </a:spcBef>
              <a:spcAft>
                <a:spcPts val="0"/>
              </a:spcAft>
              <a:buNone/>
            </a:pPr>
            <a:r>
              <a:rPr lang="en-US" sz="1800" b="1">
                <a:latin typeface="Georgia"/>
                <a:ea typeface="Georgia"/>
                <a:cs typeface="Georgia"/>
                <a:sym typeface="Georgia"/>
              </a:rPr>
              <a:t>Monitoring and Measurement</a:t>
            </a:r>
            <a:endParaRPr sz="1800">
              <a:latin typeface="Georgia"/>
              <a:ea typeface="Georgia"/>
              <a:cs typeface="Georgia"/>
              <a:sym typeface="Georgia"/>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Security controls should provide benefits that can be monitored and measured. If a security control's benefits cannot be quantified, evaluated, or compared, then it does not actually provide any security. A security control may provide native or internal monitoring, or external monitoring may be required. You should take this into consideration when making initial countermeasure selections.</a:t>
            </a:r>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Measuring the effectiveness of a countermeasure is not always an absolute value. Many countermeasures offer degrees of improvement rather than specific hard numbers as to the number of breaches prevented or attack attempts thwarted. Often to obtain countermeasure success or failure measurements, monitoring and recording of events both prior to and after safeguard installation is necessary. Benefits can only be accurately measured if the starting point (i.e., the normal point or initial risk level) is known. Part of the cost/benefit equation takes countermeasure monitoring and measurement into account. Just because a security control provides some level of increased security does not necessarily mean that the benefit gained is cost-effective. A significant improvement in security should be identified to clearly justify the expense of new countermeasure deployment.</a:t>
            </a:r>
            <a:endParaRPr/>
          </a:p>
          <a:p>
            <a:pPr marL="0" lvl="0" indent="0" algn="l" rtl="0">
              <a:spcBef>
                <a:spcPts val="0"/>
              </a:spcBef>
              <a:spcAft>
                <a:spcPts val="0"/>
              </a:spcAft>
              <a:buNone/>
            </a:pPr>
            <a:endParaRPr/>
          </a:p>
        </p:txBody>
      </p:sp>
      <p:sp>
        <p:nvSpPr>
          <p:cNvPr id="301" name="Google Shape;301;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4117110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2613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4712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3363135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just" rtl="0">
              <a:lnSpc>
                <a:spcPct val="66666"/>
              </a:lnSpc>
              <a:spcBef>
                <a:spcPts val="0"/>
              </a:spcBef>
              <a:spcAft>
                <a:spcPts val="0"/>
              </a:spcAft>
              <a:buNone/>
            </a:pPr>
            <a:r>
              <a:rPr lang="en-US" sz="1800" b="1">
                <a:latin typeface="Georgia"/>
                <a:ea typeface="Georgia"/>
                <a:cs typeface="Georgia"/>
                <a:sym typeface="Georgia"/>
              </a:rPr>
              <a:t>Risk Reporting and Documentation</a:t>
            </a:r>
            <a:endParaRPr sz="1800">
              <a:latin typeface="Georgia"/>
              <a:ea typeface="Georgia"/>
              <a:cs typeface="Georgia"/>
              <a:sym typeface="Georgia"/>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Risk reporting is a key task to perform at the conclusion of a risk analysis. Risk reporting involves the production of a risk report and a presentation of that report to the interested/ relevant parties. For many organizations, risk reporting is an internal concern only, whereas other organizations may have regulations that mandate third-party or public reporting of their risk findings. A risk report should be accurate, timely, comprehensive of the entire organization, clear and precise to support decision making, and updated on a regular basis.</a:t>
            </a:r>
            <a:br>
              <a:rPr lang="en-US" sz="1800">
                <a:latin typeface="Georgia"/>
                <a:ea typeface="Georgia"/>
                <a:cs typeface="Georgia"/>
                <a:sym typeface="Georgia"/>
              </a:rPr>
            </a:br>
            <a:endParaRPr sz="1800">
              <a:latin typeface="Georgia"/>
              <a:ea typeface="Georgia"/>
              <a:cs typeface="Georgia"/>
              <a:sym typeface="Georgia"/>
            </a:endParaRPr>
          </a:p>
          <a:p>
            <a:pPr marL="0" marR="0" lvl="0" indent="228600" algn="just" rtl="0">
              <a:lnSpc>
                <a:spcPct val="66666"/>
              </a:lnSpc>
              <a:spcBef>
                <a:spcPts val="0"/>
              </a:spcBef>
              <a:spcAft>
                <a:spcPts val="0"/>
              </a:spcAft>
              <a:buNone/>
            </a:pPr>
            <a:r>
              <a:rPr lang="en-US" sz="1800">
                <a:latin typeface="Georgia"/>
                <a:ea typeface="Georgia"/>
                <a:cs typeface="Georgia"/>
                <a:sym typeface="Georgia"/>
              </a:rPr>
              <a:t>A risk register or risk </a:t>
            </a:r>
            <a:r>
              <a:rPr lang="en-US" sz="1800" i="0">
                <a:latin typeface="Cambria Math"/>
                <a:ea typeface="Cambria Math"/>
                <a:cs typeface="Cambria Math"/>
                <a:sym typeface="Cambria Math"/>
              </a:rPr>
              <a:t>log</a:t>
            </a:r>
            <a:r>
              <a:rPr lang="en-US" sz="1800">
                <a:latin typeface="Georgia"/>
                <a:ea typeface="Georgia"/>
                <a:cs typeface="Georgia"/>
                <a:sym typeface="Georgia"/>
              </a:rPr>
              <a:t> is a document that inventories all the identified risks to an organization or system or within an individual project. A risk register is used to record and track the activities of risk management, including the following:</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Identifying risks</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Evaluating the severity of and prioritizing those risks</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Prescribing responses to reduce or eliminate the risks</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Tracking the progress of risk mitigation</a:t>
            </a:r>
            <a:endParaRPr/>
          </a:p>
          <a:p>
            <a:pPr marL="0" marR="0" lvl="0" indent="228600" algn="just" rtl="0">
              <a:lnSpc>
                <a:spcPct val="66666"/>
              </a:lnSpc>
              <a:spcBef>
                <a:spcPts val="0"/>
              </a:spcBef>
              <a:spcAft>
                <a:spcPts val="0"/>
              </a:spcAft>
              <a:buNone/>
            </a:pPr>
            <a:r>
              <a:rPr lang="en-US" sz="1800">
                <a:latin typeface="Georgia"/>
                <a:ea typeface="Georgia"/>
                <a:cs typeface="Georgia"/>
                <a:sym typeface="Georgia"/>
              </a:rPr>
              <a:t>A risk register can serve as a project management document to track completion of risk response activities as well as a historical record of risk management over time. The contents of a risk register could be shared with others to facilitate a more realistic evaluation of real-world threats and risks through the amalgamation of risk management activities by other organizations.</a:t>
            </a:r>
            <a:endParaRPr/>
          </a:p>
          <a:p>
            <a:pPr marL="0" marR="0" lvl="0" indent="228600" algn="just" rtl="0">
              <a:lnSpc>
                <a:spcPct val="66666"/>
              </a:lnSpc>
              <a:spcBef>
                <a:spcPts val="0"/>
              </a:spcBef>
              <a:spcAft>
                <a:spcPts val="0"/>
              </a:spcAft>
              <a:buNone/>
            </a:pPr>
            <a:r>
              <a:rPr lang="en-US" sz="1800">
                <a:latin typeface="Georgia"/>
                <a:ea typeface="Georgia"/>
                <a:cs typeface="Georgia"/>
                <a:sym typeface="Georgia"/>
              </a:rPr>
              <a:t>A risk matrix or risk heat map is a form of risk assessment that is performed on a basic graph or chart. It is sometimes labeled as a qualitative risk assessment. The simplest form of a risk matrix is a </a:t>
            </a:r>
            <a:r>
              <a:rPr lang="en-US" sz="1800" i="0">
                <a:latin typeface="Cambria Math"/>
                <a:ea typeface="Cambria Math"/>
                <a:cs typeface="Cambria Math"/>
                <a:sym typeface="Cambria Math"/>
              </a:rPr>
              <a:t>3×3</a:t>
            </a:r>
            <a:r>
              <a:rPr lang="en-US" sz="1800">
                <a:latin typeface="Georgia"/>
                <a:ea typeface="Georgia"/>
                <a:cs typeface="Georgia"/>
                <a:sym typeface="Georgia"/>
              </a:rPr>
              <a:t> grid comparing probability and damage potential. This was covered in Chapter 1.</a:t>
            </a:r>
            <a:endParaRPr/>
          </a:p>
          <a:p>
            <a:pPr marL="0" lvl="0" indent="0" algn="l" rtl="0">
              <a:spcBef>
                <a:spcPts val="0"/>
              </a:spcBef>
              <a:spcAft>
                <a:spcPts val="0"/>
              </a:spcAft>
              <a:buNone/>
            </a:pPr>
            <a:br>
              <a:rPr lang="en-US"/>
            </a:br>
            <a:endParaRPr/>
          </a:p>
        </p:txBody>
      </p:sp>
      <p:sp>
        <p:nvSpPr>
          <p:cNvPr id="327" name="Google Shape;327;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1806852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5783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228600" algn="just" rtl="0">
              <a:lnSpc>
                <a:spcPct val="66666"/>
              </a:lnSpc>
              <a:spcBef>
                <a:spcPts val="0"/>
              </a:spcBef>
              <a:spcAft>
                <a:spcPts val="0"/>
              </a:spcAft>
              <a:buNone/>
            </a:pPr>
            <a:r>
              <a:rPr lang="en-US" sz="1800" b="1">
                <a:latin typeface="Georgia"/>
                <a:ea typeface="Georgia"/>
                <a:cs typeface="Georgia"/>
                <a:sym typeface="Georgia"/>
              </a:rPr>
              <a:t>Continuous Improvement</a:t>
            </a:r>
            <a:endParaRPr sz="1800">
              <a:latin typeface="Georgia"/>
              <a:ea typeface="Georgia"/>
              <a:cs typeface="Georgia"/>
              <a:sym typeface="Georgia"/>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Risk analysis is performed to provide upper management with the details necessary to decide which risks should be mitigated, which should be transferred, which should be deterred, which should be avoided, and which should be accepted. The result is a cost/ benefit comparison between the expected cost of asset loss and the cost of deploying safeguards against threats and vulnerabilities. Risk analysis identifies risks, quantifies the impact of threats, and aids in budgeting for security. It helps integrate the needs and objectives of the security policy with the organization's business goals and intentions. The risk analysis/risk assessment is a "point in time" metric. Threats and vulnerabilities constantly change, and the risk assessment needs to be redone periodically in order to support continuous improvement. </a:t>
            </a:r>
            <a:endParaRPr/>
          </a:p>
          <a:p>
            <a:pPr marL="0" marR="0" lvl="0" indent="228600" algn="just" rtl="0">
              <a:lnSpc>
                <a:spcPct val="66666"/>
              </a:lnSpc>
              <a:spcBef>
                <a:spcPts val="0"/>
              </a:spcBef>
              <a:spcAft>
                <a:spcPts val="0"/>
              </a:spcAft>
              <a:buNone/>
            </a:pPr>
            <a:r>
              <a:rPr lang="en-US" sz="1800">
                <a:latin typeface="Georgia"/>
                <a:ea typeface="Georgia"/>
                <a:cs typeface="Georgia"/>
                <a:sym typeface="Georgia"/>
              </a:rPr>
              <a:t>Security is always changing. Thus, any implemented security solution requires updates and changes over time. If a continuous improvement path is not provided by a selected countermeasure, it should be replaced with one that offers scalable improvements to security.</a:t>
            </a:r>
            <a:endParaRPr/>
          </a:p>
          <a:p>
            <a:pPr marL="0" marR="0" lvl="0" indent="228600" algn="just" rtl="0">
              <a:lnSpc>
                <a:spcPct val="66666"/>
              </a:lnSpc>
              <a:spcBef>
                <a:spcPts val="0"/>
              </a:spcBef>
              <a:spcAft>
                <a:spcPts val="0"/>
              </a:spcAft>
              <a:buNone/>
            </a:pPr>
            <a:r>
              <a:rPr lang="en-US" sz="1800">
                <a:latin typeface="Georgia"/>
                <a:ea typeface="Georgia"/>
                <a:cs typeface="Georgia"/>
                <a:sym typeface="Georgia"/>
              </a:rPr>
              <a:t>An enterprise risk managemnet (ERM) program can be evaluated using the Risk Maturity  Model (RMM). An RMM assess the key in and repeatabie tik 2. Preliminary-Loose attempts are made to follow risk Department may perform risk assessment foling common or standardized risk framework is adopted organization-wile.</a:t>
            </a:r>
            <a:br>
              <a:rPr lang="en-US" sz="1800">
                <a:latin typeface="Georgia"/>
                <a:ea typeface="Georgia"/>
                <a:cs typeface="Georgia"/>
                <a:sym typeface="Georgia"/>
              </a:rPr>
            </a:br>
            <a:r>
              <a:rPr lang="en-US" sz="1800">
                <a:latin typeface="Georgia"/>
                <a:ea typeface="Georgia"/>
                <a:cs typeface="Georgia"/>
                <a:sym typeface="Georgia"/>
              </a:rPr>
              <a:t>4. Integrated-Risk management operations are integrated into busines procenes, then. rics are used to gather effectiveness data, and risk is considered an element in businem strategy decisions.</a:t>
            </a:r>
            <a:br>
              <a:rPr lang="en-US" sz="1800">
                <a:latin typeface="Georgia"/>
                <a:ea typeface="Georgia"/>
                <a:cs typeface="Georgia"/>
                <a:sym typeface="Georgia"/>
              </a:rPr>
            </a:br>
            <a:r>
              <a:rPr lang="en-US" sz="1800">
                <a:latin typeface="Georgia"/>
                <a:ea typeface="Georgia"/>
                <a:cs typeface="Georgia"/>
                <a:sym typeface="Georgia"/>
              </a:rPr>
              <a:t>5. Optimized-Risk management focuses on achieving objectives rather than just react: ing to external threats; increased strategic planning is geared toward businew succes rather than just avoiding incidents; and lessons learned are reintegrated into the rik management process.</a:t>
            </a:r>
            <a:endParaRPr/>
          </a:p>
          <a:p>
            <a:pPr marL="0" marR="0" lvl="0" indent="228600" algn="just" rtl="0">
              <a:lnSpc>
                <a:spcPct val="66666"/>
              </a:lnSpc>
              <a:spcBef>
                <a:spcPts val="0"/>
              </a:spcBef>
              <a:spcAft>
                <a:spcPts val="0"/>
              </a:spcAft>
              <a:buNone/>
            </a:pPr>
            <a:r>
              <a:rPr lang="en-US" sz="1800">
                <a:latin typeface="Georgia"/>
                <a:ea typeface="Georgia"/>
                <a:cs typeface="Georgia"/>
                <a:sym typeface="Georgia"/>
              </a:rPr>
              <a:t>If you have an interest in learning more about RMM, there is an interesting study of numerous RMM systems and the attempt to derive a generic RMM from the common elements. See "Developing a generic risk maturity model (GRMM) for evaluating risk management in construction projects" at www. tandfon line. com/dot/full/10.1660/</a:t>
            </a:r>
            <a:r>
              <a:rPr lang="en-US" sz="1800">
                <a:latin typeface="Calibri"/>
                <a:ea typeface="Calibri"/>
                <a:cs typeface="Calibri"/>
                <a:sym typeface="Calibri"/>
              </a:rPr>
              <a:t>ม</a:t>
            </a:r>
            <a:r>
              <a:rPr lang="en-US" sz="1800">
                <a:latin typeface="Georgia"/>
                <a:ea typeface="Georgia"/>
                <a:cs typeface="Georgia"/>
                <a:sym typeface="Georgia"/>
              </a:rPr>
              <a:t> 669877.2019 .1646309$.</a:t>
            </a:r>
            <a:br>
              <a:rPr lang="en-US" sz="1800">
                <a:latin typeface="Georgia"/>
                <a:ea typeface="Georgia"/>
                <a:cs typeface="Georgia"/>
                <a:sym typeface="Georgia"/>
              </a:rPr>
            </a:br>
            <a:r>
              <a:rPr lang="en-US" sz="1800">
                <a:latin typeface="Georgia"/>
                <a:ea typeface="Georgia"/>
                <a:cs typeface="Georgia"/>
                <a:sym typeface="Georgia"/>
              </a:rPr>
              <a:t>An often-overlooked area of risk is that of legacy devices, which may be EOL. and/or EOSL:</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End-of-life (EOL) is the point at which a manufacturer no longer produces a product. Service and support may continue for a period of time after EOL, but no new ver. sions will be made available for sale or distribution. An EOL product should be sheot uled for replacement before it fails or reaches end-of-support (EOS) or end-of-tervice life (EOSL).</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EOL is sometimes perceived or used as the equivalent of EOSL. End-of-service-life (EOSL.) or end-of-support (EOS) are those systems that are no longer receiving updatn and support from the vendor. If an organization continues to use an EOSL. system, herh the risk of compromise is high because any future exploitation will never be purched or fixed. It is of utmost importance to move off EOSL, systems in order to maintain a secure environment. It might not seem initially cost-effective or practical to move awat from a solution that still works just because the vendor has terminated support. Horever, the security management efforts you will expend will likely far exceed the cust of developing and deploying a modern system-based replacement. For example, Adobe Flash Player reached its EOSL on December 31,2020, and should be uninstalled, as to ommended by Adobe.</a:t>
            </a:r>
            <a:endParaRPr/>
          </a:p>
          <a:p>
            <a:pPr marL="0" lvl="0" indent="0" algn="l" rtl="0">
              <a:spcBef>
                <a:spcPts val="0"/>
              </a:spcBef>
              <a:spcAft>
                <a:spcPts val="0"/>
              </a:spcAft>
              <a:buNone/>
            </a:pPr>
            <a:endParaRPr/>
          </a:p>
        </p:txBody>
      </p:sp>
      <p:sp>
        <p:nvSpPr>
          <p:cNvPr id="352" name="Google Shape;352;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472876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1344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02827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just" rtl="0">
              <a:lnSpc>
                <a:spcPct val="66666"/>
              </a:lnSpc>
              <a:spcBef>
                <a:spcPts val="0"/>
              </a:spcBef>
              <a:spcAft>
                <a:spcPts val="0"/>
              </a:spcAft>
              <a:buNone/>
            </a:pPr>
            <a:r>
              <a:rPr lang="en-US" sz="1800" b="1">
                <a:latin typeface="Georgia"/>
                <a:ea typeface="Georgia"/>
                <a:cs typeface="Georgia"/>
                <a:sym typeface="Georgia"/>
              </a:rPr>
              <a:t>Risk Frameworks</a:t>
            </a:r>
            <a:endParaRPr sz="1800">
              <a:latin typeface="Georgia"/>
              <a:ea typeface="Georgia"/>
              <a:cs typeface="Georgia"/>
              <a:sym typeface="Georgia"/>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A risk framework is a guideline or recipe for how risk is to be assessed, resolved, and monirored. NIST established the Risk Management Framework (RMF) and the Cybersecurity Framework (CSF). These are both U.S. government guides for establishing and maintaining security, but the CSF is designed for critical infrastructure and commercial organizations, whereas the RMF establishes mandatory requirements for federal agencies. RMF was established in 2010, and the CSF was established in 2014.</a:t>
            </a:r>
            <a:endParaRPr/>
          </a:p>
          <a:p>
            <a:pPr marL="0" marR="0" lvl="0" indent="457200" algn="just" rtl="0">
              <a:lnSpc>
                <a:spcPct val="66666"/>
              </a:lnSpc>
              <a:spcBef>
                <a:spcPts val="0"/>
              </a:spcBef>
              <a:spcAft>
                <a:spcPts val="0"/>
              </a:spcAft>
              <a:buNone/>
            </a:pPr>
            <a:r>
              <a:rPr lang="en-US" sz="1800">
                <a:latin typeface="Georgia"/>
                <a:ea typeface="Georgia"/>
                <a:cs typeface="Georgia"/>
                <a:sym typeface="Georgia"/>
              </a:rPr>
              <a:t>The CSF is based on a framework core that consists of five functions: Identify, Protect, Detect, Respond, and Recover. The CSF is not a checklist or procedure-it is a prescription of operational activities that are to be performed on an ongoing basis for the support and improvement of security over time. The CSF is more of an improvement system rather than its own specific risk management process or security infrastructure.</a:t>
            </a:r>
            <a:br>
              <a:rPr lang="en-US" sz="1800">
                <a:latin typeface="Georgia"/>
                <a:ea typeface="Georgia"/>
                <a:cs typeface="Georgia"/>
                <a:sym typeface="Georgia"/>
              </a:rPr>
            </a:br>
            <a:endParaRPr sz="1800">
              <a:latin typeface="Georgia"/>
              <a:ea typeface="Georgia"/>
              <a:cs typeface="Georgia"/>
              <a:sym typeface="Georgia"/>
            </a:endParaRPr>
          </a:p>
          <a:p>
            <a:pPr marL="0" marR="0" lvl="0" indent="457200" algn="just" rtl="0">
              <a:lnSpc>
                <a:spcPct val="66666"/>
              </a:lnSpc>
              <a:spcBef>
                <a:spcPts val="0"/>
              </a:spcBef>
              <a:spcAft>
                <a:spcPts val="0"/>
              </a:spcAft>
              <a:buNone/>
            </a:pPr>
            <a:r>
              <a:rPr lang="en-US" sz="1800">
                <a:latin typeface="Georgia"/>
                <a:ea typeface="Georgia"/>
                <a:cs typeface="Georgia"/>
                <a:sym typeface="Georgia"/>
              </a:rPr>
              <a:t>The RMF, defined by NIST in SP 800-37 Rev. 2 (csrc. </a:t>
            </a:r>
            <a:r>
              <a:rPr lang="en-US" sz="1800" u="sng" strike="noStrike">
                <a:solidFill>
                  <a:srgbClr val="4472C4"/>
                </a:solidFill>
                <a:latin typeface="Georgia"/>
                <a:ea typeface="Georgia"/>
                <a:cs typeface="Georgia"/>
                <a:sym typeface="Georgia"/>
                <a:hlinkClick r:id="rId3">
                  <a:extLst>
                    <a:ext uri="{A12FA001-AC4F-418D-AE19-62706E023703}">
                      <ahyp:hlinkClr xmlns:ahyp="http://schemas.microsoft.com/office/drawing/2018/hyperlinkcolor" val="tx"/>
                    </a:ext>
                  </a:extLst>
                </a:hlinkClick>
              </a:rPr>
              <a:t>nist.gov/publications</a:t>
            </a:r>
            <a:r>
              <a:rPr lang="en-US" sz="1800">
                <a:latin typeface="Georgia"/>
                <a:ea typeface="Georgia"/>
                <a:cs typeface="Georgia"/>
                <a:sym typeface="Georgia"/>
              </a:rPr>
              <a:t>) detail/sp/800-37/rev-2/final), establishes mandatory security requirements for federal agencies. This is the primary risk framework referenced by the CISSP exam. The RMF has six cyclical phases (see Figure 2.5):</a:t>
            </a:r>
            <a:br>
              <a:rPr lang="en-US" sz="1800">
                <a:latin typeface="Georgia"/>
                <a:ea typeface="Georgia"/>
                <a:cs typeface="Georgia"/>
                <a:sym typeface="Georgia"/>
              </a:rPr>
            </a:br>
            <a:endParaRPr sz="1800">
              <a:latin typeface="Georgia"/>
              <a:ea typeface="Georgia"/>
              <a:cs typeface="Georgia"/>
              <a:sym typeface="Georgia"/>
            </a:endParaRPr>
          </a:p>
          <a:p>
            <a:pPr marL="457200" marR="0" lvl="0" indent="0" algn="just" rtl="0">
              <a:lnSpc>
                <a:spcPct val="66666"/>
              </a:lnSpc>
              <a:spcBef>
                <a:spcPts val="0"/>
              </a:spcBef>
              <a:spcAft>
                <a:spcPts val="0"/>
              </a:spcAft>
              <a:buNone/>
            </a:pPr>
            <a:r>
              <a:rPr lang="en-US" sz="1800">
                <a:latin typeface="Georgia"/>
                <a:ea typeface="Georgia"/>
                <a:cs typeface="Georgia"/>
                <a:sym typeface="Georgia"/>
              </a:rPr>
              <a:t>Prepare to execute the RMF from an organization- and system-level perspective by establishing a context and priorities for managing security and privacy risk.</a:t>
            </a:r>
            <a:endParaRPr/>
          </a:p>
          <a:p>
            <a:pPr marL="457200" marR="0" lvl="0" indent="0" algn="just" rtl="0">
              <a:lnSpc>
                <a:spcPct val="66666"/>
              </a:lnSpc>
              <a:spcBef>
                <a:spcPts val="0"/>
              </a:spcBef>
              <a:spcAft>
                <a:spcPts val="0"/>
              </a:spcAft>
              <a:buNone/>
            </a:pPr>
            <a:br>
              <a:rPr lang="en-US" sz="1800">
                <a:latin typeface="Georgia"/>
                <a:ea typeface="Georgia"/>
                <a:cs typeface="Georgia"/>
                <a:sym typeface="Georgia"/>
              </a:rPr>
            </a:br>
            <a:r>
              <a:rPr lang="en-US" sz="1800">
                <a:latin typeface="Georgia"/>
                <a:ea typeface="Georgia"/>
                <a:cs typeface="Georgia"/>
                <a:sym typeface="Georgia"/>
              </a:rPr>
              <a:t>Categorize the system and the information processed, stored, and transmitted by the system based on an analysis of the impact of loss.</a:t>
            </a:r>
            <a:endParaRPr/>
          </a:p>
          <a:p>
            <a:pPr marL="457200" marR="0" lvl="0" indent="0" algn="just" rtl="0">
              <a:lnSpc>
                <a:spcPct val="66666"/>
              </a:lnSpc>
              <a:spcBef>
                <a:spcPts val="0"/>
              </a:spcBef>
              <a:spcAft>
                <a:spcPts val="0"/>
              </a:spcAft>
              <a:buNone/>
            </a:pPr>
            <a:br>
              <a:rPr lang="en-US" sz="1800">
                <a:latin typeface="Georgia"/>
                <a:ea typeface="Georgia"/>
                <a:cs typeface="Georgia"/>
                <a:sym typeface="Georgia"/>
              </a:rPr>
            </a:br>
            <a:r>
              <a:rPr lang="en-US" sz="1800">
                <a:latin typeface="Georgia"/>
                <a:ea typeface="Georgia"/>
                <a:cs typeface="Georgia"/>
                <a:sym typeface="Georgia"/>
              </a:rPr>
              <a:t>Select an initial set of controls for the system and tailor the controls as needed to reduce risk to an acceptable level based on an assessment of risk.</a:t>
            </a:r>
            <a:endParaRPr/>
          </a:p>
          <a:p>
            <a:pPr marL="457200" marR="0" lvl="0" indent="0" algn="just" rtl="0">
              <a:lnSpc>
                <a:spcPct val="66666"/>
              </a:lnSpc>
              <a:spcBef>
                <a:spcPts val="0"/>
              </a:spcBef>
              <a:spcAft>
                <a:spcPts val="0"/>
              </a:spcAft>
              <a:buNone/>
            </a:pPr>
            <a:br>
              <a:rPr lang="en-US" sz="1800">
                <a:latin typeface="Georgia"/>
                <a:ea typeface="Georgia"/>
                <a:cs typeface="Georgia"/>
                <a:sym typeface="Georgia"/>
              </a:rPr>
            </a:br>
            <a:r>
              <a:rPr lang="en-US" sz="1800">
                <a:latin typeface="Georgia"/>
                <a:ea typeface="Georgia"/>
                <a:cs typeface="Georgia"/>
                <a:sym typeface="Georgia"/>
              </a:rPr>
              <a:t>Implement the controls and describe how the controls are employed within the system and its environment of operation.</a:t>
            </a:r>
            <a:endParaRPr/>
          </a:p>
          <a:p>
            <a:pPr marL="457200" marR="0" lvl="0" indent="0" algn="just" rtl="0">
              <a:lnSpc>
                <a:spcPct val="66666"/>
              </a:lnSpc>
              <a:spcBef>
                <a:spcPts val="0"/>
              </a:spcBef>
              <a:spcAft>
                <a:spcPts val="0"/>
              </a:spcAft>
              <a:buNone/>
            </a:pPr>
            <a:br>
              <a:rPr lang="en-US" sz="1800">
                <a:latin typeface="Georgia"/>
                <a:ea typeface="Georgia"/>
                <a:cs typeface="Georgia"/>
                <a:sym typeface="Georgia"/>
              </a:rPr>
            </a:br>
            <a:r>
              <a:rPr lang="en-US" sz="1800">
                <a:latin typeface="Georgia"/>
                <a:ea typeface="Georgia"/>
                <a:cs typeface="Georgia"/>
                <a:sym typeface="Georgia"/>
              </a:rPr>
              <a:t>Assess the controls to determine if the controls are implemented correctly, operating as intended, and producing the desired outcomes with respect to satisfying the security and privacy requirements.</a:t>
            </a:r>
            <a:endParaRPr/>
          </a:p>
          <a:p>
            <a:pPr marL="457200" marR="0" lvl="0" indent="0" algn="just" rtl="0">
              <a:lnSpc>
                <a:spcPct val="66666"/>
              </a:lnSpc>
              <a:spcBef>
                <a:spcPts val="0"/>
              </a:spcBef>
              <a:spcAft>
                <a:spcPts val="0"/>
              </a:spcAft>
              <a:buNone/>
            </a:pPr>
            <a:br>
              <a:rPr lang="en-US" sz="1800">
                <a:latin typeface="Georgia"/>
                <a:ea typeface="Georgia"/>
                <a:cs typeface="Georgia"/>
                <a:sym typeface="Georgia"/>
              </a:rPr>
            </a:br>
            <a:r>
              <a:rPr lang="en-US" sz="1800">
                <a:latin typeface="Georgia"/>
                <a:ea typeface="Georgia"/>
                <a:cs typeface="Georgia"/>
                <a:sym typeface="Georgia"/>
              </a:rPr>
              <a:t>Authorize the system or common controls based on a determination that the risk to organizational operations and assets, individuals, other organizations, and the nation is acceptable.</a:t>
            </a:r>
            <a:endParaRPr/>
          </a:p>
          <a:p>
            <a:pPr marL="457200" marR="0" lvl="0" indent="0" algn="just" rtl="0">
              <a:lnSpc>
                <a:spcPct val="66666"/>
              </a:lnSpc>
              <a:spcBef>
                <a:spcPts val="0"/>
              </a:spcBef>
              <a:spcAft>
                <a:spcPts val="0"/>
              </a:spcAft>
              <a:buNone/>
            </a:pPr>
            <a:br>
              <a:rPr lang="en-US" sz="1800">
                <a:latin typeface="Georgia"/>
                <a:ea typeface="Georgia"/>
                <a:cs typeface="Georgia"/>
                <a:sym typeface="Georgia"/>
              </a:rPr>
            </a:br>
            <a:r>
              <a:rPr lang="en-US" sz="1800">
                <a:latin typeface="Georgia"/>
                <a:ea typeface="Georgia"/>
                <a:cs typeface="Georgia"/>
                <a:sym typeface="Georgia"/>
              </a:rPr>
              <a:t>Monitor the system and the associated controls on an ongoing basis to include assessing control effectiveness, documenting changes to the system and environment of operation, conducting risk assessments and impact analyses, and reporting the security and privacy posture of the system.</a:t>
            </a:r>
            <a:endParaRPr/>
          </a:p>
          <a:p>
            <a:pPr marL="457200" marR="0" lvl="0" indent="0" algn="just" rtl="0">
              <a:lnSpc>
                <a:spcPct val="66666"/>
              </a:lnSpc>
              <a:spcBef>
                <a:spcPts val="0"/>
              </a:spcBef>
              <a:spcAft>
                <a:spcPts val="0"/>
              </a:spcAft>
              <a:buNone/>
            </a:pPr>
            <a:br>
              <a:rPr lang="en-US" sz="1800">
                <a:latin typeface="Georgia"/>
                <a:ea typeface="Georgia"/>
                <a:cs typeface="Georgia"/>
                <a:sym typeface="Georgia"/>
              </a:rPr>
            </a:br>
            <a:r>
              <a:rPr lang="en-US" sz="1800">
                <a:latin typeface="Georgia"/>
                <a:ea typeface="Georgia"/>
                <a:cs typeface="Georgia"/>
                <a:sym typeface="Georgia"/>
              </a:rPr>
              <a:t>[From NIST SP 800-37 Rev. 2]</a:t>
            </a:r>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FIGURE 2.5 The elements of the risk management framework (RMF) (from NIST SP 800 . 37 Rev. 2, Figure 2)</a:t>
            </a:r>
            <a:endParaRPr/>
          </a:p>
          <a:p>
            <a:pPr marL="0" marR="0" lvl="0" indent="0" algn="ctr" rtl="0">
              <a:lnSpc>
                <a:spcPct val="66666"/>
              </a:lnSpc>
              <a:spcBef>
                <a:spcPts val="0"/>
              </a:spcBef>
              <a:spcAft>
                <a:spcPts val="0"/>
              </a:spcAft>
              <a:buNone/>
            </a:pPr>
            <a:br>
              <a:rPr lang="en-US" sz="1800">
                <a:latin typeface="Georgia"/>
                <a:ea typeface="Georgia"/>
                <a:cs typeface="Georgia"/>
                <a:sym typeface="Georgia"/>
              </a:rPr>
            </a:br>
            <a:endParaRPr sz="1800">
              <a:latin typeface="Georgia"/>
              <a:ea typeface="Georgia"/>
              <a:cs typeface="Georgia"/>
              <a:sym typeface="Georgia"/>
            </a:endParaRPr>
          </a:p>
          <a:p>
            <a:pPr marL="0" marR="0" lvl="0" indent="457200" algn="just" rtl="0">
              <a:lnSpc>
                <a:spcPct val="66666"/>
              </a:lnSpc>
              <a:spcBef>
                <a:spcPts val="0"/>
              </a:spcBef>
              <a:spcAft>
                <a:spcPts val="0"/>
              </a:spcAft>
              <a:buNone/>
            </a:pPr>
            <a:r>
              <a:rPr lang="en-US" sz="1800">
                <a:latin typeface="Georgia"/>
                <a:ea typeface="Georgia"/>
                <a:cs typeface="Georgia"/>
                <a:sym typeface="Georgia"/>
              </a:rPr>
              <a:t>These six phases are to be performed in order and repeatedly throughout the life of the organization. RMF is intended as a risk management process to identify and respond to threats. Use of the RMF will result in the establishment of a security infrastructure and a process for ongoing improvement of the secured environment.</a:t>
            </a:r>
            <a:endParaRPr/>
          </a:p>
          <a:p>
            <a:pPr marL="0" marR="0" lvl="0" indent="457200" algn="just" rtl="0">
              <a:lnSpc>
                <a:spcPct val="66666"/>
              </a:lnSpc>
              <a:spcBef>
                <a:spcPts val="0"/>
              </a:spcBef>
              <a:spcAft>
                <a:spcPts val="0"/>
              </a:spcAft>
              <a:buNone/>
            </a:pPr>
            <a:r>
              <a:rPr lang="en-US" sz="1800">
                <a:latin typeface="Georgia"/>
                <a:ea typeface="Georgia"/>
                <a:cs typeface="Georgia"/>
                <a:sym typeface="Georgia"/>
              </a:rPr>
              <a:t>There is significantly more detail about RMF in the official NIST publication; we encourage you to review this publication in its entirety for a complete perspective on the RMF. Much of the information in the prior risk management sections in this chapter was derived from the RMF.</a:t>
            </a:r>
            <a:endParaRPr/>
          </a:p>
          <a:p>
            <a:pPr marL="0" marR="0" lvl="0" indent="457200" algn="just" rtl="0">
              <a:lnSpc>
                <a:spcPct val="66666"/>
              </a:lnSpc>
              <a:spcBef>
                <a:spcPts val="0"/>
              </a:spcBef>
              <a:spcAft>
                <a:spcPts val="0"/>
              </a:spcAft>
              <a:buNone/>
            </a:pPr>
            <a:r>
              <a:rPr lang="en-US" sz="1800">
                <a:latin typeface="Georgia"/>
                <a:ea typeface="Georgia"/>
                <a:cs typeface="Georgia"/>
                <a:sym typeface="Georgia"/>
              </a:rPr>
              <a:t>Another important guide to risk management is the ISO/IEC 31000 document "Risk management - Guidelines." This is a high-level overview of the idea of risk management that many will benefit from reading. You can find it online at www. iso. org/obp/ ui / # iso: std: iso:31000: ed-2:vl: en. This ISO guideline is intended to be useful to any type of organization, whether government or private sector. A companion guide, ISO/IEC 31004 "Risk management - Guidance for the implementation of ISO 31000 " (www . </a:t>
            </a:r>
            <a:r>
              <a:rPr lang="en-US" sz="1800" u="sng" strike="noStrike">
                <a:solidFill>
                  <a:srgbClr val="4472C4"/>
                </a:solidFill>
                <a:latin typeface="Georgia"/>
                <a:ea typeface="Georgia"/>
                <a:cs typeface="Georgia"/>
                <a:sym typeface="Georgia"/>
                <a:hlinkClick r:id="rId4">
                  <a:extLst>
                    <a:ext uri="{A12FA001-AC4F-418D-AE19-62706E023703}">
                      <ahyp:hlinkClr xmlns:ahyp="http://schemas.microsoft.com/office/drawing/2018/hyperlinkcolor" val="tx"/>
                    </a:ext>
                  </a:extLst>
                </a:hlinkClick>
              </a:rPr>
              <a:t>iso.org/standard/56610</a:t>
            </a:r>
            <a:r>
              <a:rPr lang="en-US" sz="1800">
                <a:latin typeface="Georgia"/>
                <a:ea typeface="Georgia"/>
                <a:cs typeface="Georgia"/>
                <a:sym typeface="Georgia"/>
              </a:rPr>
              <a:t>. htmZ) might also be of interest, along with ISO/IEC 27005 , "Information technology - Security techniques - Information security risk management" (www. iso. org/standard/75281.html).</a:t>
            </a:r>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 </a:t>
            </a:r>
            <a:endParaRPr/>
          </a:p>
          <a:p>
            <a:pPr marL="0" marR="0" lvl="0" indent="228600" algn="just" rtl="0">
              <a:lnSpc>
                <a:spcPct val="66666"/>
              </a:lnSpc>
              <a:spcBef>
                <a:spcPts val="0"/>
              </a:spcBef>
              <a:spcAft>
                <a:spcPts val="0"/>
              </a:spcAft>
              <a:buNone/>
            </a:pPr>
            <a:r>
              <a:rPr lang="en-US" sz="1800">
                <a:latin typeface="Georgia"/>
                <a:ea typeface="Georgia"/>
                <a:cs typeface="Georgia"/>
                <a:sym typeface="Georgia"/>
              </a:rPr>
              <a:t>The NIST RMF is the primary focus of the CISSP exam, but you might want to review other risk managen future research:</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The Committee of Sponsoring Organizations (COSO) of the Treadway Commission's Enterprise Risk Management - Integrated Framework</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ISACA's Risk IT Framework</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Operationally Critical Threat, Asset, and Vulnerability Evaluation (OCTAVE)</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Factor Analysis of Information Risk (FAIR)</a:t>
            </a:r>
            <a:endParaRPr/>
          </a:p>
          <a:p>
            <a:pPr marL="342900" marR="0" lvl="0" indent="-342900" algn="just" rtl="0">
              <a:lnSpc>
                <a:spcPct val="66666"/>
              </a:lnSpc>
              <a:spcBef>
                <a:spcPts val="0"/>
              </a:spcBef>
              <a:spcAft>
                <a:spcPts val="0"/>
              </a:spcAft>
              <a:buClr>
                <a:schemeClr val="dk1"/>
              </a:buClr>
              <a:buSzPts val="1800"/>
              <a:buFont typeface="Noto Sans Symbols"/>
              <a:buChar char="∙"/>
            </a:pPr>
            <a:r>
              <a:rPr lang="en-US" sz="1800">
                <a:latin typeface="Georgia"/>
                <a:ea typeface="Georgia"/>
                <a:cs typeface="Georgia"/>
                <a:sym typeface="Georgia"/>
              </a:rPr>
              <a:t>Threat Agent Risk Assessment (TARA)</a:t>
            </a:r>
            <a:endParaRPr/>
          </a:p>
          <a:p>
            <a:pPr marL="0" marR="0" lvl="0" indent="0" algn="just" rtl="0">
              <a:lnSpc>
                <a:spcPct val="66666"/>
              </a:lnSpc>
              <a:spcBef>
                <a:spcPts val="0"/>
              </a:spcBef>
              <a:spcAft>
                <a:spcPts val="0"/>
              </a:spcAft>
              <a:buNone/>
            </a:pPr>
            <a:r>
              <a:rPr lang="en-US" sz="1800">
                <a:latin typeface="Georgia"/>
                <a:ea typeface="Georgia"/>
                <a:cs typeface="Georgia"/>
                <a:sym typeface="Georgia"/>
              </a:rPr>
              <a:t>For further research, you'll find a useful article here: </a:t>
            </a:r>
            <a:r>
              <a:rPr lang="en-US" sz="1800" u="sng" strike="noStrike">
                <a:solidFill>
                  <a:srgbClr val="4472C4"/>
                </a:solidFill>
                <a:latin typeface="Georgia"/>
                <a:ea typeface="Georgia"/>
                <a:cs typeface="Georgia"/>
                <a:sym typeface="Georgia"/>
                <a:hlinkClick r:id="rId5">
                  <a:extLst>
                    <a:ext uri="{A12FA001-AC4F-418D-AE19-62706E023703}">
                      <ahyp:hlinkClr xmlns:ahyp="http://schemas.microsoft.com/office/drawing/2018/hyperlinkcolor" val="tx"/>
                    </a:ext>
                  </a:extLst>
                </a:hlinkClick>
              </a:rPr>
              <a:t>wwi.csoonline.com/</a:t>
            </a:r>
            <a:r>
              <a:rPr lang="en-US" sz="1800">
                <a:latin typeface="Georgia"/>
                <a:ea typeface="Georgia"/>
                <a:cs typeface="Georgia"/>
                <a:sym typeface="Georgia"/>
              </a:rPr>
              <a:t> html. Understanding that there are a number-frameworks-real-world-experience. ing one that fits your organization's requirements and style is important.</a:t>
            </a:r>
            <a:endParaRPr/>
          </a:p>
          <a:p>
            <a:pPr marL="0" lvl="0" indent="0" algn="l" rtl="0">
              <a:spcBef>
                <a:spcPts val="0"/>
              </a:spcBef>
              <a:spcAft>
                <a:spcPts val="0"/>
              </a:spcAft>
              <a:buNone/>
            </a:pPr>
            <a:br>
              <a:rPr lang="en-US"/>
            </a:br>
            <a:endParaRPr/>
          </a:p>
        </p:txBody>
      </p:sp>
      <p:sp>
        <p:nvSpPr>
          <p:cNvPr id="377" name="Google Shape;377;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2157343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21242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4980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3123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BDD8-F28D-74EB-F207-040F84F52B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DB97FC-9F83-EDB7-B015-DDAB5AE00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6DB777-1094-66ED-9753-3F5F3A150869}"/>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5" name="Footer Placeholder 4">
            <a:extLst>
              <a:ext uri="{FF2B5EF4-FFF2-40B4-BE49-F238E27FC236}">
                <a16:creationId xmlns:a16="http://schemas.microsoft.com/office/drawing/2014/main" id="{B9C03E00-DB06-51BA-ED95-14E055DD5E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F1963A-3001-9E5D-9BDC-7FAF7A84F467}"/>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725003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E74A0-14DE-7A33-857D-BA96D422BA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A280AE-8BF5-B14B-60CA-74C244F3AE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5582C1-9719-7A12-4CD9-FC549E0B1FCF}"/>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5" name="Footer Placeholder 4">
            <a:extLst>
              <a:ext uri="{FF2B5EF4-FFF2-40B4-BE49-F238E27FC236}">
                <a16:creationId xmlns:a16="http://schemas.microsoft.com/office/drawing/2014/main" id="{D000A891-1258-DDD6-B804-92368D80E7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B500B-651D-F0FA-3D8D-0D45A8DD85A4}"/>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2788001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CD06-FAE4-D4B3-2A45-6D93AAE020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1FA380-C20C-1790-9A8F-DC3351B5B7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345DBC-CAC2-EAAE-4BCF-62DABFB10D0C}"/>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5" name="Footer Placeholder 4">
            <a:extLst>
              <a:ext uri="{FF2B5EF4-FFF2-40B4-BE49-F238E27FC236}">
                <a16:creationId xmlns:a16="http://schemas.microsoft.com/office/drawing/2014/main" id="{BE73D458-E353-4DB6-FC6E-A109F0FB4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6A7635-EF47-3550-1E5A-107B79F3224C}"/>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2848114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EB8A-1646-DDF3-08BD-076763836C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086DC-1411-8238-4D14-A8092555B9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671802-597B-2E42-63CD-8CE6ABD68F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AB230F-9BAC-110F-5430-95FF036CD0D3}"/>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6" name="Footer Placeholder 5">
            <a:extLst>
              <a:ext uri="{FF2B5EF4-FFF2-40B4-BE49-F238E27FC236}">
                <a16:creationId xmlns:a16="http://schemas.microsoft.com/office/drawing/2014/main" id="{866D4478-A878-FF4B-62BE-2CD533A56B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1D0C44-39B7-F794-3A42-E517D929729A}"/>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757279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F6B8-8637-7B28-EC29-82F499F0E3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436732-471E-6A39-8BF3-BC468624C4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790BF-D8DD-24E4-8DC9-B9C642F0F9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672E1A-C148-DCE9-2D67-2A81AED873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2DDCD7-E818-78FB-3D50-2DE06A7698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DF3201-0318-6ED5-1A9D-39777592F289}"/>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8" name="Footer Placeholder 7">
            <a:extLst>
              <a:ext uri="{FF2B5EF4-FFF2-40B4-BE49-F238E27FC236}">
                <a16:creationId xmlns:a16="http://schemas.microsoft.com/office/drawing/2014/main" id="{C9D7E92B-9444-9B13-0D0D-77BB3B8108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DDB1A5-028E-E054-D18E-7CF15A1E3B9C}"/>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210596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C4780-EC27-465A-E745-74ACEB06D5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27C9A3-3958-EC63-342E-36B8F002009E}"/>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4" name="Footer Placeholder 3">
            <a:extLst>
              <a:ext uri="{FF2B5EF4-FFF2-40B4-BE49-F238E27FC236}">
                <a16:creationId xmlns:a16="http://schemas.microsoft.com/office/drawing/2014/main" id="{3EFC96E6-16CA-29E0-D508-16AC490F12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4DBBE8-BEF3-2E59-4BBE-7F009DBC994B}"/>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3834568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EB1170-FE79-CF40-8038-8B3063FB18F8}"/>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3" name="Footer Placeholder 2">
            <a:extLst>
              <a:ext uri="{FF2B5EF4-FFF2-40B4-BE49-F238E27FC236}">
                <a16:creationId xmlns:a16="http://schemas.microsoft.com/office/drawing/2014/main" id="{A3A20793-B88C-054F-D0E2-D47E65F087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FECF07-4A68-91A4-9C9C-98E52ED4166C}"/>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1710107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D9565-0E8A-1B95-7A99-2E36822E5B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68BC2A-4EF7-2106-A128-BE2DCF74FD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4A9CC1-FEDD-C858-A486-6B2984CA99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723399-83C7-B4B0-7B53-9EEB4F4542AF}"/>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6" name="Footer Placeholder 5">
            <a:extLst>
              <a:ext uri="{FF2B5EF4-FFF2-40B4-BE49-F238E27FC236}">
                <a16:creationId xmlns:a16="http://schemas.microsoft.com/office/drawing/2014/main" id="{65982031-E9CB-C498-ACF2-6F35F76CC4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E7879-3DA5-DBF2-FF45-3A2E732DE6AE}"/>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129577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83107-348F-A3D5-B70C-2B1EA1A91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A8DF55-BA14-6924-F78F-A8F14B3C1C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270796-4F2C-9067-C3AF-6AE8E341EE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5956C-B59D-B7AA-834D-518F5493FE4D}"/>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6" name="Footer Placeholder 5">
            <a:extLst>
              <a:ext uri="{FF2B5EF4-FFF2-40B4-BE49-F238E27FC236}">
                <a16:creationId xmlns:a16="http://schemas.microsoft.com/office/drawing/2014/main" id="{FA185BFF-2CCC-8639-18E8-2346F568F0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EC1C2E-0851-A0C2-7F77-67F9C984BC87}"/>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2665372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DFC8C-5D07-FF79-CF4B-1730C3F1A9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1EFBD6-9492-43E8-9B17-D390EF2114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85D36-3805-DBEA-709F-4D33AF385EC4}"/>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5" name="Footer Placeholder 4">
            <a:extLst>
              <a:ext uri="{FF2B5EF4-FFF2-40B4-BE49-F238E27FC236}">
                <a16:creationId xmlns:a16="http://schemas.microsoft.com/office/drawing/2014/main" id="{70B72FFE-5EB9-B1E0-1AEE-F768F5A118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A285EB-3F3B-E30C-4081-0228EE442C7B}"/>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1181022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63A62-72CC-79B4-0B01-2C1665FD85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E9B3C-C8E0-544B-AAA3-502C22256D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59F855-5193-8FC2-E421-09A0313D8694}"/>
              </a:ext>
            </a:extLst>
          </p:cNvPr>
          <p:cNvSpPr>
            <a:spLocks noGrp="1"/>
          </p:cNvSpPr>
          <p:nvPr>
            <p:ph type="dt" sz="half" idx="10"/>
          </p:nvPr>
        </p:nvSpPr>
        <p:spPr/>
        <p:txBody>
          <a:bodyPr/>
          <a:lstStyle/>
          <a:p>
            <a:fld id="{851DB3CF-73D6-4E5C-9D76-183435A2F4E3}" type="datetimeFigureOut">
              <a:rPr lang="en-US" smtClean="0"/>
              <a:t>9/25/2025</a:t>
            </a:fld>
            <a:endParaRPr lang="en-US"/>
          </a:p>
        </p:txBody>
      </p:sp>
      <p:sp>
        <p:nvSpPr>
          <p:cNvPr id="5" name="Footer Placeholder 4">
            <a:extLst>
              <a:ext uri="{FF2B5EF4-FFF2-40B4-BE49-F238E27FC236}">
                <a16:creationId xmlns:a16="http://schemas.microsoft.com/office/drawing/2014/main" id="{21FBD35A-001B-3C74-D99A-605AEA64F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BC4EB-379B-A7FD-8782-38DF551C0516}"/>
              </a:ext>
            </a:extLst>
          </p:cNvPr>
          <p:cNvSpPr>
            <a:spLocks noGrp="1"/>
          </p:cNvSpPr>
          <p:nvPr>
            <p:ph type="sldNum" sz="quarter" idx="12"/>
          </p:nvPr>
        </p:nvSpPr>
        <p:spPr/>
        <p:txBody>
          <a:bodyPr/>
          <a:lstStyle/>
          <a:p>
            <a:fld id="{F5BDE9D8-67A8-4F81-AAC6-D067C73835CA}" type="slidenum">
              <a:rPr lang="en-US" smtClean="0"/>
              <a:t>‹#›</a:t>
            </a:fld>
            <a:endParaRPr lang="en-US"/>
          </a:p>
        </p:txBody>
      </p:sp>
    </p:spTree>
    <p:extLst>
      <p:ext uri="{BB962C8B-B14F-4D97-AF65-F5344CB8AC3E}">
        <p14:creationId xmlns:p14="http://schemas.microsoft.com/office/powerpoint/2010/main" val="1429021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5BA0C6-21FD-EDEF-0E07-CE3DA89AF8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A07CF8-90A0-F991-2EE1-8909498D83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F97731-B115-F6E1-5E63-ED2022BDB9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1DB3CF-73D6-4E5C-9D76-183435A2F4E3}" type="datetimeFigureOut">
              <a:rPr lang="en-US" smtClean="0"/>
              <a:t>9/25/2025</a:t>
            </a:fld>
            <a:endParaRPr lang="en-US"/>
          </a:p>
        </p:txBody>
      </p:sp>
      <p:sp>
        <p:nvSpPr>
          <p:cNvPr id="5" name="Footer Placeholder 4">
            <a:extLst>
              <a:ext uri="{FF2B5EF4-FFF2-40B4-BE49-F238E27FC236}">
                <a16:creationId xmlns:a16="http://schemas.microsoft.com/office/drawing/2014/main" id="{4837CE6D-C693-46BB-A804-798FECD0D5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3F8A89-1688-B149-C615-73F35CE2B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BDE9D8-67A8-4F81-AAC6-D067C73835CA}" type="slidenum">
              <a:rPr lang="en-US" smtClean="0"/>
              <a:t>‹#›</a:t>
            </a:fld>
            <a:endParaRPr lang="en-US"/>
          </a:p>
        </p:txBody>
      </p:sp>
    </p:spTree>
    <p:extLst>
      <p:ext uri="{BB962C8B-B14F-4D97-AF65-F5344CB8AC3E}">
        <p14:creationId xmlns:p14="http://schemas.microsoft.com/office/powerpoint/2010/main" val="1720399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36E2-545D-3625-E255-83AF1B42A7DB}"/>
              </a:ext>
            </a:extLst>
          </p:cNvPr>
          <p:cNvSpPr>
            <a:spLocks noGrp="1"/>
          </p:cNvSpPr>
          <p:nvPr>
            <p:ph type="ctrTitle"/>
          </p:nvPr>
        </p:nvSpPr>
        <p:spPr/>
        <p:txBody>
          <a:bodyPr/>
          <a:lstStyle/>
          <a:p>
            <a:r>
              <a:rPr lang="en-US" dirty="0"/>
              <a:t>RISK Management </a:t>
            </a:r>
          </a:p>
        </p:txBody>
      </p:sp>
      <p:sp>
        <p:nvSpPr>
          <p:cNvPr id="3" name="Subtitle 2">
            <a:extLst>
              <a:ext uri="{FF2B5EF4-FFF2-40B4-BE49-F238E27FC236}">
                <a16:creationId xmlns:a16="http://schemas.microsoft.com/office/drawing/2014/main" id="{8675957A-0BF9-B109-0F7E-60EAA83F90F6}"/>
              </a:ext>
            </a:extLst>
          </p:cNvPr>
          <p:cNvSpPr>
            <a:spLocks noGrp="1"/>
          </p:cNvSpPr>
          <p:nvPr>
            <p:ph type="subTitle" idx="1"/>
          </p:nvPr>
        </p:nvSpPr>
        <p:spPr/>
        <p:txBody>
          <a:bodyPr/>
          <a:lstStyle/>
          <a:p>
            <a:r>
              <a:rPr lang="en-US" dirty="0"/>
              <a:t>Lecture 3</a:t>
            </a:r>
          </a:p>
        </p:txBody>
      </p:sp>
    </p:spTree>
    <p:extLst>
      <p:ext uri="{BB962C8B-B14F-4D97-AF65-F5344CB8AC3E}">
        <p14:creationId xmlns:p14="http://schemas.microsoft.com/office/powerpoint/2010/main" val="2223416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a:t>
            </a:r>
          </a:p>
        </p:txBody>
      </p:sp>
      <p:sp>
        <p:nvSpPr>
          <p:cNvPr id="3" name="Text Placeholder 2"/>
          <p:cNvSpPr>
            <a:spLocks noGrp="1"/>
          </p:cNvSpPr>
          <p:nvPr>
            <p:ph type="body" idx="1"/>
          </p:nvPr>
        </p:nvSpPr>
        <p:spPr/>
        <p:txBody>
          <a:bodyPr>
            <a:normAutofit fontScale="55000" lnSpcReduction="20000"/>
          </a:bodyPr>
          <a:lstStyle/>
          <a:p>
            <a:r>
              <a:rPr lang="en-US" dirty="0"/>
              <a:t>Risk is the potential for uncertain events or circumstances that may have both positive and negative consequences.</a:t>
            </a:r>
          </a:p>
          <a:p>
            <a:r>
              <a:rPr lang="en-US" dirty="0"/>
              <a:t>Information Security Risk Management(ISRM) is the continuous process of identifying, analyzing, evaluating, and addressing an organization’s cybersecurity threats. </a:t>
            </a:r>
          </a:p>
          <a:p>
            <a:r>
              <a:rPr lang="en-US" b="1" dirty="0"/>
              <a:t>Key Aspects of Risk</a:t>
            </a:r>
            <a:r>
              <a:rPr lang="en-US" dirty="0"/>
              <a:t>:</a:t>
            </a:r>
          </a:p>
          <a:p>
            <a:r>
              <a:rPr lang="en-US" b="1" dirty="0"/>
              <a:t>Uncertainty</a:t>
            </a:r>
            <a:r>
              <a:rPr lang="en-US" dirty="0"/>
              <a:t>: Inherent in uncertain or unknown outcomes.</a:t>
            </a:r>
          </a:p>
          <a:p>
            <a:r>
              <a:rPr lang="en-US" b="1" dirty="0"/>
              <a:t>Probability</a:t>
            </a:r>
            <a:r>
              <a:rPr lang="en-US" dirty="0"/>
              <a:t>: Likelihood of events occurring varies.</a:t>
            </a:r>
          </a:p>
          <a:p>
            <a:r>
              <a:rPr lang="en-US" b="1" dirty="0"/>
              <a:t>Impact</a:t>
            </a:r>
            <a:r>
              <a:rPr lang="en-US" dirty="0"/>
              <a:t>: Consequences range from minor to severe.</a:t>
            </a:r>
          </a:p>
          <a:p>
            <a:r>
              <a:rPr lang="en-US" b="1" dirty="0"/>
              <a:t>Variety of Contexts</a:t>
            </a:r>
            <a:r>
              <a:rPr lang="en-US" dirty="0"/>
              <a:t>: Risks exist in diverse areas (finance, project management, health, info security).</a:t>
            </a:r>
          </a:p>
          <a:p>
            <a:r>
              <a:rPr lang="en-US" b="1" dirty="0"/>
              <a:t>Risk Management</a:t>
            </a:r>
            <a:r>
              <a:rPr lang="en-US" dirty="0"/>
              <a:t>: Includes identifying, assessing, and mitigating risks.</a:t>
            </a:r>
          </a:p>
          <a:p>
            <a:r>
              <a:rPr lang="en-US" b="1" dirty="0"/>
              <a:t>Opportunity</a:t>
            </a:r>
            <a:r>
              <a:rPr lang="en-US" dirty="0"/>
              <a:t>: Some risks offer positive outcomes (opportunity risks).</a:t>
            </a:r>
          </a:p>
          <a:p>
            <a:r>
              <a:rPr lang="en-US" b="1" dirty="0"/>
              <a:t>Risk Tolerance</a:t>
            </a:r>
            <a:r>
              <a:rPr lang="en-US" dirty="0"/>
              <a:t>: Varies among individuals and organizations.</a:t>
            </a:r>
          </a:p>
          <a:p>
            <a:r>
              <a:rPr lang="en-US" b="1" dirty="0"/>
              <a:t>Mitigation</a:t>
            </a:r>
            <a:r>
              <a:rPr lang="en-US" dirty="0"/>
              <a:t>: Proactive measures reduce risk likelihood or impact.</a:t>
            </a:r>
          </a:p>
          <a:p>
            <a:r>
              <a:rPr lang="en-US" b="1" dirty="0"/>
              <a:t>In Summary</a:t>
            </a:r>
            <a:r>
              <a:rPr lang="en-US" dirty="0"/>
              <a:t>: Risk encompasses uncertainty, probability, impact, and exists across contexts, requiring management to balance potential outcomes.</a:t>
            </a:r>
          </a:p>
        </p:txBody>
      </p:sp>
    </p:spTree>
    <p:extLst>
      <p:ext uri="{BB962C8B-B14F-4D97-AF65-F5344CB8AC3E}">
        <p14:creationId xmlns:p14="http://schemas.microsoft.com/office/powerpoint/2010/main" val="2730691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Risk Management Concepts</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b="1" dirty="0"/>
              <a:t>Inherent risk </a:t>
            </a:r>
            <a:r>
              <a:rPr lang="en-US" dirty="0"/>
              <a:t>is the level of natural risk that exists in an environment, system, or product before any risk management efforts are performed.</a:t>
            </a:r>
            <a:endParaRPr dirty="0"/>
          </a:p>
          <a:p>
            <a:pPr marL="228600" lvl="0" indent="-228600" algn="l" rtl="0">
              <a:lnSpc>
                <a:spcPct val="90000"/>
              </a:lnSpc>
              <a:spcBef>
                <a:spcPts val="1000"/>
              </a:spcBef>
              <a:spcAft>
                <a:spcPts val="0"/>
              </a:spcAft>
              <a:buClr>
                <a:schemeClr val="dk1"/>
              </a:buClr>
              <a:buSzPts val="2800"/>
              <a:buFont typeface="Arial"/>
              <a:buChar char="•"/>
            </a:pPr>
            <a:r>
              <a:rPr lang="en-US" b="1" dirty="0"/>
              <a:t>Residual risk </a:t>
            </a:r>
            <a:r>
              <a:rPr lang="en-US" dirty="0"/>
              <a:t>is the risk that remains after safeguards, security controls, and countermeasures are implemented.</a:t>
            </a:r>
            <a:endParaRPr dirty="0"/>
          </a:p>
          <a:p>
            <a:pPr marL="228600" lvl="0" indent="-228600" algn="l" rtl="0">
              <a:lnSpc>
                <a:spcPct val="90000"/>
              </a:lnSpc>
              <a:spcBef>
                <a:spcPts val="1000"/>
              </a:spcBef>
              <a:spcAft>
                <a:spcPts val="0"/>
              </a:spcAft>
              <a:buClr>
                <a:schemeClr val="dk1"/>
              </a:buClr>
              <a:buSzPts val="2800"/>
              <a:buFont typeface="Arial"/>
              <a:buChar char="•"/>
            </a:pPr>
            <a:r>
              <a:rPr lang="en-US" b="1" dirty="0"/>
              <a:t>Total risk </a:t>
            </a:r>
            <a:r>
              <a:rPr lang="en-US" dirty="0"/>
              <a:t>is the amount of risk an organization would face if no safeguards were implemented, and the controls gap is the difference between total risk and residual risk.</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Continuous Risk Management</a:t>
            </a:r>
            <a:endParaRPr/>
          </a:p>
        </p:txBody>
      </p:sp>
      <p:sp>
        <p:nvSpPr>
          <p:cNvPr id="162" name="Google Shape;162;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dirty="0"/>
              <a:t>Security must be continually maintained and reaffirmed through repeat risk assessment and risk response processes.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Reassessing on a periodic basis helps locate deficiencies and areas where change has occurred.</a:t>
            </a:r>
            <a:endParaRPr dirty="0"/>
          </a:p>
          <a:p>
            <a:pPr marL="228600" lvl="0" indent="-228600" algn="l" rtl="0">
              <a:lnSpc>
                <a:spcPct val="90000"/>
              </a:lnSpc>
              <a:spcBef>
                <a:spcPts val="1000"/>
              </a:spcBef>
              <a:spcAft>
                <a:spcPts val="0"/>
              </a:spcAft>
              <a:buClr>
                <a:schemeClr val="dk1"/>
              </a:buClr>
              <a:buSzPts val="2800"/>
              <a:buFont typeface="Arial"/>
              <a:buChar char="•"/>
            </a:pPr>
            <a:r>
              <a:rPr lang="en-US" b="1" dirty="0"/>
              <a:t>Control risk </a:t>
            </a:r>
            <a:r>
              <a:rPr lang="en-US" dirty="0"/>
              <a:t>is the risk introduced by the introduction of a countermeasure, and risk assessment and response must be iterative for continuous improvement.</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103121" y="176234"/>
            <a:ext cx="7662862" cy="6245521"/>
          </a:xfrm>
          <a:prstGeom prst="rect">
            <a:avLst/>
          </a:prstGeom>
        </p:spPr>
      </p:pic>
    </p:spTree>
    <p:extLst>
      <p:ext uri="{BB962C8B-B14F-4D97-AF65-F5344CB8AC3E}">
        <p14:creationId xmlns:p14="http://schemas.microsoft.com/office/powerpoint/2010/main" val="821905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Terminologies</a:t>
            </a:r>
          </a:p>
        </p:txBody>
      </p:sp>
      <p:sp>
        <p:nvSpPr>
          <p:cNvPr id="3" name="Text Placeholder 2"/>
          <p:cNvSpPr>
            <a:spLocks noGrp="1"/>
          </p:cNvSpPr>
          <p:nvPr>
            <p:ph type="body" idx="1"/>
          </p:nvPr>
        </p:nvSpPr>
        <p:spPr/>
        <p:txBody>
          <a:bodyPr>
            <a:noAutofit/>
          </a:bodyPr>
          <a:lstStyle/>
          <a:p>
            <a:r>
              <a:rPr lang="en-US" sz="2000" b="1" dirty="0"/>
              <a:t>Asset</a:t>
            </a:r>
            <a:r>
              <a:rPr lang="en-US" sz="2000" dirty="0"/>
              <a:t>: Anything used in a business process or task; can be tangible or intangible.</a:t>
            </a:r>
          </a:p>
          <a:p>
            <a:r>
              <a:rPr lang="en-US" sz="2000" b="1" dirty="0"/>
              <a:t>Asset Valuation</a:t>
            </a:r>
            <a:r>
              <a:rPr lang="en-US" sz="2000" dirty="0"/>
              <a:t>: Assigning a value to an asset based on various factors, including importance, actual cost, and non-monetary expenses; used in quantitative risk analysis.</a:t>
            </a:r>
          </a:p>
          <a:p>
            <a:pPr lvl="1"/>
            <a:r>
              <a:rPr lang="en-US" sz="1600" dirty="0"/>
              <a:t>Asset Value (AV) = Dollar figure assigned as the asset value in quantitative risk analysis.</a:t>
            </a:r>
          </a:p>
          <a:p>
            <a:r>
              <a:rPr lang="en-US" sz="2000" b="1" dirty="0"/>
              <a:t>Threat</a:t>
            </a:r>
            <a:r>
              <a:rPr lang="en-US" sz="2000" dirty="0"/>
              <a:t>: Any potential occurrence that may cause undesirable outcomes; can be intentional or accidental and originate from inside or outside the organization.</a:t>
            </a:r>
          </a:p>
          <a:p>
            <a:r>
              <a:rPr lang="en-US" sz="2000" b="1" dirty="0"/>
              <a:t>Threat Agent/Actors</a:t>
            </a:r>
            <a:r>
              <a:rPr lang="en-US" sz="2000" dirty="0"/>
              <a:t>: Individuals, programs, hardware, or systems that intentionally exploit vulnerabilities.</a:t>
            </a:r>
          </a:p>
          <a:p>
            <a:r>
              <a:rPr lang="en-US" sz="2000" b="1" dirty="0"/>
              <a:t>Threat Events</a:t>
            </a:r>
            <a:r>
              <a:rPr lang="en-US" sz="2000" dirty="0"/>
              <a:t>: Accidental occurrences and intentional exploitations of vulnerabilities, including natural and human-made events.</a:t>
            </a:r>
          </a:p>
          <a:p>
            <a:r>
              <a:rPr lang="en-US" sz="2000" b="1" dirty="0"/>
              <a:t>Threat Vector</a:t>
            </a:r>
            <a:r>
              <a:rPr lang="en-US" sz="2000" dirty="0"/>
              <a:t>: The path or means by which an attack or attacker gains access to a target.</a:t>
            </a:r>
          </a:p>
          <a:p>
            <a:r>
              <a:rPr lang="en-US" sz="2000" b="1" dirty="0"/>
              <a:t>Vulnerability</a:t>
            </a:r>
            <a:r>
              <a:rPr lang="en-US" sz="2000" dirty="0"/>
              <a:t>: Weakness in an asset or the absence of safeguards that enables a threat to cause harm.</a:t>
            </a:r>
          </a:p>
          <a:p>
            <a:endParaRPr lang="en-US" sz="2000" dirty="0"/>
          </a:p>
        </p:txBody>
      </p:sp>
    </p:spTree>
    <p:extLst>
      <p:ext uri="{BB962C8B-B14F-4D97-AF65-F5344CB8AC3E}">
        <p14:creationId xmlns:p14="http://schemas.microsoft.com/office/powerpoint/2010/main" val="522948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Terminologies</a:t>
            </a:r>
          </a:p>
        </p:txBody>
      </p:sp>
      <p:sp>
        <p:nvSpPr>
          <p:cNvPr id="3" name="Text Placeholder 2"/>
          <p:cNvSpPr>
            <a:spLocks noGrp="1"/>
          </p:cNvSpPr>
          <p:nvPr>
            <p:ph type="body" idx="1"/>
          </p:nvPr>
        </p:nvSpPr>
        <p:spPr/>
        <p:txBody>
          <a:bodyPr>
            <a:normAutofit fontScale="62500" lnSpcReduction="20000"/>
          </a:bodyPr>
          <a:lstStyle/>
          <a:p>
            <a:r>
              <a:rPr lang="en-US" b="1" dirty="0"/>
              <a:t>Exposure</a:t>
            </a:r>
            <a:r>
              <a:rPr lang="en-US" dirty="0"/>
              <a:t>: Susceptibility to asset loss due to a potential threat; quantified as Exposure Factor (EF) in quantitative risk analysis.</a:t>
            </a:r>
          </a:p>
          <a:p>
            <a:r>
              <a:rPr lang="en-US" b="1" dirty="0"/>
              <a:t>Risk</a:t>
            </a:r>
            <a:r>
              <a:rPr lang="en-US" dirty="0"/>
              <a:t>: The likelihood that a threat will exploit a vulnerability to cause harm to an asset, measured by the probability of harm and severity of harm.</a:t>
            </a:r>
          </a:p>
          <a:p>
            <a:pPr lvl="1"/>
            <a:r>
              <a:rPr lang="en-US" dirty="0"/>
              <a:t>Risk = Threat * Vulnerability or Risk = Probability of Harm * Severity of Harm.</a:t>
            </a:r>
          </a:p>
          <a:p>
            <a:r>
              <a:rPr lang="en-US" b="1" dirty="0"/>
              <a:t>Safeguards</a:t>
            </a:r>
            <a:r>
              <a:rPr lang="en-US" dirty="0"/>
              <a:t>: Measures that remove or reduce vulnerabilities or protect against specific threats; also known as risk responses.</a:t>
            </a:r>
          </a:p>
          <a:p>
            <a:r>
              <a:rPr lang="en-US" b="1" dirty="0"/>
              <a:t>Attack</a:t>
            </a:r>
            <a:r>
              <a:rPr lang="en-US" dirty="0"/>
              <a:t>: The intentional exploitation of a vulnerability by a threat agent to cause damage, loss, or disclosure of assets.</a:t>
            </a:r>
          </a:p>
          <a:p>
            <a:r>
              <a:rPr lang="en-US" b="1" dirty="0"/>
              <a:t>Breach</a:t>
            </a:r>
            <a:r>
              <a:rPr lang="en-US" dirty="0"/>
              <a:t>: The successful bypassing or thwarting of a security mechanism by a threat agent.</a:t>
            </a:r>
          </a:p>
          <a:p>
            <a:r>
              <a:rPr lang="en-US" b="1" dirty="0"/>
              <a:t>Risk Assessment Approaches</a:t>
            </a:r>
            <a:r>
              <a:rPr lang="en-US" dirty="0"/>
              <a:t>:</a:t>
            </a:r>
          </a:p>
          <a:p>
            <a:pPr lvl="1"/>
            <a:r>
              <a:rPr lang="en-US" dirty="0"/>
              <a:t>Evaluate threats first, then look for assets that could be harmed.</a:t>
            </a:r>
          </a:p>
          <a:p>
            <a:pPr lvl="1"/>
            <a:r>
              <a:rPr lang="en-US" dirty="0"/>
              <a:t>Evaluate assets first, then identify threats that could cause harm.</a:t>
            </a:r>
          </a:p>
          <a:p>
            <a:r>
              <a:rPr lang="en-US" b="1" dirty="0"/>
              <a:t>Benefits of Approaches</a:t>
            </a:r>
            <a:r>
              <a:rPr lang="en-US" dirty="0"/>
              <a:t>: Both approaches result in asset-threat pairings that need to be risk evaluated; focusing on threats considers a broader range of issues, while focusing on assets discovers the entirety of organizational resources. Organizations should alternate between these methods for a comprehensive risk assessment.</a:t>
            </a:r>
          </a:p>
          <a:p>
            <a:endParaRPr lang="en-US" dirty="0"/>
          </a:p>
        </p:txBody>
      </p:sp>
    </p:spTree>
    <p:extLst>
      <p:ext uri="{BB962C8B-B14F-4D97-AF65-F5344CB8AC3E}">
        <p14:creationId xmlns:p14="http://schemas.microsoft.com/office/powerpoint/2010/main" val="1362340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62200" y="657706"/>
            <a:ext cx="7858125" cy="5475441"/>
          </a:xfrm>
          <a:prstGeom prst="rect">
            <a:avLst/>
          </a:prstGeom>
        </p:spPr>
      </p:pic>
    </p:spTree>
    <p:extLst>
      <p:ext uri="{BB962C8B-B14F-4D97-AF65-F5344CB8AC3E}">
        <p14:creationId xmlns:p14="http://schemas.microsoft.com/office/powerpoint/2010/main" val="2166223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Asset Valuation in Risk Analysis</a:t>
            </a:r>
            <a:endParaRPr lang="en-US" dirty="0"/>
          </a:p>
        </p:txBody>
      </p:sp>
      <p:sp>
        <p:nvSpPr>
          <p:cNvPr id="3" name="Text Placeholder 2"/>
          <p:cNvSpPr>
            <a:spLocks noGrp="1"/>
          </p:cNvSpPr>
          <p:nvPr>
            <p:ph type="body" idx="1"/>
          </p:nvPr>
        </p:nvSpPr>
        <p:spPr/>
        <p:txBody>
          <a:bodyPr/>
          <a:lstStyle/>
          <a:p>
            <a:r>
              <a:rPr lang="en-US" dirty="0"/>
              <a:t>Start with inventorying all organizational assets.</a:t>
            </a:r>
          </a:p>
          <a:p>
            <a:r>
              <a:rPr lang="en-US" dirty="0"/>
              <a:t>Assign a value to each asset to determine its importance and criticality.</a:t>
            </a:r>
          </a:p>
          <a:p>
            <a:r>
              <a:rPr lang="en-US" dirty="0"/>
              <a:t>Ensure cost-effective safeguards are deployed based on asset value.</a:t>
            </a:r>
          </a:p>
          <a:p>
            <a:r>
              <a:rPr lang="en-US" dirty="0"/>
              <a:t>Safeguard costs should not exceed potential annual asset value loss.</a:t>
            </a:r>
          </a:p>
          <a:p>
            <a:endParaRPr lang="en-US" dirty="0"/>
          </a:p>
        </p:txBody>
      </p:sp>
    </p:spTree>
    <p:extLst>
      <p:ext uri="{BB962C8B-B14F-4D97-AF65-F5344CB8AC3E}">
        <p14:creationId xmlns:p14="http://schemas.microsoft.com/office/powerpoint/2010/main" val="3631277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Asset Valuation</a:t>
            </a:r>
          </a:p>
        </p:txBody>
      </p:sp>
      <p:sp>
        <p:nvSpPr>
          <p:cNvPr id="3" name="Text Placeholder 2"/>
          <p:cNvSpPr>
            <a:spLocks noGrp="1"/>
          </p:cNvSpPr>
          <p:nvPr>
            <p:ph type="body" idx="1"/>
          </p:nvPr>
        </p:nvSpPr>
        <p:spPr>
          <a:xfrm>
            <a:off x="838200" y="1825625"/>
            <a:ext cx="4953000" cy="4351338"/>
          </a:xfrm>
        </p:spPr>
        <p:txBody>
          <a:bodyPr>
            <a:noAutofit/>
          </a:bodyPr>
          <a:lstStyle/>
          <a:p>
            <a:pPr>
              <a:lnSpc>
                <a:spcPct val="100000"/>
              </a:lnSpc>
            </a:pPr>
            <a:r>
              <a:rPr lang="en-US" sz="2000" dirty="0"/>
              <a:t>Tangible and intangible factors contribute to asset valuation.</a:t>
            </a:r>
          </a:p>
          <a:p>
            <a:pPr>
              <a:lnSpc>
                <a:spcPct val="100000"/>
              </a:lnSpc>
            </a:pPr>
            <a:r>
              <a:rPr lang="en-US" sz="2000" dirty="0"/>
              <a:t>Purchase cost</a:t>
            </a:r>
          </a:p>
          <a:p>
            <a:pPr>
              <a:lnSpc>
                <a:spcPct val="100000"/>
              </a:lnSpc>
            </a:pPr>
            <a:r>
              <a:rPr lang="en-US" sz="2000" dirty="0"/>
              <a:t>Development cost</a:t>
            </a:r>
          </a:p>
          <a:p>
            <a:pPr>
              <a:lnSpc>
                <a:spcPct val="100000"/>
              </a:lnSpc>
            </a:pPr>
            <a:r>
              <a:rPr lang="en-US" sz="2000" dirty="0"/>
              <a:t>Administrative or management cost</a:t>
            </a:r>
          </a:p>
          <a:p>
            <a:pPr>
              <a:lnSpc>
                <a:spcPct val="100000"/>
              </a:lnSpc>
            </a:pPr>
            <a:r>
              <a:rPr lang="en-US" sz="2000" dirty="0"/>
              <a:t>Maintenance or upkeep cost</a:t>
            </a:r>
          </a:p>
          <a:p>
            <a:pPr>
              <a:lnSpc>
                <a:spcPct val="100000"/>
              </a:lnSpc>
            </a:pPr>
            <a:r>
              <a:rPr lang="en-US" sz="2000" dirty="0"/>
              <a:t>Cost in acquiring asset</a:t>
            </a:r>
          </a:p>
          <a:p>
            <a:pPr>
              <a:lnSpc>
                <a:spcPct val="100000"/>
              </a:lnSpc>
            </a:pPr>
            <a:r>
              <a:rPr lang="en-US" sz="2000" dirty="0"/>
              <a:t>Cost to protect or sustain asset</a:t>
            </a:r>
          </a:p>
          <a:p>
            <a:pPr>
              <a:lnSpc>
                <a:spcPct val="100000"/>
              </a:lnSpc>
            </a:pPr>
            <a:r>
              <a:rPr lang="en-US" sz="2000" dirty="0"/>
              <a:t>Value to owners and users</a:t>
            </a:r>
          </a:p>
          <a:p>
            <a:pPr>
              <a:lnSpc>
                <a:spcPct val="100000"/>
              </a:lnSpc>
            </a:pPr>
            <a:r>
              <a:rPr lang="en-US" sz="2000" dirty="0"/>
              <a:t>Value to competitors</a:t>
            </a:r>
          </a:p>
          <a:p>
            <a:pPr>
              <a:lnSpc>
                <a:spcPct val="100000"/>
              </a:lnSpc>
            </a:pPr>
            <a:endParaRPr lang="en-US" sz="2000" dirty="0"/>
          </a:p>
        </p:txBody>
      </p:sp>
      <p:sp>
        <p:nvSpPr>
          <p:cNvPr id="4" name="Rectangle 3"/>
          <p:cNvSpPr/>
          <p:nvPr/>
        </p:nvSpPr>
        <p:spPr>
          <a:xfrm>
            <a:off x="6979920" y="1837690"/>
            <a:ext cx="4572000" cy="3816429"/>
          </a:xfrm>
          <a:prstGeom prst="rect">
            <a:avLst/>
          </a:prstGeom>
        </p:spPr>
        <p:txBody>
          <a:bodyPr wrap="square">
            <a:spAutoFit/>
          </a:bodyPr>
          <a:lstStyle/>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Intellectual property or equity value</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Market valuation (sustainable price)</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Replacement cost</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Productivity enhancement or degradation</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Operational costs of asset presence and loss</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Liability of asset loss</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Usefulness</a:t>
            </a:r>
          </a:p>
          <a:p>
            <a:pPr marL="285750" indent="-285750">
              <a:buFont typeface="Arial" panose="020B0604020202020204" pitchFamily="34" charset="0"/>
              <a:buChar char="•"/>
            </a:pPr>
            <a:r>
              <a:rPr lang="en-US" sz="2200" dirty="0">
                <a:latin typeface="Calibri" panose="020F0502020204030204" pitchFamily="34" charset="0"/>
                <a:cs typeface="Calibri" panose="020F0502020204030204" pitchFamily="34" charset="0"/>
              </a:rPr>
              <a:t>Relationship to research and development</a:t>
            </a:r>
          </a:p>
        </p:txBody>
      </p:sp>
    </p:spTree>
    <p:extLst>
      <p:ext uri="{BB962C8B-B14F-4D97-AF65-F5344CB8AC3E}">
        <p14:creationId xmlns:p14="http://schemas.microsoft.com/office/powerpoint/2010/main" val="1656598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Cost/Benefit Analysis of Security Controls</a:t>
            </a:r>
            <a:endParaRPr/>
          </a:p>
        </p:txBody>
      </p:sp>
      <p:sp>
        <p:nvSpPr>
          <p:cNvPr id="169" name="Google Shape;169;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When performing a qualitative risk assessment, additional calculations may be necessary to determine the cost/benefit of security controls</a:t>
            </a:r>
            <a:endParaRPr/>
          </a:p>
          <a:p>
            <a:pPr marL="228600" lvl="0" indent="-228600" algn="l" rtl="0">
              <a:lnSpc>
                <a:spcPct val="90000"/>
              </a:lnSpc>
              <a:spcBef>
                <a:spcPts val="1000"/>
              </a:spcBef>
              <a:spcAft>
                <a:spcPts val="0"/>
              </a:spcAft>
              <a:buClr>
                <a:schemeClr val="dk1"/>
              </a:buClr>
              <a:buSzPts val="2800"/>
              <a:buFont typeface="Arial"/>
              <a:buChar char="•"/>
            </a:pPr>
            <a:r>
              <a:rPr lang="en-US"/>
              <a:t>A cost/benefit analysis involves evaluating the potential loss reduction and benefit potential of each security control for each identified risk</a:t>
            </a:r>
            <a:endParaRPr/>
          </a:p>
          <a:p>
            <a:pPr marL="228600" lvl="0" indent="-228600" algn="l" rtl="0">
              <a:lnSpc>
                <a:spcPct val="90000"/>
              </a:lnSpc>
              <a:spcBef>
                <a:spcPts val="1000"/>
              </a:spcBef>
              <a:spcAft>
                <a:spcPts val="0"/>
              </a:spcAft>
              <a:buClr>
                <a:schemeClr val="dk1"/>
              </a:buClr>
              <a:buSzPts val="2800"/>
              <a:buFont typeface="Arial"/>
              <a:buChar char="•"/>
            </a:pPr>
            <a:r>
              <a:rPr lang="en-US"/>
              <a:t>The goal is to determine which security controls are the most cost-effective in reducing risk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Threats and Vulnerabilities</a:t>
            </a:r>
          </a:p>
        </p:txBody>
      </p:sp>
      <p:sp>
        <p:nvSpPr>
          <p:cNvPr id="3" name="Text Placeholder 2"/>
          <p:cNvSpPr>
            <a:spLocks noGrp="1"/>
          </p:cNvSpPr>
          <p:nvPr>
            <p:ph type="body" idx="1"/>
          </p:nvPr>
        </p:nvSpPr>
        <p:spPr/>
        <p:txBody>
          <a:bodyPr/>
          <a:lstStyle/>
          <a:p>
            <a:r>
              <a:rPr lang="en-US" dirty="0"/>
              <a:t>Crucial part of risk management.</a:t>
            </a:r>
          </a:p>
          <a:p>
            <a:r>
              <a:rPr lang="en-US" dirty="0"/>
              <a:t>Create a comprehensive list of threats for identified assets.</a:t>
            </a:r>
          </a:p>
          <a:p>
            <a:r>
              <a:rPr lang="en-US" dirty="0"/>
              <a:t>Include both threat agents and threat events.</a:t>
            </a:r>
          </a:p>
          <a:p>
            <a:r>
              <a:rPr lang="en-US" dirty="0"/>
              <a:t>Consider threats from diverse sources beyond IT.</a:t>
            </a:r>
          </a:p>
          <a:p>
            <a:endParaRPr lang="en-US" dirty="0"/>
          </a:p>
        </p:txBody>
      </p:sp>
    </p:spTree>
    <p:extLst>
      <p:ext uri="{BB962C8B-B14F-4D97-AF65-F5344CB8AC3E}">
        <p14:creationId xmlns:p14="http://schemas.microsoft.com/office/powerpoint/2010/main" val="288883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Threats and Vulnerabilities</a:t>
            </a:r>
          </a:p>
        </p:txBody>
      </p:sp>
      <p:sp>
        <p:nvSpPr>
          <p:cNvPr id="3" name="Text Placeholder 2"/>
          <p:cNvSpPr>
            <a:spLocks noGrp="1"/>
          </p:cNvSpPr>
          <p:nvPr>
            <p:ph type="body" idx="1"/>
          </p:nvPr>
        </p:nvSpPr>
        <p:spPr/>
        <p:txBody>
          <a:bodyPr>
            <a:normAutofit fontScale="92500" lnSpcReduction="20000"/>
          </a:bodyPr>
          <a:lstStyle/>
          <a:p>
            <a:r>
              <a:rPr lang="en-US" b="1" dirty="0"/>
              <a:t>Team-Based Risk Assessment</a:t>
            </a:r>
            <a:r>
              <a:rPr lang="en-US" dirty="0"/>
              <a:t>:</a:t>
            </a:r>
          </a:p>
          <a:p>
            <a:pPr lvl="1"/>
            <a:r>
              <a:rPr lang="en-US" dirty="0"/>
              <a:t>Typically performed by a team, not an individual.</a:t>
            </a:r>
          </a:p>
          <a:p>
            <a:pPr lvl="1"/>
            <a:r>
              <a:rPr lang="en-US" dirty="0"/>
              <a:t>Team members from various organizational departments.</a:t>
            </a:r>
          </a:p>
          <a:p>
            <a:pPr lvl="1"/>
            <a:r>
              <a:rPr lang="en-US" dirty="0"/>
              <a:t>Diverse team demographics enhance identification and addressing of threats and risks.</a:t>
            </a:r>
          </a:p>
          <a:p>
            <a:r>
              <a:rPr lang="en-US" b="1" dirty="0"/>
              <a:t>Role of Risk Management Consultants</a:t>
            </a:r>
            <a:r>
              <a:rPr lang="en-US" dirty="0"/>
              <a:t>:</a:t>
            </a:r>
          </a:p>
          <a:p>
            <a:pPr lvl="1"/>
            <a:r>
              <a:rPr lang="en-US" dirty="0"/>
              <a:t>Risk assessment is complex and often requires external expertise.</a:t>
            </a:r>
          </a:p>
          <a:p>
            <a:pPr lvl="1"/>
            <a:r>
              <a:rPr lang="en-US" dirty="0"/>
              <a:t>Organizations may hire consultants for:</a:t>
            </a:r>
          </a:p>
          <a:p>
            <a:pPr lvl="2"/>
            <a:r>
              <a:rPr lang="en-US" dirty="0"/>
              <a:t>Expertise in handling large, complex, or high-liability risks.</a:t>
            </a:r>
          </a:p>
          <a:p>
            <a:pPr lvl="2"/>
            <a:r>
              <a:rPr lang="en-US" dirty="0"/>
              <a:t>Reliable measurement of real-world risk.</a:t>
            </a:r>
          </a:p>
          <a:p>
            <a:pPr lvl="1"/>
            <a:r>
              <a:rPr lang="en-US" dirty="0"/>
              <a:t>Consultants use risk assessment software for streamlined and standardized results:</a:t>
            </a:r>
          </a:p>
          <a:p>
            <a:pPr lvl="2"/>
            <a:r>
              <a:rPr lang="en-US" dirty="0"/>
              <a:t>Reduces employee workload.</a:t>
            </a:r>
          </a:p>
          <a:p>
            <a:pPr lvl="2"/>
            <a:r>
              <a:rPr lang="en-US" dirty="0"/>
              <a:t>Produces reports acceptable to stakeholders like insurance companies and boards of directors.</a:t>
            </a:r>
          </a:p>
          <a:p>
            <a:endParaRPr lang="en-US" dirty="0"/>
          </a:p>
        </p:txBody>
      </p:sp>
    </p:spTree>
    <p:extLst>
      <p:ext uri="{BB962C8B-B14F-4D97-AF65-F5344CB8AC3E}">
        <p14:creationId xmlns:p14="http://schemas.microsoft.com/office/powerpoint/2010/main" val="2977108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Assessment/Analysis Responsibilities</a:t>
            </a:r>
          </a:p>
        </p:txBody>
      </p:sp>
      <p:sp>
        <p:nvSpPr>
          <p:cNvPr id="3" name="Text Placeholder 2"/>
          <p:cNvSpPr>
            <a:spLocks noGrp="1"/>
          </p:cNvSpPr>
          <p:nvPr>
            <p:ph type="body" idx="1"/>
          </p:nvPr>
        </p:nvSpPr>
        <p:spPr/>
        <p:txBody>
          <a:bodyPr>
            <a:normAutofit fontScale="85000" lnSpcReduction="20000"/>
          </a:bodyPr>
          <a:lstStyle/>
          <a:p>
            <a:r>
              <a:rPr lang="en-US" b="1" dirty="0"/>
              <a:t>Risk Assessment/Analysis Responsibilities</a:t>
            </a:r>
            <a:r>
              <a:rPr lang="en-US" dirty="0"/>
              <a:t>:</a:t>
            </a:r>
          </a:p>
          <a:p>
            <a:pPr lvl="1"/>
            <a:r>
              <a:rPr lang="en-US" dirty="0"/>
              <a:t>Upper management primarily responsible for risk management.</a:t>
            </a:r>
          </a:p>
          <a:p>
            <a:pPr lvl="1"/>
            <a:r>
              <a:rPr lang="en-US" dirty="0"/>
              <a:t>Task of risk analysis and response modeling assigned to IT and security teams.</a:t>
            </a:r>
          </a:p>
          <a:p>
            <a:pPr lvl="1"/>
            <a:r>
              <a:rPr lang="en-US" dirty="0"/>
              <a:t>Upper management makes final decisions on response implementation.</a:t>
            </a:r>
          </a:p>
          <a:p>
            <a:r>
              <a:rPr lang="en-US" b="1" dirty="0"/>
              <a:t>Upper Management's Role</a:t>
            </a:r>
            <a:r>
              <a:rPr lang="en-US" dirty="0"/>
              <a:t>:</a:t>
            </a:r>
          </a:p>
          <a:p>
            <a:pPr lvl="1"/>
            <a:r>
              <a:rPr lang="en-US" dirty="0"/>
              <a:t>Initiate and support risk analysis and assessment.</a:t>
            </a:r>
          </a:p>
          <a:p>
            <a:pPr lvl="1"/>
            <a:r>
              <a:rPr lang="en-US" dirty="0"/>
              <a:t>Define scope and purpose.</a:t>
            </a:r>
          </a:p>
          <a:p>
            <a:pPr lvl="1"/>
            <a:r>
              <a:rPr lang="en-US" dirty="0"/>
              <a:t>Approve all risk assessments, results, decisions, and outcomes.</a:t>
            </a:r>
          </a:p>
          <a:p>
            <a:pPr lvl="1"/>
            <a:r>
              <a:rPr lang="en-US" dirty="0"/>
              <a:t>Element in providing prudent due care/due diligence.</a:t>
            </a:r>
          </a:p>
          <a:p>
            <a:r>
              <a:rPr lang="en-US" b="1" dirty="0"/>
              <a:t>Acceptable Risk Determination</a:t>
            </a:r>
            <a:r>
              <a:rPr lang="en-US" dirty="0"/>
              <a:t>:</a:t>
            </a:r>
          </a:p>
          <a:p>
            <a:pPr lvl="1"/>
            <a:r>
              <a:rPr lang="en-US" dirty="0"/>
              <a:t>Impossible to eliminate all risks; decisions on acceptable risks required.</a:t>
            </a:r>
          </a:p>
          <a:p>
            <a:pPr lvl="1"/>
            <a:r>
              <a:rPr lang="en-US" dirty="0"/>
              <a:t>Requires detailed asset and risk assessments.</a:t>
            </a:r>
          </a:p>
          <a:p>
            <a:pPr lvl="1"/>
            <a:r>
              <a:rPr lang="en-US" dirty="0"/>
              <a:t>Considers budget, expertise, business conditions, and more.</a:t>
            </a:r>
          </a:p>
          <a:p>
            <a:pPr lvl="1"/>
            <a:r>
              <a:rPr lang="en-US" dirty="0"/>
              <a:t>Risk tolerance varies among organizations.</a:t>
            </a:r>
          </a:p>
          <a:p>
            <a:endParaRPr lang="en-US" dirty="0"/>
          </a:p>
        </p:txBody>
      </p:sp>
    </p:spTree>
    <p:extLst>
      <p:ext uri="{BB962C8B-B14F-4D97-AF65-F5344CB8AC3E}">
        <p14:creationId xmlns:p14="http://schemas.microsoft.com/office/powerpoint/2010/main" val="3488634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Assessment/Analysis Responsibilities</a:t>
            </a:r>
          </a:p>
        </p:txBody>
      </p:sp>
      <p:sp>
        <p:nvSpPr>
          <p:cNvPr id="3" name="Text Placeholder 2"/>
          <p:cNvSpPr>
            <a:spLocks noGrp="1"/>
          </p:cNvSpPr>
          <p:nvPr>
            <p:ph type="body" idx="1"/>
          </p:nvPr>
        </p:nvSpPr>
        <p:spPr/>
        <p:txBody>
          <a:bodyPr>
            <a:normAutofit fontScale="77500" lnSpcReduction="20000"/>
          </a:bodyPr>
          <a:lstStyle/>
          <a:p>
            <a:r>
              <a:rPr lang="en-US" b="1" dirty="0"/>
              <a:t>Quantitative vs. Qualitative Risk Assessment</a:t>
            </a:r>
            <a:r>
              <a:rPr lang="en-US" dirty="0"/>
              <a:t>:</a:t>
            </a:r>
          </a:p>
          <a:p>
            <a:pPr lvl="1"/>
            <a:r>
              <a:rPr lang="en-US" dirty="0"/>
              <a:t>Quantitative: Assigns real dollar figures, mathematical calculations.</a:t>
            </a:r>
          </a:p>
          <a:p>
            <a:pPr lvl="1"/>
            <a:r>
              <a:rPr lang="en-US" dirty="0"/>
              <a:t>Qualitative: Subjective, intangible values, perspectives, feelings, intuition.</a:t>
            </a:r>
          </a:p>
          <a:p>
            <a:pPr lvl="1"/>
            <a:r>
              <a:rPr lang="en-US" dirty="0"/>
              <a:t>Both methods provide a balanced view of organizational risk.</a:t>
            </a:r>
          </a:p>
          <a:p>
            <a:r>
              <a:rPr lang="en-US" b="1" dirty="0"/>
              <a:t>Goal of Risk Assessment</a:t>
            </a:r>
            <a:r>
              <a:rPr lang="en-US" dirty="0"/>
              <a:t>:</a:t>
            </a:r>
          </a:p>
          <a:p>
            <a:pPr lvl="1"/>
            <a:r>
              <a:rPr lang="en-US" dirty="0"/>
              <a:t>Identify and rank risks based on asset-threat pairings.</a:t>
            </a:r>
          </a:p>
          <a:p>
            <a:pPr lvl="1"/>
            <a:r>
              <a:rPr lang="en-US" dirty="0"/>
              <a:t>Prioritize protection efforts from most significant to above the risk acceptance threshold.</a:t>
            </a:r>
          </a:p>
          <a:p>
            <a:r>
              <a:rPr lang="en-US" b="1" dirty="0"/>
              <a:t>Sliding Scale of Risk Assessment Approaches</a:t>
            </a:r>
            <a:r>
              <a:rPr lang="en-US" dirty="0"/>
              <a:t>:</a:t>
            </a:r>
          </a:p>
          <a:p>
            <a:pPr lvl="1"/>
            <a:r>
              <a:rPr lang="en-US" dirty="0"/>
              <a:t>Basic probability versus damage 3×3 matrix for simple qualitative assessment.</a:t>
            </a:r>
          </a:p>
          <a:p>
            <a:pPr lvl="1"/>
            <a:r>
              <a:rPr lang="en-US" dirty="0"/>
              <a:t>5×5 matrix or larger for more detailed qualitative assessment.</a:t>
            </a:r>
          </a:p>
          <a:p>
            <a:pPr lvl="1"/>
            <a:r>
              <a:rPr lang="en-US" dirty="0"/>
              <a:t>Larger matrices require more knowledge, research, and time, shifting toward quantitative.</a:t>
            </a:r>
          </a:p>
          <a:p>
            <a:r>
              <a:rPr lang="en-US" b="1" dirty="0"/>
              <a:t>Combining Qualitative and Quantitative Approaches</a:t>
            </a:r>
            <a:r>
              <a:rPr lang="en-US" dirty="0"/>
              <a:t>:</a:t>
            </a:r>
          </a:p>
          <a:p>
            <a:pPr lvl="1"/>
            <a:r>
              <a:rPr lang="en-US" dirty="0"/>
              <a:t>Qualitative mechanism to determine if quantitative is necessary.</a:t>
            </a:r>
          </a:p>
          <a:p>
            <a:pPr lvl="1"/>
            <a:r>
              <a:rPr lang="en-US" dirty="0"/>
              <a:t>Both approaches can adjust and modify each other; qualitative results fine-tune quantitative priorities.</a:t>
            </a:r>
          </a:p>
          <a:p>
            <a:endParaRPr lang="en-US" dirty="0"/>
          </a:p>
        </p:txBody>
      </p:sp>
    </p:spTree>
    <p:extLst>
      <p:ext uri="{BB962C8B-B14F-4D97-AF65-F5344CB8AC3E}">
        <p14:creationId xmlns:p14="http://schemas.microsoft.com/office/powerpoint/2010/main" val="2467242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Qualitative Risk Analysis</a:t>
            </a:r>
          </a:p>
        </p:txBody>
      </p:sp>
      <p:sp>
        <p:nvSpPr>
          <p:cNvPr id="3" name="Text Placeholder 2"/>
          <p:cNvSpPr>
            <a:spLocks noGrp="1"/>
          </p:cNvSpPr>
          <p:nvPr>
            <p:ph type="body" idx="1"/>
          </p:nvPr>
        </p:nvSpPr>
        <p:spPr>
          <a:xfrm>
            <a:off x="838200" y="1349829"/>
            <a:ext cx="10515600" cy="4827134"/>
          </a:xfrm>
        </p:spPr>
        <p:txBody>
          <a:bodyPr>
            <a:normAutofit fontScale="70000" lnSpcReduction="20000"/>
          </a:bodyPr>
          <a:lstStyle/>
          <a:p>
            <a:r>
              <a:rPr lang="en-US" b="1" dirty="0"/>
              <a:t>Qualitative Risk Analysis Overview</a:t>
            </a:r>
            <a:r>
              <a:rPr lang="en-US" dirty="0"/>
              <a:t>:</a:t>
            </a:r>
          </a:p>
          <a:p>
            <a:pPr lvl="1"/>
            <a:r>
              <a:rPr lang="en-US" dirty="0"/>
              <a:t>Scenario-based approach.</a:t>
            </a:r>
          </a:p>
          <a:p>
            <a:pPr lvl="1"/>
            <a:r>
              <a:rPr lang="en-US" dirty="0"/>
              <a:t>Ranks threats on a relative scale for risk evaluation.</a:t>
            </a:r>
          </a:p>
          <a:p>
            <a:pPr lvl="1"/>
            <a:r>
              <a:rPr lang="en-US" dirty="0"/>
              <a:t>Does not assign exact dollar figures to losses.</a:t>
            </a:r>
          </a:p>
          <a:p>
            <a:r>
              <a:rPr lang="en-US" b="1" dirty="0"/>
              <a:t>Balancing Quantitative and Qualitative Analysis</a:t>
            </a:r>
            <a:r>
              <a:rPr lang="en-US" dirty="0"/>
              <a:t>:</a:t>
            </a:r>
          </a:p>
          <a:p>
            <a:pPr lvl="1"/>
            <a:r>
              <a:rPr lang="en-US" dirty="0"/>
              <a:t>Hybrid assessment combines both methods for a final risk assessment.</a:t>
            </a:r>
          </a:p>
          <a:p>
            <a:r>
              <a:rPr lang="en-US" b="1" dirty="0"/>
              <a:t>Qualitative Risk Analysis Process</a:t>
            </a:r>
            <a:r>
              <a:rPr lang="en-US" dirty="0"/>
              <a:t>:</a:t>
            </a:r>
          </a:p>
          <a:p>
            <a:pPr lvl="1"/>
            <a:r>
              <a:rPr lang="en-US" dirty="0"/>
              <a:t>Involves judgment, intuition, and experience.</a:t>
            </a:r>
          </a:p>
          <a:p>
            <a:pPr lvl="1"/>
            <a:r>
              <a:rPr lang="en-US" dirty="0"/>
              <a:t>Utilizes various techniques:</a:t>
            </a:r>
          </a:p>
          <a:p>
            <a:pPr lvl="2"/>
            <a:r>
              <a:rPr lang="en-US" dirty="0"/>
              <a:t>Brainstorming</a:t>
            </a:r>
          </a:p>
          <a:p>
            <a:pPr lvl="2"/>
            <a:r>
              <a:rPr lang="en-US" dirty="0"/>
              <a:t>Storyboarding</a:t>
            </a:r>
          </a:p>
          <a:p>
            <a:pPr lvl="2"/>
            <a:r>
              <a:rPr lang="en-US" dirty="0"/>
              <a:t>Focus groups</a:t>
            </a:r>
          </a:p>
          <a:p>
            <a:pPr lvl="2"/>
            <a:r>
              <a:rPr lang="en-US" dirty="0"/>
              <a:t>Surveys</a:t>
            </a:r>
          </a:p>
          <a:p>
            <a:pPr lvl="2"/>
            <a:r>
              <a:rPr lang="en-US" dirty="0"/>
              <a:t>Questionnaires</a:t>
            </a:r>
          </a:p>
          <a:p>
            <a:pPr lvl="2"/>
            <a:r>
              <a:rPr lang="en-US" dirty="0"/>
              <a:t>Checklists</a:t>
            </a:r>
          </a:p>
          <a:p>
            <a:pPr lvl="2"/>
            <a:r>
              <a:rPr lang="en-US" dirty="0"/>
              <a:t>One-on-one meetings</a:t>
            </a:r>
          </a:p>
          <a:p>
            <a:pPr lvl="2"/>
            <a:r>
              <a:rPr lang="en-US" dirty="0"/>
              <a:t>Interviews</a:t>
            </a:r>
          </a:p>
          <a:p>
            <a:pPr lvl="2"/>
            <a:r>
              <a:rPr lang="en-US" dirty="0"/>
              <a:t>Scenarios</a:t>
            </a:r>
          </a:p>
          <a:p>
            <a:pPr lvl="2"/>
            <a:r>
              <a:rPr lang="en-US" dirty="0"/>
              <a:t>Delphi technique</a:t>
            </a:r>
          </a:p>
          <a:p>
            <a:endParaRPr lang="en-US" dirty="0"/>
          </a:p>
        </p:txBody>
      </p:sp>
    </p:spTree>
    <p:extLst>
      <p:ext uri="{BB962C8B-B14F-4D97-AF65-F5344CB8AC3E}">
        <p14:creationId xmlns:p14="http://schemas.microsoft.com/office/powerpoint/2010/main" val="36834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Qualitative Risk Analysis</a:t>
            </a:r>
          </a:p>
        </p:txBody>
      </p:sp>
      <p:sp>
        <p:nvSpPr>
          <p:cNvPr id="3" name="Text Placeholder 2"/>
          <p:cNvSpPr>
            <a:spLocks noGrp="1"/>
          </p:cNvSpPr>
          <p:nvPr>
            <p:ph type="body" idx="1"/>
          </p:nvPr>
        </p:nvSpPr>
        <p:spPr/>
        <p:txBody>
          <a:bodyPr>
            <a:normAutofit/>
          </a:bodyPr>
          <a:lstStyle/>
          <a:p>
            <a:r>
              <a:rPr lang="en-US" b="1" dirty="0"/>
              <a:t>Selection of Techniques</a:t>
            </a:r>
            <a:r>
              <a:rPr lang="en-US" dirty="0"/>
              <a:t>:</a:t>
            </a:r>
          </a:p>
          <a:p>
            <a:pPr lvl="1"/>
            <a:r>
              <a:rPr lang="en-US" dirty="0"/>
              <a:t>Based on organizational culture, risk types, and assets.</a:t>
            </a:r>
          </a:p>
          <a:p>
            <a:pPr lvl="1"/>
            <a:r>
              <a:rPr lang="en-US" dirty="0"/>
              <a:t>Common to employ multiple methods simultaneously.</a:t>
            </a:r>
          </a:p>
          <a:p>
            <a:r>
              <a:rPr lang="en-US" b="1" dirty="0"/>
              <a:t>Key Techniques to Note</a:t>
            </a:r>
            <a:r>
              <a:rPr lang="en-US" dirty="0"/>
              <a:t>:</a:t>
            </a:r>
          </a:p>
          <a:p>
            <a:pPr lvl="1"/>
            <a:r>
              <a:rPr lang="en-US" dirty="0"/>
              <a:t>Scenarios: Create and analyze hypothetical situations.</a:t>
            </a:r>
          </a:p>
          <a:p>
            <a:pPr lvl="1"/>
            <a:r>
              <a:rPr lang="en-US" dirty="0"/>
              <a:t>Delphi Technique: Expert consensus-based method.</a:t>
            </a:r>
          </a:p>
          <a:p>
            <a:r>
              <a:rPr lang="en-US" b="1" dirty="0"/>
              <a:t>Integration into Risk Analysis Report</a:t>
            </a:r>
            <a:r>
              <a:rPr lang="en-US" dirty="0"/>
              <a:t>:</a:t>
            </a:r>
          </a:p>
          <a:p>
            <a:pPr lvl="1"/>
            <a:r>
              <a:rPr lang="en-US" dirty="0"/>
              <a:t>Results from various techniques compared and contrasted.</a:t>
            </a:r>
          </a:p>
          <a:p>
            <a:pPr lvl="1"/>
            <a:r>
              <a:rPr lang="en-US" dirty="0"/>
              <a:t>Included in the final risk analysis report submitted to upper management.</a:t>
            </a:r>
          </a:p>
          <a:p>
            <a:endParaRPr lang="en-US" dirty="0"/>
          </a:p>
        </p:txBody>
      </p:sp>
    </p:spTree>
    <p:extLst>
      <p:ext uri="{BB962C8B-B14F-4D97-AF65-F5344CB8AC3E}">
        <p14:creationId xmlns:p14="http://schemas.microsoft.com/office/powerpoint/2010/main" val="3389442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a:t>
            </a:r>
          </a:p>
        </p:txBody>
      </p:sp>
      <p:sp>
        <p:nvSpPr>
          <p:cNvPr id="3" name="Text Placeholder 2"/>
          <p:cNvSpPr>
            <a:spLocks noGrp="1"/>
          </p:cNvSpPr>
          <p:nvPr>
            <p:ph type="body" idx="1"/>
          </p:nvPr>
        </p:nvSpPr>
        <p:spPr/>
        <p:txBody>
          <a:bodyPr>
            <a:normAutofit lnSpcReduction="10000"/>
          </a:bodyPr>
          <a:lstStyle/>
          <a:p>
            <a:r>
              <a:rPr lang="en-US" b="1" dirty="0"/>
              <a:t>Scenarios in Risk Analysis</a:t>
            </a:r>
            <a:r>
              <a:rPr lang="en-US" dirty="0"/>
              <a:t>:</a:t>
            </a:r>
          </a:p>
          <a:p>
            <a:pPr lvl="1"/>
            <a:r>
              <a:rPr lang="en-US" dirty="0"/>
              <a:t>Scenarios create a written description of a significant threat.</a:t>
            </a:r>
          </a:p>
          <a:p>
            <a:pPr lvl="1"/>
            <a:r>
              <a:rPr lang="en-US" dirty="0"/>
              <a:t>Focus on how the threat would occur and its potential effects on the organization, IT infrastructure, and assets.</a:t>
            </a:r>
          </a:p>
          <a:p>
            <a:pPr lvl="1"/>
            <a:r>
              <a:rPr lang="en-US" dirty="0"/>
              <a:t>Scenarios are typically limited to one page for manageability.</a:t>
            </a:r>
          </a:p>
          <a:p>
            <a:r>
              <a:rPr lang="en-US" b="1" dirty="0"/>
              <a:t>Components of Scenario Analysis</a:t>
            </a:r>
            <a:r>
              <a:rPr lang="en-US" dirty="0"/>
              <a:t>:</a:t>
            </a:r>
          </a:p>
          <a:p>
            <a:pPr lvl="1"/>
            <a:r>
              <a:rPr lang="en-US" dirty="0"/>
              <a:t>Describe safeguards that would protect against the major threat.</a:t>
            </a:r>
          </a:p>
          <a:p>
            <a:pPr lvl="1"/>
            <a:r>
              <a:rPr lang="en-US" dirty="0"/>
              <a:t>Assign threat level, loss potential, and advantages of each safeguard.</a:t>
            </a:r>
          </a:p>
          <a:p>
            <a:pPr lvl="2"/>
            <a:r>
              <a:rPr lang="en-US" dirty="0"/>
              <a:t>Assignments can be simple (e.g., High, Medium, Low) or on a numeric scale (e.g., 1 to 10).</a:t>
            </a:r>
          </a:p>
          <a:p>
            <a:pPr lvl="1"/>
            <a:r>
              <a:rPr lang="en-US" dirty="0"/>
              <a:t>Compile responses into a single report for presentation to upper management.</a:t>
            </a:r>
          </a:p>
          <a:p>
            <a:endParaRPr lang="en-US" dirty="0"/>
          </a:p>
        </p:txBody>
      </p:sp>
    </p:spTree>
    <p:extLst>
      <p:ext uri="{BB962C8B-B14F-4D97-AF65-F5344CB8AC3E}">
        <p14:creationId xmlns:p14="http://schemas.microsoft.com/office/powerpoint/2010/main" val="2952835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a:t>
            </a:r>
          </a:p>
        </p:txBody>
      </p:sp>
      <p:sp>
        <p:nvSpPr>
          <p:cNvPr id="3" name="Text Placeholder 2"/>
          <p:cNvSpPr>
            <a:spLocks noGrp="1"/>
          </p:cNvSpPr>
          <p:nvPr>
            <p:ph type="body" idx="1"/>
          </p:nvPr>
        </p:nvSpPr>
        <p:spPr/>
        <p:txBody>
          <a:bodyPr>
            <a:normAutofit/>
          </a:bodyPr>
          <a:lstStyle/>
          <a:p>
            <a:r>
              <a:rPr lang="en-US" b="1" dirty="0"/>
              <a:t>Improving Qualitative Risk Analysis</a:t>
            </a:r>
            <a:r>
              <a:rPr lang="en-US" dirty="0"/>
              <a:t>:</a:t>
            </a:r>
          </a:p>
          <a:p>
            <a:pPr lvl="1"/>
            <a:r>
              <a:rPr lang="en-US" dirty="0"/>
              <a:t>Enhanced by increasing the number and diversity of participants.</a:t>
            </a:r>
          </a:p>
          <a:p>
            <a:pPr lvl="1"/>
            <a:r>
              <a:rPr lang="en-US" dirty="0"/>
              <a:t>Include individuals from various organizational levels (upper management to end users).</a:t>
            </a:r>
          </a:p>
          <a:p>
            <a:pPr lvl="1"/>
            <a:r>
              <a:rPr lang="en-US" dirty="0"/>
              <a:t>Involve representatives from major departments, divisions, offices, or branches.</a:t>
            </a:r>
          </a:p>
          <a:p>
            <a:endParaRPr lang="en-US" dirty="0"/>
          </a:p>
        </p:txBody>
      </p:sp>
    </p:spTree>
    <p:extLst>
      <p:ext uri="{BB962C8B-B14F-4D97-AF65-F5344CB8AC3E}">
        <p14:creationId xmlns:p14="http://schemas.microsoft.com/office/powerpoint/2010/main" val="1069674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Delphi Technique</a:t>
            </a:r>
          </a:p>
        </p:txBody>
      </p:sp>
      <p:sp>
        <p:nvSpPr>
          <p:cNvPr id="3" name="Text Placeholder 2"/>
          <p:cNvSpPr>
            <a:spLocks noGrp="1"/>
          </p:cNvSpPr>
          <p:nvPr>
            <p:ph type="body" idx="1"/>
          </p:nvPr>
        </p:nvSpPr>
        <p:spPr/>
        <p:txBody>
          <a:bodyPr>
            <a:normAutofit fontScale="85000" lnSpcReduction="20000"/>
          </a:bodyPr>
          <a:lstStyle/>
          <a:p>
            <a:r>
              <a:rPr lang="en-US" b="1" dirty="0"/>
              <a:t>Delphi Technique</a:t>
            </a:r>
            <a:r>
              <a:rPr lang="en-US" dirty="0"/>
              <a:t>:</a:t>
            </a:r>
          </a:p>
          <a:p>
            <a:pPr lvl="1"/>
            <a:r>
              <a:rPr lang="en-US" dirty="0"/>
              <a:t>Anonymous feedback-and-response process.</a:t>
            </a:r>
          </a:p>
          <a:p>
            <a:pPr lvl="1"/>
            <a:r>
              <a:rPr lang="en-US" dirty="0"/>
              <a:t>Aims to achieve anonymous consensus within a group.</a:t>
            </a:r>
          </a:p>
          <a:p>
            <a:pPr lvl="1"/>
            <a:r>
              <a:rPr lang="en-US" dirty="0"/>
              <a:t>Designed to elicit honest and uninfluenced responses from participants.</a:t>
            </a:r>
          </a:p>
          <a:p>
            <a:r>
              <a:rPr lang="en-US" b="1" dirty="0"/>
              <a:t>Process</a:t>
            </a:r>
            <a:r>
              <a:rPr lang="en-US" dirty="0"/>
              <a:t>:</a:t>
            </a:r>
          </a:p>
          <a:p>
            <a:pPr lvl="1"/>
            <a:r>
              <a:rPr lang="en-US" dirty="0"/>
              <a:t>Participants gathered in a single meeting room.</a:t>
            </a:r>
          </a:p>
          <a:p>
            <a:pPr lvl="1"/>
            <a:r>
              <a:rPr lang="en-US" dirty="0"/>
              <a:t>Each participant provides feedback anonymously, either on paper or through digital messaging.</a:t>
            </a:r>
          </a:p>
          <a:p>
            <a:pPr lvl="1"/>
            <a:r>
              <a:rPr lang="en-US" dirty="0"/>
              <a:t>Results compiled and presented to the group for evaluation.</a:t>
            </a:r>
          </a:p>
          <a:p>
            <a:pPr lvl="1"/>
            <a:r>
              <a:rPr lang="en-US" dirty="0"/>
              <a:t>Process repeated until a consensus is reached.</a:t>
            </a:r>
          </a:p>
          <a:p>
            <a:r>
              <a:rPr lang="en-US" b="1" dirty="0"/>
              <a:t>Purpose of Delphi Technique</a:t>
            </a:r>
            <a:r>
              <a:rPr lang="en-US" dirty="0"/>
              <a:t>:</a:t>
            </a:r>
          </a:p>
          <a:p>
            <a:pPr lvl="1"/>
            <a:r>
              <a:rPr lang="en-US" dirty="0"/>
              <a:t>Facilitate the evaluation of ideas, concepts, and solutions on their own merit.</a:t>
            </a:r>
          </a:p>
          <a:p>
            <a:pPr lvl="1"/>
            <a:r>
              <a:rPr lang="en-US" dirty="0"/>
              <a:t>Avoid discrimination based on the source of the idea.</a:t>
            </a:r>
          </a:p>
          <a:p>
            <a:pPr lvl="1"/>
            <a:r>
              <a:rPr lang="en-US" dirty="0"/>
              <a:t>Promotes unbiased and objective decision-making.</a:t>
            </a:r>
          </a:p>
        </p:txBody>
      </p:sp>
    </p:spTree>
    <p:extLst>
      <p:ext uri="{BB962C8B-B14F-4D97-AF65-F5344CB8AC3E}">
        <p14:creationId xmlns:p14="http://schemas.microsoft.com/office/powerpoint/2010/main" val="3799096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Quantitative Risk Analysis</a:t>
            </a:r>
          </a:p>
        </p:txBody>
      </p:sp>
      <p:sp>
        <p:nvSpPr>
          <p:cNvPr id="3" name="Text Placeholder 2"/>
          <p:cNvSpPr>
            <a:spLocks noGrp="1"/>
          </p:cNvSpPr>
          <p:nvPr>
            <p:ph type="body" idx="1"/>
          </p:nvPr>
        </p:nvSpPr>
        <p:spPr/>
        <p:txBody>
          <a:bodyPr>
            <a:normAutofit fontScale="62500" lnSpcReduction="20000"/>
          </a:bodyPr>
          <a:lstStyle/>
          <a:p>
            <a:r>
              <a:rPr lang="en-US" b="1" dirty="0"/>
              <a:t>Quantitative Risk Analysis Overview</a:t>
            </a:r>
            <a:r>
              <a:rPr lang="en-US" dirty="0"/>
              <a:t>:</a:t>
            </a:r>
          </a:p>
          <a:p>
            <a:pPr lvl="1"/>
            <a:r>
              <a:rPr lang="en-US" dirty="0"/>
              <a:t>Provides concrete probability indications and numeric risk assessments.</a:t>
            </a:r>
          </a:p>
          <a:p>
            <a:pPr lvl="1"/>
            <a:r>
              <a:rPr lang="en-US" dirty="0"/>
              <a:t>Results in reports with dollar figures for risk levels, potential loss, countermeasure cost, and safeguard value.</a:t>
            </a:r>
          </a:p>
          <a:p>
            <a:pPr lvl="1"/>
            <a:r>
              <a:rPr lang="en-US" dirty="0"/>
              <a:t>Easily understood, especially for those familiar with spreadsheets and budgets.</a:t>
            </a:r>
          </a:p>
          <a:p>
            <a:r>
              <a:rPr lang="en-US" b="1" dirty="0"/>
              <a:t>Quantitative Analysis Definition</a:t>
            </a:r>
            <a:r>
              <a:rPr lang="en-US" dirty="0"/>
              <a:t>:</a:t>
            </a:r>
          </a:p>
          <a:p>
            <a:pPr lvl="1"/>
            <a:r>
              <a:rPr lang="en-US" dirty="0"/>
              <a:t>Assigns a quantity to risk, placing a dollar figure on asset and threat impacts.</a:t>
            </a:r>
          </a:p>
          <a:p>
            <a:pPr lvl="1"/>
            <a:r>
              <a:rPr lang="en-US" dirty="0"/>
              <a:t>Combines asset valuation and threat identification.</a:t>
            </a:r>
          </a:p>
          <a:p>
            <a:pPr lvl="1"/>
            <a:r>
              <a:rPr lang="en-US" dirty="0"/>
              <a:t>Calculates harm potential/severity and frequency/likelihood for asset-threat pairings.</a:t>
            </a:r>
          </a:p>
          <a:p>
            <a:pPr lvl="1"/>
            <a:r>
              <a:rPr lang="en-US" dirty="0"/>
              <a:t>Uses cost functions to evaluate safeguards.</a:t>
            </a:r>
          </a:p>
          <a:p>
            <a:r>
              <a:rPr lang="en-US" b="1" dirty="0"/>
              <a:t>Major Steps in Quantitative Risk Analysis</a:t>
            </a:r>
            <a:r>
              <a:rPr lang="en-US" dirty="0"/>
              <a:t>:</a:t>
            </a:r>
          </a:p>
          <a:p>
            <a:pPr lvl="1"/>
            <a:r>
              <a:rPr lang="en-US" dirty="0"/>
              <a:t>Inventory assets and assign asset value (AV).</a:t>
            </a:r>
          </a:p>
          <a:p>
            <a:pPr lvl="1"/>
            <a:r>
              <a:rPr lang="en-US" dirty="0"/>
              <a:t>Research assets, list possible threats, and create asset-threat pairings.</a:t>
            </a:r>
          </a:p>
          <a:p>
            <a:pPr lvl="1"/>
            <a:r>
              <a:rPr lang="en-US" dirty="0"/>
              <a:t>Calculate exposure factor (EF) for each asset-threat pairing.</a:t>
            </a:r>
          </a:p>
          <a:p>
            <a:pPr lvl="1"/>
            <a:r>
              <a:rPr lang="en-US" dirty="0"/>
              <a:t>Compute single loss expectancy (SLE) for each asset-threat pairing.</a:t>
            </a:r>
          </a:p>
          <a:p>
            <a:pPr lvl="1"/>
            <a:r>
              <a:rPr lang="en-US" dirty="0"/>
              <a:t>Determine annualized rate of occurrence (ARO) through threat analysis.</a:t>
            </a:r>
          </a:p>
          <a:p>
            <a:pPr lvl="1"/>
            <a:r>
              <a:rPr lang="en-US" dirty="0"/>
              <a:t>Derive annualized loss expectancy (ALE) per threat.</a:t>
            </a:r>
          </a:p>
          <a:p>
            <a:pPr lvl="1"/>
            <a:r>
              <a:rPr lang="en-US" dirty="0"/>
              <a:t>Research countermeasures, adjust ARO, EF, and ALE based on applied countermeasure.</a:t>
            </a:r>
          </a:p>
          <a:p>
            <a:pPr lvl="1"/>
            <a:r>
              <a:rPr lang="en-US" dirty="0"/>
              <a:t>Perform cost/benefit analysis for countermeasures and select appropriate responses.</a:t>
            </a:r>
          </a:p>
        </p:txBody>
      </p:sp>
    </p:spTree>
    <p:extLst>
      <p:ext uri="{BB962C8B-B14F-4D97-AF65-F5344CB8AC3E}">
        <p14:creationId xmlns:p14="http://schemas.microsoft.com/office/powerpoint/2010/main" val="3748971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Quantitative Risk Analysis</a:t>
            </a:r>
          </a:p>
        </p:txBody>
      </p:sp>
      <p:sp>
        <p:nvSpPr>
          <p:cNvPr id="3" name="Text Placeholder 2"/>
          <p:cNvSpPr>
            <a:spLocks noGrp="1"/>
          </p:cNvSpPr>
          <p:nvPr>
            <p:ph type="body" idx="1"/>
          </p:nvPr>
        </p:nvSpPr>
        <p:spPr/>
        <p:txBody>
          <a:bodyPr>
            <a:normAutofit fontScale="85000" lnSpcReduction="20000"/>
          </a:bodyPr>
          <a:lstStyle/>
          <a:p>
            <a:r>
              <a:rPr lang="en-US" b="1" dirty="0"/>
              <a:t>Cost Functions in Quantitative Risk Analysis</a:t>
            </a:r>
            <a:r>
              <a:rPr lang="en-US" dirty="0"/>
              <a:t>:</a:t>
            </a:r>
          </a:p>
          <a:p>
            <a:pPr lvl="1"/>
            <a:r>
              <a:rPr lang="en-US" b="1" dirty="0"/>
              <a:t>Exposure Factor (EF)</a:t>
            </a:r>
            <a:r>
              <a:rPr lang="en-US" dirty="0"/>
              <a:t>:</a:t>
            </a:r>
          </a:p>
          <a:p>
            <a:pPr lvl="2"/>
            <a:r>
              <a:rPr lang="en-US" dirty="0"/>
              <a:t>Represents percentage of potential loss due to a single realized risk.</a:t>
            </a:r>
          </a:p>
          <a:p>
            <a:pPr lvl="2"/>
            <a:r>
              <a:rPr lang="en-US" dirty="0"/>
              <a:t>Indicates expected overall asset value loss.</a:t>
            </a:r>
          </a:p>
          <a:p>
            <a:pPr lvl="1"/>
            <a:r>
              <a:rPr lang="en-US" b="1" dirty="0"/>
              <a:t>Single Loss Expectancy (SLE)</a:t>
            </a:r>
            <a:r>
              <a:rPr lang="en-US" dirty="0"/>
              <a:t>:</a:t>
            </a:r>
          </a:p>
          <a:p>
            <a:pPr lvl="2"/>
            <a:r>
              <a:rPr lang="en-US" dirty="0"/>
              <a:t>Potential loss from a single realized threat against a specific asset.</a:t>
            </a:r>
          </a:p>
          <a:p>
            <a:pPr lvl="2"/>
            <a:r>
              <a:rPr lang="en-US" dirty="0"/>
              <a:t>Calculated as SLE = AV * EF.</a:t>
            </a:r>
          </a:p>
          <a:p>
            <a:pPr lvl="1"/>
            <a:r>
              <a:rPr lang="en-US" b="1" dirty="0"/>
              <a:t>Annualized Rate of Occurrence (ARO)</a:t>
            </a:r>
            <a:r>
              <a:rPr lang="en-US" dirty="0"/>
              <a:t>:</a:t>
            </a:r>
          </a:p>
          <a:p>
            <a:pPr lvl="2"/>
            <a:r>
              <a:rPr lang="en-US" dirty="0"/>
              <a:t>Expected frequency of a specific threat or risk within a year.</a:t>
            </a:r>
          </a:p>
          <a:p>
            <a:pPr lvl="1"/>
            <a:r>
              <a:rPr lang="en-US" b="1" dirty="0"/>
              <a:t>Annualized Loss Expectancy (ALE)</a:t>
            </a:r>
            <a:r>
              <a:rPr lang="en-US" dirty="0"/>
              <a:t>:</a:t>
            </a:r>
          </a:p>
          <a:p>
            <a:pPr lvl="2"/>
            <a:r>
              <a:rPr lang="en-US" dirty="0"/>
              <a:t>Possible yearly loss from all instances of a specific realized threat against an asset.</a:t>
            </a:r>
          </a:p>
          <a:p>
            <a:pPr lvl="2"/>
            <a:r>
              <a:rPr lang="en-US" dirty="0"/>
              <a:t>Calculated as ALE = SLE * ARO.</a:t>
            </a:r>
          </a:p>
          <a:p>
            <a:r>
              <a:rPr lang="en-US" b="1" dirty="0"/>
              <a:t>ALE Prioritization</a:t>
            </a:r>
            <a:r>
              <a:rPr lang="en-US" dirty="0"/>
              <a:t>:</a:t>
            </a:r>
          </a:p>
          <a:p>
            <a:pPr lvl="1"/>
            <a:r>
              <a:rPr lang="en-US" dirty="0"/>
              <a:t>ALE values are sorted from largest to smallest.</a:t>
            </a:r>
          </a:p>
          <a:p>
            <a:pPr lvl="1"/>
            <a:r>
              <a:rPr lang="en-US" dirty="0"/>
              <a:t>Largest ALE represents the most critical risk to address in risk response.</a:t>
            </a:r>
          </a:p>
        </p:txBody>
      </p:sp>
    </p:spTree>
    <p:extLst>
      <p:ext uri="{BB962C8B-B14F-4D97-AF65-F5344CB8AC3E}">
        <p14:creationId xmlns:p14="http://schemas.microsoft.com/office/powerpoint/2010/main" val="1380460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Quantitative Risk Analysis</a:t>
            </a:r>
          </a:p>
        </p:txBody>
      </p:sp>
      <p:sp>
        <p:nvSpPr>
          <p:cNvPr id="3" name="Text Placeholder 2"/>
          <p:cNvSpPr>
            <a:spLocks noGrp="1"/>
          </p:cNvSpPr>
          <p:nvPr>
            <p:ph type="body" idx="1"/>
          </p:nvPr>
        </p:nvSpPr>
        <p:spPr/>
        <p:txBody>
          <a:bodyPr>
            <a:normAutofit fontScale="70000" lnSpcReduction="20000"/>
          </a:bodyPr>
          <a:lstStyle/>
          <a:p>
            <a:r>
              <a:rPr lang="en-US" b="1" dirty="0"/>
              <a:t>Benefits and Disadvantages of Quantitative Risk Analysis</a:t>
            </a:r>
            <a:r>
              <a:rPr lang="en-US" dirty="0"/>
              <a:t>:</a:t>
            </a:r>
          </a:p>
          <a:p>
            <a:pPr lvl="1"/>
            <a:r>
              <a:rPr lang="en-US" b="1" dirty="0"/>
              <a:t>Benefits</a:t>
            </a:r>
            <a:r>
              <a:rPr lang="en-US" dirty="0"/>
              <a:t>:</a:t>
            </a:r>
          </a:p>
          <a:p>
            <a:pPr lvl="2"/>
            <a:r>
              <a:rPr lang="en-US" dirty="0"/>
              <a:t>Employs math functions.</a:t>
            </a:r>
          </a:p>
          <a:p>
            <a:pPr lvl="2"/>
            <a:r>
              <a:rPr lang="en-US" dirty="0"/>
              <a:t>Uses cost/benefit analysis.</a:t>
            </a:r>
          </a:p>
          <a:p>
            <a:pPr lvl="2"/>
            <a:r>
              <a:rPr lang="en-US" dirty="0"/>
              <a:t>Supports automation.</a:t>
            </a:r>
          </a:p>
          <a:p>
            <a:pPr lvl="2"/>
            <a:r>
              <a:rPr lang="en-US" dirty="0"/>
              <a:t>Provides objective results.</a:t>
            </a:r>
          </a:p>
          <a:p>
            <a:pPr lvl="2"/>
            <a:r>
              <a:rPr lang="en-US" dirty="0"/>
              <a:t>Requires less reliance on opinions.</a:t>
            </a:r>
          </a:p>
          <a:p>
            <a:pPr lvl="2"/>
            <a:r>
              <a:rPr lang="en-US" dirty="0"/>
              <a:t>Offers meaningful results.</a:t>
            </a:r>
          </a:p>
          <a:p>
            <a:pPr lvl="1"/>
            <a:r>
              <a:rPr lang="en-US" b="1" dirty="0"/>
              <a:t>Disadvantages</a:t>
            </a:r>
            <a:r>
              <a:rPr lang="en-US" dirty="0"/>
              <a:t>:</a:t>
            </a:r>
          </a:p>
          <a:p>
            <a:pPr lvl="2"/>
            <a:r>
              <a:rPr lang="en-US" dirty="0"/>
              <a:t>Requires estimation for some aspects.</a:t>
            </a:r>
          </a:p>
          <a:p>
            <a:pPr lvl="2"/>
            <a:r>
              <a:rPr lang="en-US" dirty="0"/>
              <a:t>Involves a high volume of information.</a:t>
            </a:r>
          </a:p>
          <a:p>
            <a:pPr lvl="2"/>
            <a:r>
              <a:rPr lang="en-US" dirty="0"/>
              <a:t>Demands significant time and effort.</a:t>
            </a:r>
          </a:p>
          <a:p>
            <a:r>
              <a:rPr lang="en-US" b="1" dirty="0"/>
              <a:t>Balancing Risk Analysis Techniques</a:t>
            </a:r>
            <a:r>
              <a:rPr lang="en-US" dirty="0"/>
              <a:t>:</a:t>
            </a:r>
          </a:p>
          <a:p>
            <a:pPr lvl="1"/>
            <a:r>
              <a:rPr lang="en-US" dirty="0"/>
              <a:t>Prudent due care necessitates the use of both quantitative and qualitative methods for a balanced perspective on risk.</a:t>
            </a:r>
          </a:p>
          <a:p>
            <a:r>
              <a:rPr lang="en-US" b="1" dirty="0"/>
              <a:t>Shift to Risk Response</a:t>
            </a:r>
            <a:r>
              <a:rPr lang="en-US" dirty="0"/>
              <a:t>:</a:t>
            </a:r>
          </a:p>
          <a:p>
            <a:pPr lvl="1"/>
            <a:r>
              <a:rPr lang="en-US" dirty="0"/>
              <a:t>After risk assessment, the process shifts to risk response to determine the best defense for identified risks.</a:t>
            </a:r>
          </a:p>
          <a:p>
            <a:endParaRPr lang="en-US" dirty="0"/>
          </a:p>
        </p:txBody>
      </p:sp>
    </p:spTree>
    <p:extLst>
      <p:ext uri="{BB962C8B-B14F-4D97-AF65-F5344CB8AC3E}">
        <p14:creationId xmlns:p14="http://schemas.microsoft.com/office/powerpoint/2010/main" val="96333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36520" y="108054"/>
            <a:ext cx="7094220" cy="6570876"/>
          </a:xfrm>
          <a:prstGeom prst="rect">
            <a:avLst/>
          </a:prstGeom>
        </p:spPr>
      </p:pic>
    </p:spTree>
    <p:extLst>
      <p:ext uri="{BB962C8B-B14F-4D97-AF65-F5344CB8AC3E}">
        <p14:creationId xmlns:p14="http://schemas.microsoft.com/office/powerpoint/2010/main" val="496007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aphicFrame>
        <p:nvGraphicFramePr>
          <p:cNvPr id="192" name="Google Shape;192;p17"/>
          <p:cNvGraphicFramePr/>
          <p:nvPr/>
        </p:nvGraphicFramePr>
        <p:xfrm>
          <a:off x="643467" y="1183277"/>
          <a:ext cx="10905075" cy="4491525"/>
        </p:xfrm>
        <a:graphic>
          <a:graphicData uri="http://schemas.openxmlformats.org/drawingml/2006/table">
            <a:tbl>
              <a:tblPr firstRow="1" firstCol="1" bandRow="1">
                <a:noFill/>
              </a:tblPr>
              <a:tblGrid>
                <a:gridCol w="5504350">
                  <a:extLst>
                    <a:ext uri="{9D8B030D-6E8A-4147-A177-3AD203B41FA5}">
                      <a16:colId xmlns:a16="http://schemas.microsoft.com/office/drawing/2014/main" val="20000"/>
                    </a:ext>
                  </a:extLst>
                </a:gridCol>
                <a:gridCol w="5400725">
                  <a:extLst>
                    <a:ext uri="{9D8B030D-6E8A-4147-A177-3AD203B41FA5}">
                      <a16:colId xmlns:a16="http://schemas.microsoft.com/office/drawing/2014/main" val="20001"/>
                    </a:ext>
                  </a:extLst>
                </a:gridCol>
              </a:tblGrid>
              <a:tr h="526900">
                <a:tc>
                  <a:txBody>
                    <a:bodyPr/>
                    <a:lstStyle/>
                    <a:p>
                      <a:pPr marL="0" marR="0" lvl="0" indent="0" algn="just" rtl="0">
                        <a:lnSpc>
                          <a:spcPct val="60000"/>
                        </a:lnSpc>
                        <a:spcBef>
                          <a:spcPts val="0"/>
                        </a:spcBef>
                        <a:spcAft>
                          <a:spcPts val="0"/>
                        </a:spcAft>
                        <a:buNone/>
                      </a:pPr>
                      <a:r>
                        <a:rPr lang="en-US" sz="2000" u="none" strike="noStrike" cap="none"/>
                        <a:t>Concept</a:t>
                      </a:r>
                      <a:endParaRPr sz="2000" u="none" strike="noStrike" cap="none">
                        <a:latin typeface="Georgia"/>
                        <a:ea typeface="Georgia"/>
                        <a:cs typeface="Georgia"/>
                        <a:sym typeface="Georgia"/>
                      </a:endParaRPr>
                    </a:p>
                  </a:txBody>
                  <a:tcPr marL="184225" marR="184225" marT="92125" marB="92125" anchor="ctr"/>
                </a:tc>
                <a:tc>
                  <a:txBody>
                    <a:bodyPr/>
                    <a:lstStyle/>
                    <a:p>
                      <a:pPr marL="0" marR="0" lvl="0" indent="0" algn="just" rtl="0">
                        <a:lnSpc>
                          <a:spcPct val="60000"/>
                        </a:lnSpc>
                        <a:spcBef>
                          <a:spcPts val="0"/>
                        </a:spcBef>
                        <a:spcAft>
                          <a:spcPts val="0"/>
                        </a:spcAft>
                        <a:buNone/>
                      </a:pPr>
                      <a:r>
                        <a:rPr lang="en-US" sz="2000" u="none" strike="noStrike" cap="none"/>
                        <a:t>Formula or meaning</a:t>
                      </a:r>
                      <a:endParaRPr sz="2000" u="none" strike="noStrike" cap="none">
                        <a:latin typeface="Georgia"/>
                        <a:ea typeface="Georgia"/>
                        <a:cs typeface="Georgia"/>
                        <a:sym typeface="Georgia"/>
                      </a:endParaRPr>
                    </a:p>
                  </a:txBody>
                  <a:tcPr marL="184225" marR="184225" marT="92125" marB="92125" anchor="ctr"/>
                </a:tc>
                <a:extLst>
                  <a:ext uri="{0D108BD9-81ED-4DB2-BD59-A6C34878D82A}">
                    <a16:rowId xmlns:a16="http://schemas.microsoft.com/office/drawing/2014/main" val="10000"/>
                  </a:ext>
                </a:extLst>
              </a:tr>
              <a:tr h="526900">
                <a:tc>
                  <a:txBody>
                    <a:bodyPr/>
                    <a:lstStyle/>
                    <a:p>
                      <a:pPr marL="0" marR="0" lvl="0" indent="0" algn="just" rtl="0">
                        <a:lnSpc>
                          <a:spcPct val="60000"/>
                        </a:lnSpc>
                        <a:spcBef>
                          <a:spcPts val="0"/>
                        </a:spcBef>
                        <a:spcAft>
                          <a:spcPts val="0"/>
                        </a:spcAft>
                        <a:buNone/>
                      </a:pPr>
                      <a:r>
                        <a:rPr lang="en-US" sz="2000" u="none" strike="noStrike" cap="none"/>
                        <a:t>Asset value (AV)</a:t>
                      </a:r>
                      <a:endParaRPr sz="2000" u="none" strike="noStrike" cap="none">
                        <a:latin typeface="Georgia"/>
                        <a:ea typeface="Georgia"/>
                        <a:cs typeface="Georgia"/>
                        <a:sym typeface="Georgia"/>
                      </a:endParaRPr>
                    </a:p>
                  </a:txBody>
                  <a:tcPr marL="184225" marR="184225" marT="92125" marB="92125" anchor="ctr"/>
                </a:tc>
                <a:tc>
                  <a:txBody>
                    <a:bodyPr/>
                    <a:lstStyle/>
                    <a:p>
                      <a:pPr marL="0" marR="0" lvl="0" indent="0" algn="l" rtl="0">
                        <a:spcBef>
                          <a:spcPts val="0"/>
                        </a:spcBef>
                        <a:spcAft>
                          <a:spcPts val="0"/>
                        </a:spcAft>
                        <a:buNone/>
                      </a:pPr>
                      <a:endParaRPr sz="1800"/>
                    </a:p>
                  </a:txBody>
                  <a:tcPr marL="184225" marR="184225" marT="92125" marB="92125" anchor="ctr"/>
                </a:tc>
                <a:extLst>
                  <a:ext uri="{0D108BD9-81ED-4DB2-BD59-A6C34878D82A}">
                    <a16:rowId xmlns:a16="http://schemas.microsoft.com/office/drawing/2014/main" val="10001"/>
                  </a:ext>
                </a:extLst>
              </a:tr>
              <a:tr h="526900">
                <a:tc>
                  <a:txBody>
                    <a:bodyPr/>
                    <a:lstStyle/>
                    <a:p>
                      <a:pPr marL="0" marR="0" lvl="0" indent="0" algn="just" rtl="0">
                        <a:lnSpc>
                          <a:spcPct val="60000"/>
                        </a:lnSpc>
                        <a:spcBef>
                          <a:spcPts val="0"/>
                        </a:spcBef>
                        <a:spcAft>
                          <a:spcPts val="0"/>
                        </a:spcAft>
                        <a:buNone/>
                      </a:pPr>
                      <a:r>
                        <a:rPr lang="en-US" sz="2000"/>
                        <a:t>Exposure factor (EF)</a:t>
                      </a:r>
                      <a:endParaRPr sz="2000">
                        <a:latin typeface="Georgia"/>
                        <a:ea typeface="Georgia"/>
                        <a:cs typeface="Georgia"/>
                        <a:sym typeface="Georgia"/>
                      </a:endParaRPr>
                    </a:p>
                  </a:txBody>
                  <a:tcPr marL="184225" marR="184225" marT="92125" marB="92125" anchor="ctr"/>
                </a:tc>
                <a:tc>
                  <a:txBody>
                    <a:bodyPr/>
                    <a:lstStyle/>
                    <a:p>
                      <a:pPr marL="0" marR="0" lvl="0" indent="0" algn="l" rtl="0">
                        <a:spcBef>
                          <a:spcPts val="0"/>
                        </a:spcBef>
                        <a:spcAft>
                          <a:spcPts val="0"/>
                        </a:spcAft>
                        <a:buNone/>
                      </a:pPr>
                      <a:endParaRPr sz="1800"/>
                    </a:p>
                  </a:txBody>
                  <a:tcPr marL="184225" marR="184225" marT="92125" marB="92125" anchor="ctr"/>
                </a:tc>
                <a:extLst>
                  <a:ext uri="{0D108BD9-81ED-4DB2-BD59-A6C34878D82A}">
                    <a16:rowId xmlns:a16="http://schemas.microsoft.com/office/drawing/2014/main" val="10002"/>
                  </a:ext>
                </a:extLst>
              </a:tr>
              <a:tr h="526900">
                <a:tc>
                  <a:txBody>
                    <a:bodyPr/>
                    <a:lstStyle/>
                    <a:p>
                      <a:pPr marL="0" marR="0" lvl="0" indent="0" algn="just" rtl="0">
                        <a:lnSpc>
                          <a:spcPct val="60000"/>
                        </a:lnSpc>
                        <a:spcBef>
                          <a:spcPts val="0"/>
                        </a:spcBef>
                        <a:spcAft>
                          <a:spcPts val="0"/>
                        </a:spcAft>
                        <a:buNone/>
                      </a:pPr>
                      <a:r>
                        <a:rPr lang="en-US" sz="2000"/>
                        <a:t>Single loss expectancy (SLE)</a:t>
                      </a:r>
                      <a:endParaRPr sz="2000">
                        <a:latin typeface="Georgia"/>
                        <a:ea typeface="Georgia"/>
                        <a:cs typeface="Georgia"/>
                        <a:sym typeface="Georgia"/>
                      </a:endParaRPr>
                    </a:p>
                  </a:txBody>
                  <a:tcPr marL="184225" marR="184225" marT="92125" marB="92125" anchor="ctr"/>
                </a:tc>
                <a:tc>
                  <a:txBody>
                    <a:bodyPr/>
                    <a:lstStyle/>
                    <a:p>
                      <a:pPr marL="0" marR="0" lvl="0" indent="0" algn="l" rtl="0">
                        <a:spcBef>
                          <a:spcPts val="0"/>
                        </a:spcBef>
                        <a:spcAft>
                          <a:spcPts val="0"/>
                        </a:spcAft>
                        <a:buNone/>
                      </a:pPr>
                      <a:endParaRPr sz="1800"/>
                    </a:p>
                  </a:txBody>
                  <a:tcPr marL="184225" marR="184225" marT="92125" marB="92125" anchor="ctr"/>
                </a:tc>
                <a:extLst>
                  <a:ext uri="{0D108BD9-81ED-4DB2-BD59-A6C34878D82A}">
                    <a16:rowId xmlns:a16="http://schemas.microsoft.com/office/drawing/2014/main" val="10003"/>
                  </a:ext>
                </a:extLst>
              </a:tr>
              <a:tr h="526900">
                <a:tc>
                  <a:txBody>
                    <a:bodyPr/>
                    <a:lstStyle/>
                    <a:p>
                      <a:pPr marL="0" marR="0" lvl="0" indent="0" algn="just" rtl="0">
                        <a:lnSpc>
                          <a:spcPct val="60000"/>
                        </a:lnSpc>
                        <a:spcBef>
                          <a:spcPts val="0"/>
                        </a:spcBef>
                        <a:spcAft>
                          <a:spcPts val="0"/>
                        </a:spcAft>
                        <a:buNone/>
                      </a:pPr>
                      <a:r>
                        <a:rPr lang="en-US" sz="2000"/>
                        <a:t>Annualized rate of occurrence (ARO)</a:t>
                      </a:r>
                      <a:endParaRPr sz="2000">
                        <a:latin typeface="Georgia"/>
                        <a:ea typeface="Georgia"/>
                        <a:cs typeface="Georgia"/>
                        <a:sym typeface="Georgia"/>
                      </a:endParaRPr>
                    </a:p>
                  </a:txBody>
                  <a:tcPr marL="184225" marR="184225" marT="92125" marB="92125" anchor="ctr"/>
                </a:tc>
                <a:tc>
                  <a:txBody>
                    <a:bodyPr/>
                    <a:lstStyle/>
                    <a:p>
                      <a:pPr marL="0" marR="0" lvl="0" indent="0" algn="l" rtl="0">
                        <a:spcBef>
                          <a:spcPts val="0"/>
                        </a:spcBef>
                        <a:spcAft>
                          <a:spcPts val="0"/>
                        </a:spcAft>
                        <a:buNone/>
                      </a:pPr>
                      <a:endParaRPr sz="1800"/>
                    </a:p>
                  </a:txBody>
                  <a:tcPr marL="184225" marR="184225" marT="92125" marB="92125" anchor="ctr"/>
                </a:tc>
                <a:extLst>
                  <a:ext uri="{0D108BD9-81ED-4DB2-BD59-A6C34878D82A}">
                    <a16:rowId xmlns:a16="http://schemas.microsoft.com/office/drawing/2014/main" val="10004"/>
                  </a:ext>
                </a:extLst>
              </a:tr>
              <a:tr h="526900">
                <a:tc>
                  <a:txBody>
                    <a:bodyPr/>
                    <a:lstStyle/>
                    <a:p>
                      <a:pPr marL="0" marR="0" lvl="0" indent="0" algn="just" rtl="0">
                        <a:lnSpc>
                          <a:spcPct val="60000"/>
                        </a:lnSpc>
                        <a:spcBef>
                          <a:spcPts val="0"/>
                        </a:spcBef>
                        <a:spcAft>
                          <a:spcPts val="0"/>
                        </a:spcAft>
                        <a:buNone/>
                      </a:pPr>
                      <a:r>
                        <a:rPr lang="en-US" sz="2000"/>
                        <a:t>Annualized loss expectancy (ALE)</a:t>
                      </a:r>
                      <a:endParaRPr sz="2000">
                        <a:latin typeface="Georgia"/>
                        <a:ea typeface="Georgia"/>
                        <a:cs typeface="Georgia"/>
                        <a:sym typeface="Georgia"/>
                      </a:endParaRPr>
                    </a:p>
                  </a:txBody>
                  <a:tcPr marL="184225" marR="184225" marT="92125" marB="92125" anchor="ctr"/>
                </a:tc>
                <a:tc>
                  <a:txBody>
                    <a:bodyPr/>
                    <a:lstStyle/>
                    <a:p>
                      <a:pPr marL="0" marR="0" lvl="0" indent="0" algn="just" rtl="0">
                        <a:lnSpc>
                          <a:spcPct val="60000"/>
                        </a:lnSpc>
                        <a:spcBef>
                          <a:spcPts val="0"/>
                        </a:spcBef>
                        <a:spcAft>
                          <a:spcPts val="0"/>
                        </a:spcAft>
                        <a:buNone/>
                      </a:pPr>
                      <a:r>
                        <a:rPr lang="en-US" sz="2000"/>
                        <a:t>ALE = SLE * ARO or ALE = AV * EF * ARO</a:t>
                      </a:r>
                      <a:endParaRPr sz="2000">
                        <a:latin typeface="Georgia"/>
                        <a:ea typeface="Georgia"/>
                        <a:cs typeface="Georgia"/>
                        <a:sym typeface="Georgia"/>
                      </a:endParaRPr>
                    </a:p>
                  </a:txBody>
                  <a:tcPr marL="184225" marR="184225" marT="92125" marB="92125" anchor="ctr"/>
                </a:tc>
                <a:extLst>
                  <a:ext uri="{0D108BD9-81ED-4DB2-BD59-A6C34878D82A}">
                    <a16:rowId xmlns:a16="http://schemas.microsoft.com/office/drawing/2014/main" val="10005"/>
                  </a:ext>
                </a:extLst>
              </a:tr>
              <a:tr h="526900">
                <a:tc>
                  <a:txBody>
                    <a:bodyPr/>
                    <a:lstStyle/>
                    <a:p>
                      <a:pPr marL="0" marR="0" lvl="0" indent="0" algn="just" rtl="0">
                        <a:lnSpc>
                          <a:spcPct val="60000"/>
                        </a:lnSpc>
                        <a:spcBef>
                          <a:spcPts val="0"/>
                        </a:spcBef>
                        <a:spcAft>
                          <a:spcPts val="0"/>
                        </a:spcAft>
                        <a:buNone/>
                      </a:pPr>
                      <a:r>
                        <a:rPr lang="en-US" sz="2000"/>
                        <a:t>Annual cost of the safeguard (ACS)</a:t>
                      </a:r>
                      <a:endParaRPr sz="2000">
                        <a:latin typeface="Georgia"/>
                        <a:ea typeface="Georgia"/>
                        <a:cs typeface="Georgia"/>
                        <a:sym typeface="Georgia"/>
                      </a:endParaRPr>
                    </a:p>
                  </a:txBody>
                  <a:tcPr marL="184225" marR="184225" marT="92125" marB="92125" anchor="ctr"/>
                </a:tc>
                <a:tc>
                  <a:txBody>
                    <a:bodyPr/>
                    <a:lstStyle/>
                    <a:p>
                      <a:pPr marL="0" marR="0" lvl="0" indent="0" algn="l" rtl="0">
                        <a:spcBef>
                          <a:spcPts val="0"/>
                        </a:spcBef>
                        <a:spcAft>
                          <a:spcPts val="0"/>
                        </a:spcAft>
                        <a:buNone/>
                      </a:pPr>
                      <a:endParaRPr sz="1800"/>
                    </a:p>
                  </a:txBody>
                  <a:tcPr marL="184225" marR="184225" marT="92125" marB="92125" anchor="ctr"/>
                </a:tc>
                <a:extLst>
                  <a:ext uri="{0D108BD9-81ED-4DB2-BD59-A6C34878D82A}">
                    <a16:rowId xmlns:a16="http://schemas.microsoft.com/office/drawing/2014/main" val="10006"/>
                  </a:ext>
                </a:extLst>
              </a:tr>
              <a:tr h="803225">
                <a:tc>
                  <a:txBody>
                    <a:bodyPr/>
                    <a:lstStyle/>
                    <a:p>
                      <a:pPr marL="0" marR="0" lvl="0" indent="0" algn="just" rtl="0">
                        <a:lnSpc>
                          <a:spcPct val="60000"/>
                        </a:lnSpc>
                        <a:spcBef>
                          <a:spcPts val="0"/>
                        </a:spcBef>
                        <a:spcAft>
                          <a:spcPts val="0"/>
                        </a:spcAft>
                        <a:buNone/>
                      </a:pPr>
                      <a:r>
                        <a:rPr lang="en-US" sz="2000"/>
                        <a:t>Value or benefit of a safeguard (i.e., cost/benefit equation)</a:t>
                      </a:r>
                      <a:endParaRPr sz="2000">
                        <a:latin typeface="Georgia"/>
                        <a:ea typeface="Georgia"/>
                        <a:cs typeface="Georgia"/>
                        <a:sym typeface="Georgia"/>
                      </a:endParaRPr>
                    </a:p>
                  </a:txBody>
                  <a:tcPr marL="184225" marR="184225" marT="92125" marB="92125" anchor="ctr"/>
                </a:tc>
                <a:tc>
                  <a:txBody>
                    <a:bodyPr/>
                    <a:lstStyle/>
                    <a:p>
                      <a:pPr marL="0" marR="0" lvl="0" indent="0" algn="just" rtl="0">
                        <a:lnSpc>
                          <a:spcPct val="60000"/>
                        </a:lnSpc>
                        <a:spcBef>
                          <a:spcPts val="0"/>
                        </a:spcBef>
                        <a:spcAft>
                          <a:spcPts val="0"/>
                        </a:spcAft>
                        <a:buNone/>
                      </a:pPr>
                      <a:r>
                        <a:rPr lang="en-US" sz="2000"/>
                        <a:t>(ALE1 -ALE2) -ACS</a:t>
                      </a:r>
                      <a:endParaRPr sz="2000">
                        <a:latin typeface="Georgia"/>
                        <a:ea typeface="Georgia"/>
                        <a:cs typeface="Georgia"/>
                        <a:sym typeface="Georgia"/>
                      </a:endParaRPr>
                    </a:p>
                  </a:txBody>
                  <a:tcPr marL="184225" marR="184225" marT="92125" marB="92125"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Responses</a:t>
            </a:r>
          </a:p>
        </p:txBody>
      </p:sp>
      <p:sp>
        <p:nvSpPr>
          <p:cNvPr id="3" name="Text Placeholder 2"/>
          <p:cNvSpPr>
            <a:spLocks noGrp="1"/>
          </p:cNvSpPr>
          <p:nvPr>
            <p:ph type="body" idx="1"/>
          </p:nvPr>
        </p:nvSpPr>
        <p:spPr>
          <a:xfrm>
            <a:off x="838200" y="1404257"/>
            <a:ext cx="10515600" cy="4772706"/>
          </a:xfrm>
        </p:spPr>
        <p:txBody>
          <a:bodyPr>
            <a:normAutofit fontScale="70000" lnSpcReduction="20000"/>
          </a:bodyPr>
          <a:lstStyle/>
          <a:p>
            <a:r>
              <a:rPr lang="en-US" b="1" dirty="0"/>
              <a:t>Risk Responses Overview</a:t>
            </a:r>
            <a:r>
              <a:rPr lang="en-US" dirty="0"/>
              <a:t>:</a:t>
            </a:r>
          </a:p>
          <a:p>
            <a:pPr lvl="1"/>
            <a:r>
              <a:rPr lang="en-US" dirty="0"/>
              <a:t>Risk responses apply to both quantitative and qualitative risk assessments.</a:t>
            </a:r>
          </a:p>
          <a:p>
            <a:pPr lvl="1"/>
            <a:r>
              <a:rPr lang="en-US" dirty="0"/>
              <a:t>Management must address each specific risk with one of several responses:</a:t>
            </a:r>
          </a:p>
          <a:p>
            <a:pPr lvl="2"/>
            <a:r>
              <a:rPr lang="en-US" dirty="0"/>
              <a:t>Mitigation or reduction</a:t>
            </a:r>
          </a:p>
          <a:p>
            <a:pPr lvl="2"/>
            <a:r>
              <a:rPr lang="en-US" dirty="0"/>
              <a:t>Assignment or transfer</a:t>
            </a:r>
          </a:p>
          <a:p>
            <a:pPr lvl="2"/>
            <a:r>
              <a:rPr lang="en-US" dirty="0"/>
              <a:t>Deterrence</a:t>
            </a:r>
          </a:p>
          <a:p>
            <a:pPr lvl="2"/>
            <a:r>
              <a:rPr lang="en-US" dirty="0"/>
              <a:t>Avoidance</a:t>
            </a:r>
          </a:p>
          <a:p>
            <a:pPr lvl="2"/>
            <a:r>
              <a:rPr lang="en-US" dirty="0"/>
              <a:t>Acceptance</a:t>
            </a:r>
          </a:p>
          <a:p>
            <a:pPr lvl="2"/>
            <a:r>
              <a:rPr lang="en-US" dirty="0"/>
              <a:t>Reject or ignore</a:t>
            </a:r>
          </a:p>
          <a:p>
            <a:r>
              <a:rPr lang="en-US" b="1" dirty="0"/>
              <a:t>Risk Appetite and Risk Tolerance</a:t>
            </a:r>
            <a:r>
              <a:rPr lang="en-US" dirty="0"/>
              <a:t>:</a:t>
            </a:r>
          </a:p>
          <a:p>
            <a:pPr lvl="1"/>
            <a:r>
              <a:rPr lang="en-US" b="1" dirty="0"/>
              <a:t>Risk Appetite</a:t>
            </a:r>
            <a:r>
              <a:rPr lang="en-US" dirty="0"/>
              <a:t>:</a:t>
            </a:r>
          </a:p>
          <a:p>
            <a:pPr lvl="2"/>
            <a:r>
              <a:rPr lang="en-US" dirty="0"/>
              <a:t>Total amount of risk an organization is willing to bear across all assets.</a:t>
            </a:r>
          </a:p>
          <a:p>
            <a:pPr lvl="1"/>
            <a:r>
              <a:rPr lang="en-US" b="1" dirty="0"/>
              <a:t>Risk Capacity</a:t>
            </a:r>
            <a:r>
              <a:rPr lang="en-US" dirty="0"/>
              <a:t>:</a:t>
            </a:r>
          </a:p>
          <a:p>
            <a:pPr lvl="2"/>
            <a:r>
              <a:rPr lang="en-US" dirty="0"/>
              <a:t>The level of risk an organization can bear.</a:t>
            </a:r>
          </a:p>
          <a:p>
            <a:pPr lvl="1"/>
            <a:r>
              <a:rPr lang="en-US" b="1" dirty="0"/>
              <a:t>Risk Tolerance</a:t>
            </a:r>
            <a:r>
              <a:rPr lang="en-US" dirty="0"/>
              <a:t>:</a:t>
            </a:r>
          </a:p>
          <a:p>
            <a:pPr lvl="2"/>
            <a:r>
              <a:rPr lang="en-US" dirty="0"/>
              <a:t>Amount or level of risk accepted per individual asset-threat pair.</a:t>
            </a:r>
          </a:p>
          <a:p>
            <a:pPr lvl="1"/>
            <a:r>
              <a:rPr lang="en-US" b="1" dirty="0"/>
              <a:t>Risk Target</a:t>
            </a:r>
            <a:r>
              <a:rPr lang="en-US" dirty="0"/>
              <a:t>:</a:t>
            </a:r>
          </a:p>
          <a:p>
            <a:pPr lvl="2"/>
            <a:r>
              <a:rPr lang="en-US" dirty="0"/>
              <a:t>Preferred risk level for a specific asset-threat pairing.</a:t>
            </a:r>
          </a:p>
          <a:p>
            <a:pPr lvl="1"/>
            <a:r>
              <a:rPr lang="en-US" b="1" dirty="0"/>
              <a:t>Risk Limit</a:t>
            </a:r>
            <a:r>
              <a:rPr lang="en-US" dirty="0"/>
              <a:t>:</a:t>
            </a:r>
          </a:p>
          <a:p>
            <a:pPr lvl="2"/>
            <a:r>
              <a:rPr lang="en-US" dirty="0"/>
              <a:t>Maximum tolerated risk level above the risk target before further risk management actions are taken.</a:t>
            </a:r>
          </a:p>
        </p:txBody>
      </p:sp>
    </p:spTree>
    <p:extLst>
      <p:ext uri="{BB962C8B-B14F-4D97-AF65-F5344CB8AC3E}">
        <p14:creationId xmlns:p14="http://schemas.microsoft.com/office/powerpoint/2010/main" val="971830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Responses</a:t>
            </a:r>
          </a:p>
        </p:txBody>
      </p:sp>
      <p:sp>
        <p:nvSpPr>
          <p:cNvPr id="3" name="Text Placeholder 2"/>
          <p:cNvSpPr>
            <a:spLocks noGrp="1"/>
          </p:cNvSpPr>
          <p:nvPr>
            <p:ph type="body" idx="1"/>
          </p:nvPr>
        </p:nvSpPr>
        <p:spPr/>
        <p:txBody>
          <a:bodyPr>
            <a:normAutofit fontScale="62500" lnSpcReduction="20000"/>
          </a:bodyPr>
          <a:lstStyle/>
          <a:p>
            <a:r>
              <a:rPr lang="en-US" b="1" dirty="0"/>
              <a:t>Possible Risk Responses</a:t>
            </a:r>
            <a:r>
              <a:rPr lang="en-US" dirty="0"/>
              <a:t>:</a:t>
            </a:r>
          </a:p>
          <a:p>
            <a:pPr lvl="1"/>
            <a:r>
              <a:rPr lang="en-US" b="1" dirty="0"/>
              <a:t>Risk Mitigation</a:t>
            </a:r>
            <a:r>
              <a:rPr lang="en-US" dirty="0"/>
              <a:t>:</a:t>
            </a:r>
          </a:p>
          <a:p>
            <a:pPr lvl="2"/>
            <a:r>
              <a:rPr lang="en-US" dirty="0"/>
              <a:t>Reducing risk through safeguards, security controls, and countermeasures.</a:t>
            </a:r>
          </a:p>
          <a:p>
            <a:pPr lvl="1"/>
            <a:r>
              <a:rPr lang="en-US" b="1" dirty="0"/>
              <a:t>Risk Assignment</a:t>
            </a:r>
            <a:r>
              <a:rPr lang="en-US" dirty="0"/>
              <a:t>:</a:t>
            </a:r>
          </a:p>
          <a:p>
            <a:pPr lvl="2"/>
            <a:r>
              <a:rPr lang="en-US" dirty="0"/>
              <a:t>Transferring responsibility for loss due to risk to another entity or organization.</a:t>
            </a:r>
          </a:p>
          <a:p>
            <a:pPr lvl="1"/>
            <a:r>
              <a:rPr lang="en-US" b="1" dirty="0"/>
              <a:t>Risk Deterrence</a:t>
            </a:r>
            <a:r>
              <a:rPr lang="en-US" dirty="0"/>
              <a:t>:</a:t>
            </a:r>
          </a:p>
          <a:p>
            <a:pPr lvl="2"/>
            <a:r>
              <a:rPr lang="en-US" dirty="0"/>
              <a:t>Implementing deterrents to discourage security violations.</a:t>
            </a:r>
          </a:p>
          <a:p>
            <a:pPr lvl="1"/>
            <a:r>
              <a:rPr lang="en-US" b="1" dirty="0"/>
              <a:t>Risk Avoidance</a:t>
            </a:r>
            <a:r>
              <a:rPr lang="en-US" dirty="0"/>
              <a:t>:</a:t>
            </a:r>
          </a:p>
          <a:p>
            <a:pPr lvl="2"/>
            <a:r>
              <a:rPr lang="en-US" dirty="0"/>
              <a:t>Selecting alternative options or activities with lower associated risk.</a:t>
            </a:r>
          </a:p>
          <a:p>
            <a:pPr lvl="1"/>
            <a:r>
              <a:rPr lang="en-US" b="1" dirty="0"/>
              <a:t>Risk Acceptance</a:t>
            </a:r>
            <a:r>
              <a:rPr lang="en-US" dirty="0"/>
              <a:t>:</a:t>
            </a:r>
          </a:p>
          <a:p>
            <a:pPr lvl="2"/>
            <a:r>
              <a:rPr lang="en-US" dirty="0"/>
              <a:t>Result after cost/benefit analysis justifies not implementing safeguards.</a:t>
            </a:r>
          </a:p>
          <a:p>
            <a:pPr lvl="2"/>
            <a:r>
              <a:rPr lang="en-US" dirty="0"/>
              <a:t>Requires a clear written statement.</a:t>
            </a:r>
          </a:p>
          <a:p>
            <a:pPr lvl="1"/>
            <a:r>
              <a:rPr lang="en-US" b="1" dirty="0"/>
              <a:t>Risk Rejection</a:t>
            </a:r>
            <a:r>
              <a:rPr lang="en-US" dirty="0"/>
              <a:t>:</a:t>
            </a:r>
          </a:p>
          <a:p>
            <a:pPr lvl="2"/>
            <a:r>
              <a:rPr lang="en-US" dirty="0"/>
              <a:t>An unacceptable response involving denial or neglect of risk.</a:t>
            </a:r>
          </a:p>
          <a:p>
            <a:r>
              <a:rPr lang="en-US" b="1" dirty="0"/>
              <a:t>Legal and Compliance</a:t>
            </a:r>
            <a:r>
              <a:rPr lang="en-US" dirty="0"/>
              <a:t>:</a:t>
            </a:r>
          </a:p>
          <a:p>
            <a:pPr lvl="1"/>
            <a:r>
              <a:rPr lang="en-US" dirty="0"/>
              <a:t>Organizations must verify legal and compliance aspects in their operations.</a:t>
            </a:r>
          </a:p>
          <a:p>
            <a:pPr lvl="1"/>
            <a:r>
              <a:rPr lang="en-US" dirty="0"/>
              <a:t>Auditing for compliance testing is essential.</a:t>
            </a:r>
          </a:p>
          <a:p>
            <a:pPr lvl="1"/>
            <a:r>
              <a:rPr lang="en-US" dirty="0"/>
              <a:t>Compliance testing ensures adherence to laws, regulations, contracts, and policies.</a:t>
            </a:r>
          </a:p>
        </p:txBody>
      </p:sp>
    </p:spTree>
    <p:extLst>
      <p:ext uri="{BB962C8B-B14F-4D97-AF65-F5344CB8AC3E}">
        <p14:creationId xmlns:p14="http://schemas.microsoft.com/office/powerpoint/2010/main" val="2384370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Responses</a:t>
            </a:r>
          </a:p>
        </p:txBody>
      </p:sp>
      <p:sp>
        <p:nvSpPr>
          <p:cNvPr id="3" name="Text Placeholder 2"/>
          <p:cNvSpPr>
            <a:spLocks noGrp="1"/>
          </p:cNvSpPr>
          <p:nvPr>
            <p:ph type="body" idx="1"/>
          </p:nvPr>
        </p:nvSpPr>
        <p:spPr/>
        <p:txBody>
          <a:bodyPr>
            <a:normAutofit/>
          </a:bodyPr>
          <a:lstStyle/>
          <a:p>
            <a:r>
              <a:rPr lang="en-US" b="1" dirty="0"/>
              <a:t>Continual Risk Management</a:t>
            </a:r>
            <a:r>
              <a:rPr lang="en-US" dirty="0"/>
              <a:t>:</a:t>
            </a:r>
          </a:p>
          <a:p>
            <a:pPr lvl="1"/>
            <a:r>
              <a:rPr lang="en-US" dirty="0"/>
              <a:t>Risk management is not a one-time process but requires ongoing maintenance and improvement.</a:t>
            </a:r>
          </a:p>
          <a:p>
            <a:pPr lvl="1"/>
            <a:r>
              <a:rPr lang="en-US" dirty="0"/>
              <a:t>Repeating risk assessment and response processes is essential.</a:t>
            </a:r>
          </a:p>
          <a:p>
            <a:pPr lvl="1"/>
            <a:r>
              <a:rPr lang="en-US" dirty="0"/>
              <a:t>Periodic reassessment is needed to adapt to changes and maintain security.</a:t>
            </a:r>
          </a:p>
          <a:p>
            <a:r>
              <a:rPr lang="en-US" b="1" dirty="0"/>
              <a:t>Control Risk</a:t>
            </a:r>
            <a:r>
              <a:rPr lang="en-US" dirty="0"/>
              <a:t>:</a:t>
            </a:r>
          </a:p>
          <a:p>
            <a:pPr lvl="1"/>
            <a:r>
              <a:rPr lang="en-US" dirty="0"/>
              <a:t>Risk introduced by implementing countermeasures.</a:t>
            </a:r>
          </a:p>
          <a:p>
            <a:pPr lvl="1"/>
            <a:r>
              <a:rPr lang="en-US" dirty="0"/>
              <a:t>Countermeasures may introduce new vulnerabilities.</a:t>
            </a:r>
          </a:p>
          <a:p>
            <a:pPr lvl="1"/>
            <a:r>
              <a:rPr lang="en-US" dirty="0"/>
              <a:t>Risk assessment and response must be iterative for continuous improvements.</a:t>
            </a:r>
          </a:p>
          <a:p>
            <a:endParaRPr lang="en-US" dirty="0"/>
          </a:p>
        </p:txBody>
      </p:sp>
    </p:spTree>
    <p:extLst>
      <p:ext uri="{BB962C8B-B14F-4D97-AF65-F5344CB8AC3E}">
        <p14:creationId xmlns:p14="http://schemas.microsoft.com/office/powerpoint/2010/main" val="1173827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vs. Benefit of Security Controls</a:t>
            </a:r>
          </a:p>
        </p:txBody>
      </p:sp>
      <p:sp>
        <p:nvSpPr>
          <p:cNvPr id="3" name="Text Placeholder 2"/>
          <p:cNvSpPr>
            <a:spLocks noGrp="1"/>
          </p:cNvSpPr>
          <p:nvPr>
            <p:ph type="body" idx="1"/>
          </p:nvPr>
        </p:nvSpPr>
        <p:spPr/>
        <p:txBody>
          <a:bodyPr>
            <a:normAutofit/>
          </a:bodyPr>
          <a:lstStyle/>
          <a:p>
            <a:r>
              <a:rPr lang="en-US" b="1" dirty="0"/>
              <a:t>Cost vs. Benefit of Security Controls Overview</a:t>
            </a:r>
            <a:r>
              <a:rPr lang="en-US" dirty="0"/>
              <a:t>:</a:t>
            </a:r>
          </a:p>
          <a:p>
            <a:pPr lvl="1"/>
            <a:r>
              <a:rPr lang="en-US" dirty="0"/>
              <a:t>Qualitative risk assessments involve additional calculations for cost/benefit analysis.</a:t>
            </a:r>
          </a:p>
          <a:p>
            <a:pPr lvl="1"/>
            <a:r>
              <a:rPr lang="en-US" dirty="0"/>
              <a:t>Evaluate safeguards based on potential loss reduction and benefits.</a:t>
            </a:r>
          </a:p>
          <a:p>
            <a:r>
              <a:rPr lang="en-US" b="1" dirty="0"/>
              <a:t>Cost/Benefit Evaluation of Safeguards</a:t>
            </a:r>
            <a:r>
              <a:rPr lang="en-US" dirty="0"/>
              <a:t>:</a:t>
            </a:r>
          </a:p>
          <a:p>
            <a:pPr lvl="1"/>
            <a:r>
              <a:rPr lang="en-US" dirty="0"/>
              <a:t>For each asset-threat pairing (risk):</a:t>
            </a:r>
          </a:p>
          <a:p>
            <a:pPr lvl="2"/>
            <a:r>
              <a:rPr lang="en-US" dirty="0"/>
              <a:t>Create an inventory of potential safeguards.</a:t>
            </a:r>
          </a:p>
          <a:p>
            <a:pPr lvl="2"/>
            <a:r>
              <a:rPr lang="en-US" dirty="0"/>
              <a:t>Evaluate their cost relative to benefits (cost/benefit evaluation).</a:t>
            </a:r>
          </a:p>
          <a:p>
            <a:pPr lvl="1"/>
            <a:r>
              <a:rPr lang="en-US" dirty="0"/>
              <a:t>Safeguards can reduce the Annualized Rate of Occurrence (ARO) and/or Exposure Factor (EF).</a:t>
            </a:r>
          </a:p>
        </p:txBody>
      </p:sp>
    </p:spTree>
    <p:extLst>
      <p:ext uri="{BB962C8B-B14F-4D97-AF65-F5344CB8AC3E}">
        <p14:creationId xmlns:p14="http://schemas.microsoft.com/office/powerpoint/2010/main" val="82066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vs. Benefit of Security Controls</a:t>
            </a:r>
          </a:p>
        </p:txBody>
      </p:sp>
      <p:sp>
        <p:nvSpPr>
          <p:cNvPr id="3" name="Text Placeholder 2"/>
          <p:cNvSpPr>
            <a:spLocks noGrp="1"/>
          </p:cNvSpPr>
          <p:nvPr>
            <p:ph type="body" idx="1"/>
          </p:nvPr>
        </p:nvSpPr>
        <p:spPr/>
        <p:txBody>
          <a:bodyPr>
            <a:normAutofit/>
          </a:bodyPr>
          <a:lstStyle/>
          <a:p>
            <a:r>
              <a:rPr lang="en-US" b="1" dirty="0"/>
              <a:t>Determining Annual Cost of the Safeguard (ACS)</a:t>
            </a:r>
            <a:r>
              <a:rPr lang="en-US" dirty="0"/>
              <a:t>:</a:t>
            </a:r>
          </a:p>
          <a:p>
            <a:pPr lvl="1"/>
            <a:r>
              <a:rPr lang="en-US" dirty="0"/>
              <a:t>ACS is the yearly cost of the safeguard's presence.</a:t>
            </a:r>
          </a:p>
          <a:p>
            <a:pPr lvl="1"/>
            <a:r>
              <a:rPr lang="en-US" dirty="0"/>
              <a:t>Factors affecting ACS include purchase, development, licensing, implementation, maintenance, repairs, and more.</a:t>
            </a:r>
          </a:p>
          <a:p>
            <a:r>
              <a:rPr lang="en-US" b="1" dirty="0"/>
              <a:t>Cost-Effectiveness</a:t>
            </a:r>
            <a:r>
              <a:rPr lang="en-US" dirty="0"/>
              <a:t>:</a:t>
            </a:r>
          </a:p>
          <a:p>
            <a:pPr lvl="1"/>
            <a:r>
              <a:rPr lang="en-US" dirty="0"/>
              <a:t>Security measures should not cost more than the asset's value.</a:t>
            </a:r>
          </a:p>
          <a:p>
            <a:pPr lvl="1"/>
            <a:r>
              <a:rPr lang="en-US" dirty="0"/>
              <a:t>ACS should not exceed ALE1 (potential annual loss).</a:t>
            </a:r>
          </a:p>
          <a:p>
            <a:pPr lvl="1"/>
            <a:r>
              <a:rPr lang="en-US" dirty="0"/>
              <a:t>If no cost-effective safeguard options are available, accepting the risk might be the only option.</a:t>
            </a:r>
          </a:p>
          <a:p>
            <a:pPr marL="114300" indent="0">
              <a:buNone/>
            </a:pPr>
            <a:endParaRPr lang="en-US" dirty="0"/>
          </a:p>
        </p:txBody>
      </p:sp>
    </p:spTree>
    <p:extLst>
      <p:ext uri="{BB962C8B-B14F-4D97-AF65-F5344CB8AC3E}">
        <p14:creationId xmlns:p14="http://schemas.microsoft.com/office/powerpoint/2010/main" val="2793402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vs. Benefit of Security Controls</a:t>
            </a:r>
          </a:p>
        </p:txBody>
      </p:sp>
      <p:sp>
        <p:nvSpPr>
          <p:cNvPr id="3" name="Text Placeholder 2"/>
          <p:cNvSpPr>
            <a:spLocks noGrp="1"/>
          </p:cNvSpPr>
          <p:nvPr>
            <p:ph type="body" idx="1"/>
          </p:nvPr>
        </p:nvSpPr>
        <p:spPr/>
        <p:txBody>
          <a:bodyPr>
            <a:normAutofit fontScale="92500" lnSpcReduction="10000"/>
          </a:bodyPr>
          <a:lstStyle/>
          <a:p>
            <a:r>
              <a:rPr lang="en-US" b="1" dirty="0"/>
              <a:t>Other Considerations</a:t>
            </a:r>
            <a:r>
              <a:rPr lang="en-US" dirty="0"/>
              <a:t>:</a:t>
            </a:r>
          </a:p>
          <a:p>
            <a:pPr lvl="1"/>
            <a:r>
              <a:rPr lang="en-US" dirty="0"/>
              <a:t>Legal responsibility and due care/due diligence are factors to consider.</a:t>
            </a:r>
          </a:p>
          <a:p>
            <a:pPr lvl="1"/>
            <a:r>
              <a:rPr lang="en-US" dirty="0"/>
              <a:t>In some cases, it's more reasonable to deploy safeguards to avoid legal liability.</a:t>
            </a:r>
          </a:p>
          <a:p>
            <a:r>
              <a:rPr lang="en-US" b="1" dirty="0"/>
              <a:t>Calculation Steps</a:t>
            </a:r>
            <a:r>
              <a:rPr lang="en-US" dirty="0"/>
              <a:t>:</a:t>
            </a:r>
          </a:p>
          <a:p>
            <a:pPr lvl="1"/>
            <a:r>
              <a:rPr lang="en-US" dirty="0"/>
              <a:t>Calculate ALE1 (pre-safeguard ALE) and ALE2 (post-safeguard ALE) for each asset-threat pairing.</a:t>
            </a:r>
          </a:p>
          <a:p>
            <a:pPr lvl="1"/>
            <a:r>
              <a:rPr lang="en-US" dirty="0"/>
              <a:t>Determine ACS (annual cost of the safeguard).</a:t>
            </a:r>
          </a:p>
          <a:p>
            <a:pPr lvl="1"/>
            <a:r>
              <a:rPr lang="en-US" dirty="0"/>
              <a:t>Use the cost/benefit formula: (ALE1 - ALE2) - ACS.</a:t>
            </a:r>
          </a:p>
          <a:p>
            <a:r>
              <a:rPr lang="en-US" b="1" dirty="0"/>
              <a:t>Prioritization and Selection</a:t>
            </a:r>
            <a:r>
              <a:rPr lang="en-US" dirty="0"/>
              <a:t>:</a:t>
            </a:r>
          </a:p>
          <a:p>
            <a:pPr lvl="1"/>
            <a:r>
              <a:rPr lang="en-US" dirty="0"/>
              <a:t>Sort safeguards based on cost/benefit values.</a:t>
            </a:r>
          </a:p>
          <a:p>
            <a:pPr lvl="1"/>
            <a:r>
              <a:rPr lang="en-US" dirty="0"/>
              <a:t>The safeguard with the highest positive value is the most cost-effective option for a specific risk.</a:t>
            </a:r>
          </a:p>
        </p:txBody>
      </p:sp>
    </p:spTree>
    <p:extLst>
      <p:ext uri="{BB962C8B-B14F-4D97-AF65-F5344CB8AC3E}">
        <p14:creationId xmlns:p14="http://schemas.microsoft.com/office/powerpoint/2010/main" val="2006278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vs. Benefit of Security Controls</a:t>
            </a:r>
          </a:p>
        </p:txBody>
      </p:sp>
      <p:sp>
        <p:nvSpPr>
          <p:cNvPr id="3" name="Text Placeholder 2"/>
          <p:cNvSpPr>
            <a:spLocks noGrp="1"/>
          </p:cNvSpPr>
          <p:nvPr>
            <p:ph type="body" idx="1"/>
          </p:nvPr>
        </p:nvSpPr>
        <p:spPr/>
        <p:txBody>
          <a:bodyPr>
            <a:normAutofit/>
          </a:bodyPr>
          <a:lstStyle/>
          <a:p>
            <a:r>
              <a:rPr lang="en-US" b="1" dirty="0"/>
              <a:t>Budget Constraints</a:t>
            </a:r>
            <a:r>
              <a:rPr lang="en-US" dirty="0"/>
              <a:t>:</a:t>
            </a:r>
          </a:p>
          <a:p>
            <a:pPr lvl="1"/>
            <a:r>
              <a:rPr lang="en-US" dirty="0"/>
              <a:t>Organizations operate with limited budgets.</a:t>
            </a:r>
          </a:p>
          <a:p>
            <a:pPr lvl="1"/>
            <a:r>
              <a:rPr lang="en-US" dirty="0"/>
              <a:t>Effective security management involves assessing budgets, performance metrics, and resources.</a:t>
            </a:r>
          </a:p>
          <a:p>
            <a:pPr lvl="1"/>
            <a:r>
              <a:rPr lang="en-US" dirty="0"/>
              <a:t>Adjust priorities and compromises may be necessary to reduce overall risk with available resources.</a:t>
            </a:r>
          </a:p>
        </p:txBody>
      </p:sp>
    </p:spTree>
    <p:extLst>
      <p:ext uri="{BB962C8B-B14F-4D97-AF65-F5344CB8AC3E}">
        <p14:creationId xmlns:p14="http://schemas.microsoft.com/office/powerpoint/2010/main" val="1342703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Countermeasure Selection and Implementation</a:t>
            </a:r>
            <a:endParaRPr/>
          </a:p>
        </p:txBody>
      </p:sp>
      <p:sp>
        <p:nvSpPr>
          <p:cNvPr id="199" name="Google Shape;199;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dirty="0"/>
              <a:t>Definition: Countermeasures are security controls that are implemented to mitigate risks and protect assets</a:t>
            </a:r>
            <a:endParaRPr dirty="0"/>
          </a:p>
          <a:p>
            <a:pPr marL="685800" lvl="1" indent="-228600">
              <a:spcBef>
                <a:spcPts val="1000"/>
              </a:spcBef>
              <a:buSzPts val="2800"/>
            </a:pPr>
            <a:r>
              <a:rPr lang="en-US" dirty="0"/>
              <a:t>critical process that involves evaluating the effectiveness, feasibility, and cost of different security controls</a:t>
            </a:r>
            <a:endParaRPr dirty="0"/>
          </a:p>
          <a:p>
            <a:pPr marL="685800" lvl="1" indent="-228600">
              <a:spcBef>
                <a:spcPts val="1000"/>
              </a:spcBef>
              <a:buSzPts val="2800"/>
            </a:pPr>
            <a:r>
              <a:rPr lang="en-US" dirty="0"/>
              <a:t>Implementation refers to the process of installing, configuring, and testing the selected countermeasures</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19"/>
          <p:cNvPicPr preferRelativeResize="0"/>
          <p:nvPr/>
        </p:nvPicPr>
        <p:blipFill rotWithShape="1">
          <a:blip r:embed="rId3">
            <a:alphaModFix/>
          </a:blip>
          <a:srcRect/>
          <a:stretch/>
        </p:blipFill>
        <p:spPr>
          <a:xfrm>
            <a:off x="2926080" y="531681"/>
            <a:ext cx="6346507" cy="557289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Types of Countermeasures</a:t>
            </a:r>
            <a:endParaRPr/>
          </a:p>
        </p:txBody>
      </p:sp>
      <p:sp>
        <p:nvSpPr>
          <p:cNvPr id="210" name="Google Shape;210;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Administrative controls: Policies, procedures, awareness training, audits, and compliance monitoring</a:t>
            </a:r>
            <a:endParaRPr/>
          </a:p>
          <a:p>
            <a:pPr marL="228600" lvl="0" indent="-228600" algn="l" rtl="0">
              <a:lnSpc>
                <a:spcPct val="90000"/>
              </a:lnSpc>
              <a:spcBef>
                <a:spcPts val="1000"/>
              </a:spcBef>
              <a:spcAft>
                <a:spcPts val="0"/>
              </a:spcAft>
              <a:buClr>
                <a:schemeClr val="dk1"/>
              </a:buClr>
              <a:buSzPts val="2800"/>
              <a:buFont typeface="Arial"/>
              <a:buChar char="•"/>
            </a:pPr>
            <a:r>
              <a:rPr lang="en-US"/>
              <a:t>Technical controls: Firewalls, encryption, intrusion detection/prevention systems, access controls, and backup/disaster recovery systems</a:t>
            </a:r>
            <a:endParaRPr/>
          </a:p>
          <a:p>
            <a:pPr marL="228600" lvl="0" indent="-228600" algn="l" rtl="0">
              <a:lnSpc>
                <a:spcPct val="90000"/>
              </a:lnSpc>
              <a:spcBef>
                <a:spcPts val="1000"/>
              </a:spcBef>
              <a:spcAft>
                <a:spcPts val="0"/>
              </a:spcAft>
              <a:buClr>
                <a:schemeClr val="dk1"/>
              </a:buClr>
              <a:buSzPts val="2800"/>
              <a:buFont typeface="Arial"/>
              <a:buChar char="•"/>
            </a:pPr>
            <a:r>
              <a:rPr lang="en-US"/>
              <a:t>Physical controls: Security cameras, locks, biometric access controls, environmental controls (e.g., HVAC, fire suppression), and guards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Countermeasure Selection Process</a:t>
            </a:r>
            <a:endParaRPr/>
          </a:p>
        </p:txBody>
      </p:sp>
      <p:sp>
        <p:nvSpPr>
          <p:cNvPr id="216" name="Google Shape;216;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dirty="0"/>
              <a:t>Step 1: Identify risks and threats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Step 2: Analyze and evaluate countermeasures</a:t>
            </a:r>
          </a:p>
          <a:p>
            <a:pPr marL="228600" lvl="0" indent="-228600" algn="l" rtl="0">
              <a:lnSpc>
                <a:spcPct val="90000"/>
              </a:lnSpc>
              <a:spcBef>
                <a:spcPts val="1000"/>
              </a:spcBef>
              <a:spcAft>
                <a:spcPts val="0"/>
              </a:spcAft>
              <a:buClr>
                <a:schemeClr val="dk1"/>
              </a:buClr>
              <a:buSzPts val="2800"/>
              <a:buFont typeface="Arial"/>
              <a:buChar char="•"/>
            </a:pPr>
            <a:r>
              <a:rPr lang="en-US" dirty="0"/>
              <a:t>Step 3: Select countermeasures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Step 4: Document and communicate</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Countermeasure Implementation Process</a:t>
            </a:r>
            <a:endParaRPr/>
          </a:p>
        </p:txBody>
      </p:sp>
      <p:sp>
        <p:nvSpPr>
          <p:cNvPr id="222" name="Google Shape;222;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Font typeface="Arial"/>
              <a:buChar char="•"/>
            </a:pPr>
            <a:r>
              <a:rPr lang="en-US" dirty="0"/>
              <a:t>Step 1: Plan and prepare: Develop a detailed implementation plan that includes timelines, resource requirements, and responsibilities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Step 2: Configure and test: Configure the selected countermeasures according to the manufacturer's instructions and test them to ensure they work as intended</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Step 3: Deploy and monitor: Deploy the countermeasures and monitor their performance to ensure they are functioning as expected</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Step 4: Maintain and update: Regularly maintain and update the countermeasures to address changes in the environment, emerging threats, and new vulnerabilities</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Challenges in Countermeasure Selection and Implementation</a:t>
            </a:r>
            <a:endParaRPr/>
          </a:p>
        </p:txBody>
      </p:sp>
      <p:sp>
        <p:nvSpPr>
          <p:cNvPr id="228" name="Google Shape;228;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dirty="0"/>
              <a:t>Resource constraints: </a:t>
            </a:r>
          </a:p>
          <a:p>
            <a:pPr marL="685800" lvl="1" indent="-228600">
              <a:spcBef>
                <a:spcPts val="0"/>
              </a:spcBef>
              <a:buSzPts val="2800"/>
            </a:pPr>
            <a:r>
              <a:rPr lang="en-US" dirty="0"/>
              <a:t>Limited budget, staff, and time</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Compatibility issues: </a:t>
            </a:r>
          </a:p>
          <a:p>
            <a:pPr marL="685800" lvl="1" indent="-228600">
              <a:spcBef>
                <a:spcPts val="1000"/>
              </a:spcBef>
              <a:buSzPts val="2800"/>
            </a:pPr>
            <a:r>
              <a:rPr lang="en-US" dirty="0"/>
              <a:t>Different countermeasures may not be compatible with each other, leading to interoperability problems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Human factors: </a:t>
            </a:r>
          </a:p>
          <a:p>
            <a:pPr marL="685800" lvl="1" indent="-228600">
              <a:spcBef>
                <a:spcPts val="1000"/>
              </a:spcBef>
              <a:buSzPts val="2800"/>
            </a:pPr>
            <a:r>
              <a:rPr lang="en-US" dirty="0"/>
              <a:t>may be bypassed or misconfigured</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Emerging threats:</a:t>
            </a:r>
          </a:p>
          <a:p>
            <a:pPr marL="685800" lvl="1" indent="-228600">
              <a:spcBef>
                <a:spcPts val="1000"/>
              </a:spcBef>
              <a:buSzPts val="2800"/>
            </a:pPr>
            <a:r>
              <a:rPr lang="en-US" dirty="0"/>
              <a:t> New threats, leading to a constant cycle of selection and implementation</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Best Practices for Countermeasure Selection and Implementation</a:t>
            </a:r>
            <a:endParaRPr/>
          </a:p>
        </p:txBody>
      </p:sp>
      <p:sp>
        <p:nvSpPr>
          <p:cNvPr id="234" name="Google Shape;234;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Font typeface="Arial"/>
              <a:buChar char="•"/>
            </a:pPr>
            <a:r>
              <a:rPr lang="en-US" dirty="0"/>
              <a:t>Involve stakeholders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Follow industry standards and best practices</a:t>
            </a:r>
          </a:p>
          <a:p>
            <a:pPr marL="685800" lvl="1" indent="-228600">
              <a:spcBef>
                <a:spcPts val="1000"/>
              </a:spcBef>
              <a:buSzPts val="2800"/>
            </a:pPr>
            <a:r>
              <a:rPr lang="en-US" dirty="0"/>
              <a:t> Use established frameworks and guidelines (e.g., NIST, ISO) to guide the selection and implementation of countermeasures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Test and evaluate</a:t>
            </a:r>
          </a:p>
          <a:p>
            <a:pPr marL="685800" lvl="1" indent="-228600">
              <a:spcBef>
                <a:spcPts val="1000"/>
              </a:spcBef>
              <a:buSzPts val="2800"/>
            </a:pPr>
            <a:r>
              <a:rPr lang="en-US" dirty="0"/>
              <a:t> Regularly test and evaluate the effectiveness of the countermeasures and adjust them as necessary</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Continuous improvement</a:t>
            </a:r>
          </a:p>
          <a:p>
            <a:pPr marL="685800" lvl="1" indent="-228600">
              <a:spcBef>
                <a:spcPts val="1000"/>
              </a:spcBef>
              <a:buSzPts val="2800"/>
            </a:pPr>
            <a:r>
              <a:rPr lang="en-US" dirty="0"/>
              <a:t>identify and address new risks, emerging threats, and changing requirements</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Controls …. </a:t>
            </a:r>
            <a:endParaRPr dirty="0"/>
          </a:p>
        </p:txBody>
      </p:sp>
      <p:sp>
        <p:nvSpPr>
          <p:cNvPr id="265" name="Google Shape;265;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Font typeface="Arial"/>
              <a:buChar char="•"/>
            </a:pPr>
            <a:r>
              <a:rPr lang="en-US" dirty="0"/>
              <a:t>Detective controls are designed to detect security incidents or breaches.</a:t>
            </a:r>
            <a:endParaRPr dirty="0"/>
          </a:p>
          <a:p>
            <a:pPr marL="685800" lvl="1" indent="-228600">
              <a:spcBef>
                <a:spcPts val="1000"/>
              </a:spcBef>
              <a:buSzPts val="2800"/>
            </a:pPr>
            <a:r>
              <a:rPr lang="en-US" dirty="0"/>
              <a:t>intrusion detection and prevention systems, log monitoring, and security information and event management systems.</a:t>
            </a:r>
            <a:endParaRPr dirty="0"/>
          </a:p>
          <a:p>
            <a:pPr marL="228600" lvl="0" indent="-228600">
              <a:spcBef>
                <a:spcPts val="0"/>
              </a:spcBef>
              <a:buSzPts val="2800"/>
            </a:pPr>
            <a:r>
              <a:rPr lang="en-US" dirty="0"/>
              <a:t>Corrective controls are implemented to respond to security incidents or breaches and mitigate their impact.</a:t>
            </a:r>
          </a:p>
          <a:p>
            <a:pPr marL="685800" lvl="1" indent="-228600">
              <a:spcBef>
                <a:spcPts val="1000"/>
              </a:spcBef>
              <a:buSzPts val="2800"/>
            </a:pPr>
            <a:r>
              <a:rPr lang="en-US" dirty="0"/>
              <a:t>Examples of corrective controls include incident response procedures, backup and recovery procedures, and disaster recovery plans.</a:t>
            </a:r>
          </a:p>
          <a:p>
            <a:pPr marL="228600" lvl="0" indent="-228600">
              <a:spcBef>
                <a:spcPts val="0"/>
              </a:spcBef>
              <a:buSzPts val="2800"/>
            </a:pPr>
            <a:r>
              <a:rPr lang="en-US" dirty="0"/>
              <a:t>Preventive controls are designed to prevent security incidents or breaches from occurring.</a:t>
            </a:r>
          </a:p>
          <a:p>
            <a:pPr marL="685800" lvl="1" indent="-228600">
              <a:buSzPts val="2800"/>
            </a:pPr>
            <a:r>
              <a:rPr lang="en-US" dirty="0"/>
              <a:t>Examples of preventive controls include access control mechanisms, encryption, firewalls, and antivirus software.</a:t>
            </a:r>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Security Control Assessment</a:t>
            </a:r>
            <a:endParaRPr dirty="0"/>
          </a:p>
        </p:txBody>
      </p:sp>
      <p:sp>
        <p:nvSpPr>
          <p:cNvPr id="285" name="Google Shape;285;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dirty="0"/>
              <a:t>Security control assessment </a:t>
            </a:r>
          </a:p>
          <a:p>
            <a:pPr marL="685800" lvl="1" indent="-228600">
              <a:spcBef>
                <a:spcPts val="0"/>
              </a:spcBef>
              <a:buSzPts val="2800"/>
            </a:pPr>
            <a:r>
              <a:rPr lang="en-US" dirty="0"/>
              <a:t>is the process of evaluating the effectiveness of an organization's security controls.</a:t>
            </a:r>
            <a:endParaRPr dirty="0"/>
          </a:p>
          <a:p>
            <a:pPr marL="685800" lvl="1" indent="-228600">
              <a:spcBef>
                <a:spcPts val="1000"/>
              </a:spcBef>
              <a:buSzPts val="2800"/>
            </a:pPr>
            <a:r>
              <a:rPr lang="en-US" dirty="0"/>
              <a:t>the controls are operating as intended and providing adequate security.</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Key Elements of Security Control Assessment</a:t>
            </a:r>
            <a:endParaRPr/>
          </a:p>
        </p:txBody>
      </p:sp>
      <p:sp>
        <p:nvSpPr>
          <p:cNvPr id="291" name="Google Shape;291;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dirty="0"/>
              <a:t>Security control assessment includes several key elements, such as:</a:t>
            </a:r>
          </a:p>
          <a:p>
            <a:pPr marL="685800" lvl="1" indent="-228600">
              <a:spcBef>
                <a:spcPts val="0"/>
              </a:spcBef>
              <a:buSzPts val="2800"/>
            </a:pPr>
            <a:r>
              <a:rPr lang="en-US" dirty="0"/>
              <a:t>Developing a comprehensive understanding of the organization's security controls</a:t>
            </a:r>
            <a:endParaRPr dirty="0"/>
          </a:p>
          <a:p>
            <a:pPr marL="685800" lvl="1" indent="-228600">
              <a:spcBef>
                <a:spcPts val="1000"/>
              </a:spcBef>
              <a:buSzPts val="2800"/>
            </a:pPr>
            <a:r>
              <a:rPr lang="en-US" dirty="0"/>
              <a:t>Establishing assessment criteria and objectives</a:t>
            </a:r>
            <a:endParaRPr dirty="0"/>
          </a:p>
          <a:p>
            <a:pPr marL="685800" lvl="1" indent="-228600">
              <a:spcBef>
                <a:spcPts val="1000"/>
              </a:spcBef>
              <a:buSzPts val="2800"/>
            </a:pPr>
            <a:r>
              <a:rPr lang="en-US" dirty="0"/>
              <a:t>Conducting the assessment using appropriate methods and techniques</a:t>
            </a:r>
            <a:endParaRPr dirty="0"/>
          </a:p>
          <a:p>
            <a:pPr marL="685800" lvl="1" indent="-228600">
              <a:spcBef>
                <a:spcPts val="1000"/>
              </a:spcBef>
              <a:buSzPts val="2800"/>
            </a:pPr>
            <a:r>
              <a:rPr lang="en-US" dirty="0"/>
              <a:t>Analyzing the results of the assessment</a:t>
            </a:r>
            <a:endParaRPr dirty="0"/>
          </a:p>
          <a:p>
            <a:pPr marL="685800" lvl="1" indent="-228600">
              <a:spcBef>
                <a:spcPts val="1000"/>
              </a:spcBef>
              <a:buSzPts val="2800"/>
            </a:pPr>
            <a:r>
              <a:rPr lang="en-US" dirty="0"/>
              <a:t>Reporting the findings and recommendations for improvement</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Types of Security Control Assessment</a:t>
            </a:r>
            <a:endParaRPr/>
          </a:p>
        </p:txBody>
      </p:sp>
      <p:sp>
        <p:nvSpPr>
          <p:cNvPr id="297" name="Google Shape;297;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There are several types of security control assessment, including:</a:t>
            </a:r>
            <a:endParaRPr/>
          </a:p>
          <a:p>
            <a:pPr marL="685800" lvl="1" indent="-228600" algn="l" rtl="0">
              <a:lnSpc>
                <a:spcPct val="90000"/>
              </a:lnSpc>
              <a:spcBef>
                <a:spcPts val="500"/>
              </a:spcBef>
              <a:spcAft>
                <a:spcPts val="0"/>
              </a:spcAft>
              <a:buClr>
                <a:schemeClr val="dk1"/>
              </a:buClr>
              <a:buSzPts val="2400"/>
              <a:buChar char="•"/>
            </a:pPr>
            <a:r>
              <a:rPr lang="en-US"/>
              <a:t>Vulnerability Assessment</a:t>
            </a:r>
            <a:endParaRPr/>
          </a:p>
          <a:p>
            <a:pPr marL="685800" lvl="1" indent="-228600" algn="l" rtl="0">
              <a:lnSpc>
                <a:spcPct val="90000"/>
              </a:lnSpc>
              <a:spcBef>
                <a:spcPts val="500"/>
              </a:spcBef>
              <a:spcAft>
                <a:spcPts val="0"/>
              </a:spcAft>
              <a:buClr>
                <a:schemeClr val="dk1"/>
              </a:buClr>
              <a:buSzPts val="2400"/>
              <a:buChar char="•"/>
            </a:pPr>
            <a:r>
              <a:rPr lang="en-US"/>
              <a:t>Penetration Testing</a:t>
            </a:r>
            <a:endParaRPr/>
          </a:p>
          <a:p>
            <a:pPr marL="685800" lvl="1" indent="-228600" algn="l" rtl="0">
              <a:lnSpc>
                <a:spcPct val="90000"/>
              </a:lnSpc>
              <a:spcBef>
                <a:spcPts val="500"/>
              </a:spcBef>
              <a:spcAft>
                <a:spcPts val="0"/>
              </a:spcAft>
              <a:buClr>
                <a:schemeClr val="dk1"/>
              </a:buClr>
              <a:buSzPts val="2400"/>
              <a:buChar char="•"/>
            </a:pPr>
            <a:r>
              <a:rPr lang="en-US"/>
              <a:t>Security Audit</a:t>
            </a:r>
            <a:endParaRPr/>
          </a:p>
          <a:p>
            <a:pPr marL="685800" lvl="1" indent="-228600" algn="l" rtl="0">
              <a:lnSpc>
                <a:spcPct val="90000"/>
              </a:lnSpc>
              <a:spcBef>
                <a:spcPts val="500"/>
              </a:spcBef>
              <a:spcAft>
                <a:spcPts val="0"/>
              </a:spcAft>
              <a:buClr>
                <a:schemeClr val="dk1"/>
              </a:buClr>
              <a:buSzPts val="2400"/>
              <a:buChar char="•"/>
            </a:pPr>
            <a:r>
              <a:rPr lang="en-US"/>
              <a:t>Risk Assessment</a:t>
            </a:r>
            <a:endParaRPr/>
          </a:p>
          <a:p>
            <a:pPr marL="685800" lvl="1" indent="-228600" algn="l" rtl="0">
              <a:lnSpc>
                <a:spcPct val="90000"/>
              </a:lnSpc>
              <a:spcBef>
                <a:spcPts val="500"/>
              </a:spcBef>
              <a:spcAft>
                <a:spcPts val="0"/>
              </a:spcAft>
              <a:buClr>
                <a:schemeClr val="dk1"/>
              </a:buClr>
              <a:buSzPts val="2400"/>
              <a:buChar char="•"/>
            </a:pPr>
            <a:r>
              <a:rPr lang="en-US"/>
              <a:t>Security Certification and Accreditation</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Monitoring and Measurement in Security Controls</a:t>
            </a:r>
            <a:endParaRPr/>
          </a:p>
        </p:txBody>
      </p:sp>
      <p:sp>
        <p:nvSpPr>
          <p:cNvPr id="304" name="Google Shape;304;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Security controls should provide quantifiable benefits that can be monitored and measured</a:t>
            </a:r>
            <a:endParaRPr/>
          </a:p>
          <a:p>
            <a:pPr marL="228600" lvl="0" indent="-228600" algn="l" rtl="0">
              <a:lnSpc>
                <a:spcPct val="90000"/>
              </a:lnSpc>
              <a:spcBef>
                <a:spcPts val="1000"/>
              </a:spcBef>
              <a:spcAft>
                <a:spcPts val="0"/>
              </a:spcAft>
              <a:buClr>
                <a:schemeClr val="dk1"/>
              </a:buClr>
              <a:buSzPts val="2800"/>
              <a:buFont typeface="Arial"/>
              <a:buChar char="•"/>
            </a:pPr>
            <a:r>
              <a:rPr lang="en-US"/>
              <a:t>A security control that cannot be evaluated or compared does not provide any security</a:t>
            </a:r>
            <a:endParaRPr/>
          </a:p>
          <a:p>
            <a:pPr marL="228600" lvl="0" indent="-228600" algn="l" rtl="0">
              <a:lnSpc>
                <a:spcPct val="90000"/>
              </a:lnSpc>
              <a:spcBef>
                <a:spcPts val="1000"/>
              </a:spcBef>
              <a:spcAft>
                <a:spcPts val="0"/>
              </a:spcAft>
              <a:buClr>
                <a:schemeClr val="dk1"/>
              </a:buClr>
              <a:buSzPts val="2800"/>
              <a:buFont typeface="Arial"/>
              <a:buChar char="•"/>
            </a:pPr>
            <a:r>
              <a:rPr lang="en-US"/>
              <a:t>Consider internal or external monitoring when selecting initial countermeasures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Measuring Countermeasure Effectiveness</a:t>
            </a:r>
            <a:endParaRPr/>
          </a:p>
        </p:txBody>
      </p:sp>
      <p:sp>
        <p:nvSpPr>
          <p:cNvPr id="310" name="Google Shape;310;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Measuring countermeasure effectiveness is not always an absolute value</a:t>
            </a:r>
            <a:endParaRPr/>
          </a:p>
          <a:p>
            <a:pPr marL="228600" lvl="0" indent="-228600" algn="l" rtl="0">
              <a:lnSpc>
                <a:spcPct val="90000"/>
              </a:lnSpc>
              <a:spcBef>
                <a:spcPts val="1000"/>
              </a:spcBef>
              <a:spcAft>
                <a:spcPts val="0"/>
              </a:spcAft>
              <a:buClr>
                <a:schemeClr val="dk1"/>
              </a:buClr>
              <a:buSzPts val="2800"/>
              <a:buFont typeface="Arial"/>
              <a:buChar char="•"/>
            </a:pPr>
            <a:r>
              <a:rPr lang="en-US"/>
              <a:t>Many countermeasures offer degrees of improvement rather than specific hard numbers</a:t>
            </a:r>
            <a:endParaRPr/>
          </a:p>
          <a:p>
            <a:pPr marL="228600" lvl="0" indent="-228600" algn="l" rtl="0">
              <a:lnSpc>
                <a:spcPct val="90000"/>
              </a:lnSpc>
              <a:spcBef>
                <a:spcPts val="1000"/>
              </a:spcBef>
              <a:spcAft>
                <a:spcPts val="0"/>
              </a:spcAft>
              <a:buClr>
                <a:schemeClr val="dk1"/>
              </a:buClr>
              <a:buSzPts val="2800"/>
              <a:buFont typeface="Arial"/>
              <a:buChar char="•"/>
            </a:pPr>
            <a:r>
              <a:rPr lang="en-US"/>
              <a:t>Monitoring and recording events before and after safeguard installation is necessary for accurate measurement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Starting Point for Measuring Benefits</a:t>
            </a:r>
            <a:endParaRPr/>
          </a:p>
        </p:txBody>
      </p:sp>
      <p:sp>
        <p:nvSpPr>
          <p:cNvPr id="316" name="Google Shape;316;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Benefits can only be accurately measured if the starting point (i.e., normal point or initial risk level) is known</a:t>
            </a:r>
            <a:endParaRPr/>
          </a:p>
          <a:p>
            <a:pPr marL="228600" lvl="0" indent="-228600" algn="l" rtl="0">
              <a:lnSpc>
                <a:spcPct val="90000"/>
              </a:lnSpc>
              <a:spcBef>
                <a:spcPts val="1000"/>
              </a:spcBef>
              <a:spcAft>
                <a:spcPts val="0"/>
              </a:spcAft>
              <a:buClr>
                <a:schemeClr val="dk1"/>
              </a:buClr>
              <a:buSzPts val="2800"/>
              <a:buFont typeface="Arial"/>
              <a:buChar char="•"/>
            </a:pPr>
            <a:r>
              <a:rPr lang="en-US"/>
              <a:t>Part of the cost/benefit equation considers countermeasure monitoring and measurement</a:t>
            </a:r>
            <a:endParaRPr/>
          </a:p>
          <a:p>
            <a:pPr marL="228600" lvl="0" indent="-228600" algn="l" rtl="0">
              <a:lnSpc>
                <a:spcPct val="90000"/>
              </a:lnSpc>
              <a:spcBef>
                <a:spcPts val="1000"/>
              </a:spcBef>
              <a:spcAft>
                <a:spcPts val="0"/>
              </a:spcAft>
              <a:buClr>
                <a:schemeClr val="dk1"/>
              </a:buClr>
              <a:buSzPts val="2800"/>
              <a:buFont typeface="Arial"/>
              <a:buChar char="•"/>
            </a:pPr>
            <a:r>
              <a:rPr lang="en-US"/>
              <a:t>A significant improvement in security should be identified to justify the expense of new countermeasure deployment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Cost-Effective Countermeasure Deployment</a:t>
            </a:r>
            <a:endParaRPr/>
          </a:p>
        </p:txBody>
      </p:sp>
      <p:sp>
        <p:nvSpPr>
          <p:cNvPr id="323" name="Google Shape;32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Just because a security control provides some level of increased security does not necessarily mean that the benefit gained is cost-effective</a:t>
            </a:r>
            <a:endParaRPr/>
          </a:p>
          <a:p>
            <a:pPr marL="228600" lvl="0" indent="-228600" algn="l" rtl="0">
              <a:lnSpc>
                <a:spcPct val="90000"/>
              </a:lnSpc>
              <a:spcBef>
                <a:spcPts val="1000"/>
              </a:spcBef>
              <a:spcAft>
                <a:spcPts val="0"/>
              </a:spcAft>
              <a:buClr>
                <a:schemeClr val="dk1"/>
              </a:buClr>
              <a:buSzPts val="2800"/>
              <a:buFont typeface="Arial"/>
              <a:buChar char="•"/>
            </a:pPr>
            <a:r>
              <a:rPr lang="en-US"/>
              <a:t>The expense of new countermeasure deployment must be clearly justified by identifying a significant improvement in security</a:t>
            </a:r>
            <a:endParaRPr/>
          </a:p>
          <a:p>
            <a:pPr marL="228600" lvl="0" indent="-228600" algn="l" rtl="0">
              <a:lnSpc>
                <a:spcPct val="90000"/>
              </a:lnSpc>
              <a:spcBef>
                <a:spcPts val="1000"/>
              </a:spcBef>
              <a:spcAft>
                <a:spcPts val="0"/>
              </a:spcAft>
              <a:buClr>
                <a:schemeClr val="dk1"/>
              </a:buClr>
              <a:buSzPts val="2800"/>
              <a:buFont typeface="Arial"/>
              <a:buChar char="•"/>
            </a:pPr>
            <a:r>
              <a:rPr lang="en-US"/>
              <a:t>Countermeasure monitoring and measurement must be taken into account in the cost/benefit equation.</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Risk Reporting</a:t>
            </a:r>
            <a:endParaRPr/>
          </a:p>
        </p:txBody>
      </p:sp>
      <p:sp>
        <p:nvSpPr>
          <p:cNvPr id="330" name="Google Shape;330;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ts val="2800"/>
              <a:buFont typeface="Arial"/>
              <a:buChar char="•"/>
            </a:pPr>
            <a:r>
              <a:rPr lang="en-US" dirty="0"/>
              <a:t>Risk reporting is a key task in the risk analysis process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The goal is to produce a comprehensive and accurate report that supports decision making</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The report should be timely and updated on a regular basis</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It may be an internal or external concern, depending on the organization and regulations</a:t>
            </a:r>
          </a:p>
          <a:p>
            <a:pPr marL="228600" lvl="0" indent="-228600">
              <a:spcBef>
                <a:spcPts val="0"/>
              </a:spcBef>
              <a:buSzPts val="2800"/>
            </a:pPr>
            <a:r>
              <a:rPr lang="en-US" dirty="0"/>
              <a:t>The risk report should be comprehensive of the entire organization</a:t>
            </a:r>
          </a:p>
          <a:p>
            <a:pPr marL="228600" lvl="0" indent="-228600">
              <a:buSzPts val="2800"/>
            </a:pPr>
            <a:r>
              <a:rPr lang="en-US" dirty="0"/>
              <a:t>It should be clear and precise, presenting the information in a way that supports decision making</a:t>
            </a:r>
          </a:p>
          <a:p>
            <a:pPr marL="228600" lvl="0" indent="-228600">
              <a:buSzPts val="2800"/>
            </a:pPr>
            <a:r>
              <a:rPr lang="en-US" dirty="0"/>
              <a:t>It should include all relevant information, such as identified risks, their severity, and recommended responses</a:t>
            </a:r>
          </a:p>
          <a:p>
            <a:pPr marL="228600" lvl="0" indent="-228600" algn="l" rtl="0">
              <a:lnSpc>
                <a:spcPct val="90000"/>
              </a:lnSpc>
              <a:spcBef>
                <a:spcPts val="1000"/>
              </a:spcBef>
              <a:spcAft>
                <a:spcPts val="0"/>
              </a:spcAft>
              <a:buClr>
                <a:schemeClr val="dk1"/>
              </a:buClr>
              <a:buSzPts val="2800"/>
              <a:buFont typeface="Arial"/>
              <a:buChar char="•"/>
            </a:pP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Risk Register</a:t>
            </a:r>
            <a:endParaRPr/>
          </a:p>
        </p:txBody>
      </p:sp>
      <p:sp>
        <p:nvSpPr>
          <p:cNvPr id="342" name="Google Shape;342;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A risk register is a document that inventories all identified risks to an organization, system, or project</a:t>
            </a:r>
            <a:endParaRPr/>
          </a:p>
          <a:p>
            <a:pPr marL="228600" lvl="0" indent="-228600" algn="l" rtl="0">
              <a:lnSpc>
                <a:spcPct val="90000"/>
              </a:lnSpc>
              <a:spcBef>
                <a:spcPts val="1000"/>
              </a:spcBef>
              <a:spcAft>
                <a:spcPts val="0"/>
              </a:spcAft>
              <a:buClr>
                <a:schemeClr val="dk1"/>
              </a:buClr>
              <a:buSzPts val="2800"/>
              <a:buFont typeface="Arial"/>
              <a:buChar char="•"/>
            </a:pPr>
            <a:r>
              <a:rPr lang="en-US"/>
              <a:t>It is used to record and track risk management activities, including identifying, evaluating, and prioritizing risks, and tracking progress on mitigation efforts</a:t>
            </a:r>
            <a:endParaRPr/>
          </a:p>
          <a:p>
            <a:pPr marL="228600" lvl="0" indent="-228600" algn="l" rtl="0">
              <a:lnSpc>
                <a:spcPct val="90000"/>
              </a:lnSpc>
              <a:spcBef>
                <a:spcPts val="1000"/>
              </a:spcBef>
              <a:spcAft>
                <a:spcPts val="0"/>
              </a:spcAft>
              <a:buClr>
                <a:schemeClr val="dk1"/>
              </a:buClr>
              <a:buSzPts val="2800"/>
              <a:buFont typeface="Arial"/>
              <a:buChar char="•"/>
            </a:pPr>
            <a:r>
              <a:rPr lang="en-US"/>
              <a:t>It can serve as a project management document to track completion of risk response activities</a:t>
            </a:r>
            <a:endParaRPr/>
          </a:p>
          <a:p>
            <a:pPr marL="228600" lvl="0" indent="-228600" algn="l" rtl="0">
              <a:lnSpc>
                <a:spcPct val="90000"/>
              </a:lnSpc>
              <a:spcBef>
                <a:spcPts val="1000"/>
              </a:spcBef>
              <a:spcAft>
                <a:spcPts val="0"/>
              </a:spcAft>
              <a:buClr>
                <a:schemeClr val="dk1"/>
              </a:buClr>
              <a:buSzPts val="2800"/>
              <a:buFont typeface="Arial"/>
              <a:buChar char="•"/>
            </a:pPr>
            <a:r>
              <a:rPr lang="en-US"/>
              <a:t>The contents can be shared with others to facilitate a more realistic evaluation of real-world threats and risks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Continuous Improvement</a:t>
            </a:r>
            <a:endParaRPr/>
          </a:p>
        </p:txBody>
      </p:sp>
      <p:sp>
        <p:nvSpPr>
          <p:cNvPr id="355" name="Google Shape;355;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Risk analysis is performed to provide upper management with details necessary to decide which risks should be mitigated, transferred, deterred, avoided, and accepted.</a:t>
            </a:r>
            <a:endParaRPr/>
          </a:p>
          <a:p>
            <a:pPr marL="228600" lvl="0" indent="-228600" algn="l" rtl="0">
              <a:lnSpc>
                <a:spcPct val="90000"/>
              </a:lnSpc>
              <a:spcBef>
                <a:spcPts val="1000"/>
              </a:spcBef>
              <a:spcAft>
                <a:spcPts val="0"/>
              </a:spcAft>
              <a:buClr>
                <a:schemeClr val="dk1"/>
              </a:buClr>
              <a:buSzPts val="2800"/>
              <a:buFont typeface="Arial"/>
              <a:buChar char="•"/>
            </a:pPr>
            <a:r>
              <a:rPr lang="en-US"/>
              <a:t>Risk analysis identifies risks, quantifies the impact of threats, and aids in budgeting for security.</a:t>
            </a:r>
            <a:endParaRPr/>
          </a:p>
          <a:p>
            <a:pPr marL="228600" lvl="0" indent="-228600" algn="l" rtl="0">
              <a:lnSpc>
                <a:spcPct val="90000"/>
              </a:lnSpc>
              <a:spcBef>
                <a:spcPts val="1000"/>
              </a:spcBef>
              <a:spcAft>
                <a:spcPts val="0"/>
              </a:spcAft>
              <a:buClr>
                <a:schemeClr val="dk1"/>
              </a:buClr>
              <a:buSzPts val="2800"/>
              <a:buFont typeface="Arial"/>
              <a:buChar char="•"/>
            </a:pPr>
            <a:r>
              <a:rPr lang="en-US"/>
              <a:t>However, threats and vulnerabilities constantly change, and the risk assessment needs to be redone periodically to support continuous improvement.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Enterprise Risk Management (ERM)</a:t>
            </a:r>
            <a:endParaRPr/>
          </a:p>
        </p:txBody>
      </p:sp>
      <p:sp>
        <p:nvSpPr>
          <p:cNvPr id="367" name="Google Shape;367;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An ERM program can be evaluated using the Risk Maturity Model (RMM).</a:t>
            </a:r>
            <a:endParaRPr/>
          </a:p>
          <a:p>
            <a:pPr marL="228600" lvl="0" indent="-228600" algn="l" rtl="0">
              <a:lnSpc>
                <a:spcPct val="90000"/>
              </a:lnSpc>
              <a:spcBef>
                <a:spcPts val="1000"/>
              </a:spcBef>
              <a:spcAft>
                <a:spcPts val="0"/>
              </a:spcAft>
              <a:buClr>
                <a:schemeClr val="dk1"/>
              </a:buClr>
              <a:buSzPts val="2800"/>
              <a:buFont typeface="Arial"/>
              <a:buChar char="•"/>
            </a:pPr>
            <a:r>
              <a:rPr lang="en-US"/>
              <a:t>The RMM assesses the key areas of risk management and provides a framework for continuous improvement.</a:t>
            </a:r>
            <a:endParaRPr/>
          </a:p>
          <a:p>
            <a:pPr marL="228600" lvl="0" indent="-228600" algn="l" rtl="0">
              <a:lnSpc>
                <a:spcPct val="90000"/>
              </a:lnSpc>
              <a:spcBef>
                <a:spcPts val="1000"/>
              </a:spcBef>
              <a:spcAft>
                <a:spcPts val="0"/>
              </a:spcAft>
              <a:buClr>
                <a:schemeClr val="dk1"/>
              </a:buClr>
              <a:buSzPts val="2800"/>
              <a:buFont typeface="Arial"/>
              <a:buChar char="•"/>
            </a:pPr>
            <a:r>
              <a:rPr lang="en-US"/>
              <a:t>The RMM has five levels: Initial, Repeatable, Defined, Integrated, and Optimized.</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Legacy Devices</a:t>
            </a:r>
            <a:endParaRPr/>
          </a:p>
        </p:txBody>
      </p:sp>
      <p:sp>
        <p:nvSpPr>
          <p:cNvPr id="373" name="Google Shape;373;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An often-overlooked area of risk is that of legacy devices, which may be End-of-Life (EOL) and/or End-of-Support Life (EOSL).</a:t>
            </a:r>
            <a:endParaRPr/>
          </a:p>
          <a:p>
            <a:pPr marL="228600" lvl="0" indent="-228600" algn="l" rtl="0">
              <a:lnSpc>
                <a:spcPct val="90000"/>
              </a:lnSpc>
              <a:spcBef>
                <a:spcPts val="1000"/>
              </a:spcBef>
              <a:spcAft>
                <a:spcPts val="0"/>
              </a:spcAft>
              <a:buClr>
                <a:schemeClr val="dk1"/>
              </a:buClr>
              <a:buSzPts val="2800"/>
              <a:buFont typeface="Arial"/>
              <a:buChar char="•"/>
            </a:pPr>
            <a:r>
              <a:rPr lang="en-US"/>
              <a:t>EOL is the point at which a manufacturer no longer produces a product.</a:t>
            </a:r>
            <a:endParaRPr/>
          </a:p>
          <a:p>
            <a:pPr marL="228600" lvl="0" indent="-228600" algn="l" rtl="0">
              <a:lnSpc>
                <a:spcPct val="90000"/>
              </a:lnSpc>
              <a:spcBef>
                <a:spcPts val="1000"/>
              </a:spcBef>
              <a:spcAft>
                <a:spcPts val="0"/>
              </a:spcAft>
              <a:buClr>
                <a:schemeClr val="dk1"/>
              </a:buClr>
              <a:buSzPts val="2800"/>
              <a:buFont typeface="Arial"/>
              <a:buChar char="•"/>
            </a:pPr>
            <a:r>
              <a:rPr lang="en-US"/>
              <a:t>EOSL or End-of-Support (EOS) are those systems that are no longer receiving updates and support from the vendor.</a:t>
            </a:r>
            <a:endParaRPr/>
          </a:p>
          <a:p>
            <a:pPr marL="228600" lvl="0" indent="-228600" algn="l" rtl="0">
              <a:lnSpc>
                <a:spcPct val="90000"/>
              </a:lnSpc>
              <a:spcBef>
                <a:spcPts val="1000"/>
              </a:spcBef>
              <a:spcAft>
                <a:spcPts val="0"/>
              </a:spcAft>
              <a:buClr>
                <a:schemeClr val="dk1"/>
              </a:buClr>
              <a:buSzPts val="2800"/>
              <a:buFont typeface="Arial"/>
              <a:buChar char="•"/>
            </a:pPr>
            <a:r>
              <a:rPr lang="en-US"/>
              <a:t>It is important to move off EOSL systems in order to maintain a secure environment and reduce the risk of compromise.</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a Risk Framework?</a:t>
            </a:r>
            <a:endParaRPr/>
          </a:p>
        </p:txBody>
      </p:sp>
      <p:sp>
        <p:nvSpPr>
          <p:cNvPr id="380" name="Google Shape;380;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A guideline or recipe for how risk is to be assessed, resolved, and monitored.</a:t>
            </a:r>
            <a:endParaRPr/>
          </a:p>
          <a:p>
            <a:pPr marL="228600" lvl="0" indent="-228600" algn="l" rtl="0">
              <a:lnSpc>
                <a:spcPct val="90000"/>
              </a:lnSpc>
              <a:spcBef>
                <a:spcPts val="1000"/>
              </a:spcBef>
              <a:spcAft>
                <a:spcPts val="0"/>
              </a:spcAft>
              <a:buClr>
                <a:schemeClr val="dk1"/>
              </a:buClr>
              <a:buSzPts val="2800"/>
              <a:buFont typeface="Arial"/>
              <a:buChar char="•"/>
            </a:pPr>
            <a:r>
              <a:rPr lang="en-US"/>
              <a:t>Provides a structured approach to risk management.</a:t>
            </a:r>
            <a:endParaRPr/>
          </a:p>
          <a:p>
            <a:pPr marL="228600" lvl="0" indent="-228600" algn="l" rtl="0">
              <a:lnSpc>
                <a:spcPct val="90000"/>
              </a:lnSpc>
              <a:spcBef>
                <a:spcPts val="1000"/>
              </a:spcBef>
              <a:spcAft>
                <a:spcPts val="0"/>
              </a:spcAft>
              <a:buClr>
                <a:schemeClr val="dk1"/>
              </a:buClr>
              <a:buSzPts val="2800"/>
              <a:buFont typeface="Arial"/>
              <a:buChar char="•"/>
            </a:pPr>
            <a:r>
              <a:rPr lang="en-US"/>
              <a:t>Consists of policies, procedures, and tools to manage risk.</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NIST Risk Management Framework (RMF)</a:t>
            </a:r>
            <a:endParaRPr/>
          </a:p>
        </p:txBody>
      </p:sp>
      <p:sp>
        <p:nvSpPr>
          <p:cNvPr id="386" name="Google Shape;386;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Arial"/>
              <a:buChar char="•"/>
            </a:pPr>
            <a:r>
              <a:rPr lang="en-US"/>
              <a:t>Established in 2010</a:t>
            </a:r>
            <a:endParaRPr/>
          </a:p>
          <a:p>
            <a:pPr marL="228600" lvl="0" indent="-228600" algn="l" rtl="0">
              <a:lnSpc>
                <a:spcPct val="90000"/>
              </a:lnSpc>
              <a:spcBef>
                <a:spcPts val="1000"/>
              </a:spcBef>
              <a:spcAft>
                <a:spcPts val="0"/>
              </a:spcAft>
              <a:buClr>
                <a:schemeClr val="dk1"/>
              </a:buClr>
              <a:buSzPts val="2800"/>
              <a:buFont typeface="Arial"/>
              <a:buChar char="•"/>
            </a:pPr>
            <a:r>
              <a:rPr lang="en-US"/>
              <a:t>Defines mandatory security requirements for federal agencies</a:t>
            </a:r>
            <a:endParaRPr/>
          </a:p>
          <a:p>
            <a:pPr marL="228600" lvl="0" indent="-228600" algn="l" rtl="0">
              <a:lnSpc>
                <a:spcPct val="90000"/>
              </a:lnSpc>
              <a:spcBef>
                <a:spcPts val="1000"/>
              </a:spcBef>
              <a:spcAft>
                <a:spcPts val="0"/>
              </a:spcAft>
              <a:buClr>
                <a:schemeClr val="dk1"/>
              </a:buClr>
              <a:buSzPts val="2800"/>
              <a:buFont typeface="Arial"/>
              <a:buChar char="•"/>
            </a:pPr>
            <a:r>
              <a:rPr lang="en-US"/>
              <a:t>Six cyclical phases:</a:t>
            </a:r>
            <a:endParaRPr/>
          </a:p>
          <a:p>
            <a:pPr marL="742950" lvl="1" indent="-285750" algn="l" rtl="0">
              <a:lnSpc>
                <a:spcPct val="90000"/>
              </a:lnSpc>
              <a:spcBef>
                <a:spcPts val="500"/>
              </a:spcBef>
              <a:spcAft>
                <a:spcPts val="0"/>
              </a:spcAft>
              <a:buClr>
                <a:schemeClr val="dk1"/>
              </a:buClr>
              <a:buSzPts val="2400"/>
              <a:buFont typeface="Arial"/>
              <a:buChar char="•"/>
            </a:pPr>
            <a:r>
              <a:rPr lang="en-US"/>
              <a:t>Prepare</a:t>
            </a:r>
            <a:endParaRPr/>
          </a:p>
          <a:p>
            <a:pPr marL="742950" lvl="1" indent="-285750" algn="l" rtl="0">
              <a:lnSpc>
                <a:spcPct val="90000"/>
              </a:lnSpc>
              <a:spcBef>
                <a:spcPts val="500"/>
              </a:spcBef>
              <a:spcAft>
                <a:spcPts val="0"/>
              </a:spcAft>
              <a:buClr>
                <a:schemeClr val="dk1"/>
              </a:buClr>
              <a:buSzPts val="2400"/>
              <a:buFont typeface="Arial"/>
              <a:buChar char="•"/>
            </a:pPr>
            <a:r>
              <a:rPr lang="en-US"/>
              <a:t>Categorize</a:t>
            </a:r>
            <a:endParaRPr/>
          </a:p>
          <a:p>
            <a:pPr marL="742950" lvl="1" indent="-285750" algn="l" rtl="0">
              <a:lnSpc>
                <a:spcPct val="90000"/>
              </a:lnSpc>
              <a:spcBef>
                <a:spcPts val="500"/>
              </a:spcBef>
              <a:spcAft>
                <a:spcPts val="0"/>
              </a:spcAft>
              <a:buClr>
                <a:schemeClr val="dk1"/>
              </a:buClr>
              <a:buSzPts val="2400"/>
              <a:buFont typeface="Arial"/>
              <a:buChar char="•"/>
            </a:pPr>
            <a:r>
              <a:rPr lang="en-US"/>
              <a:t>Select</a:t>
            </a:r>
            <a:endParaRPr/>
          </a:p>
          <a:p>
            <a:pPr marL="742950" lvl="1" indent="-285750" algn="l" rtl="0">
              <a:lnSpc>
                <a:spcPct val="90000"/>
              </a:lnSpc>
              <a:spcBef>
                <a:spcPts val="500"/>
              </a:spcBef>
              <a:spcAft>
                <a:spcPts val="0"/>
              </a:spcAft>
              <a:buClr>
                <a:schemeClr val="dk1"/>
              </a:buClr>
              <a:buSzPts val="2400"/>
              <a:buFont typeface="Arial"/>
              <a:buChar char="•"/>
            </a:pPr>
            <a:r>
              <a:rPr lang="en-US"/>
              <a:t>Implement</a:t>
            </a:r>
            <a:endParaRPr/>
          </a:p>
          <a:p>
            <a:pPr marL="742950" lvl="1" indent="-285750" algn="l" rtl="0">
              <a:lnSpc>
                <a:spcPct val="90000"/>
              </a:lnSpc>
              <a:spcBef>
                <a:spcPts val="500"/>
              </a:spcBef>
              <a:spcAft>
                <a:spcPts val="0"/>
              </a:spcAft>
              <a:buClr>
                <a:schemeClr val="dk1"/>
              </a:buClr>
              <a:buSzPts val="2400"/>
              <a:buFont typeface="Arial"/>
              <a:buChar char="•"/>
            </a:pPr>
            <a:r>
              <a:rPr lang="en-US"/>
              <a:t>Assess</a:t>
            </a:r>
            <a:endParaRPr/>
          </a:p>
          <a:p>
            <a:pPr marL="742950" lvl="1" indent="-285750" algn="l" rtl="0">
              <a:lnSpc>
                <a:spcPct val="90000"/>
              </a:lnSpc>
              <a:spcBef>
                <a:spcPts val="500"/>
              </a:spcBef>
              <a:spcAft>
                <a:spcPts val="0"/>
              </a:spcAft>
              <a:buClr>
                <a:schemeClr val="dk1"/>
              </a:buClr>
              <a:buSzPts val="2400"/>
              <a:buFont typeface="Arial"/>
              <a:buChar char="•"/>
            </a:pPr>
            <a:r>
              <a:rPr lang="en-US"/>
              <a:t>Authorize</a:t>
            </a:r>
            <a:endParaRPr/>
          </a:p>
          <a:p>
            <a:pPr marL="742950" lvl="1" indent="-285750" algn="l" rtl="0">
              <a:lnSpc>
                <a:spcPct val="90000"/>
              </a:lnSpc>
              <a:spcBef>
                <a:spcPts val="500"/>
              </a:spcBef>
              <a:spcAft>
                <a:spcPts val="0"/>
              </a:spcAft>
              <a:buClr>
                <a:schemeClr val="dk1"/>
              </a:buClr>
              <a:buSzPts val="2400"/>
              <a:buFont typeface="Arial"/>
              <a:buChar char="•"/>
            </a:pPr>
            <a:r>
              <a:rPr lang="en-US"/>
              <a:t>A risk management process to identify and respond to threats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NIST Cybersecurity Framework (CSF)</a:t>
            </a:r>
            <a:endParaRPr/>
          </a:p>
        </p:txBody>
      </p:sp>
      <p:sp>
        <p:nvSpPr>
          <p:cNvPr id="392" name="Google Shape;392;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Font typeface="Arial"/>
              <a:buChar char="•"/>
            </a:pPr>
            <a:r>
              <a:rPr lang="en-US"/>
              <a:t>Established in 2014</a:t>
            </a:r>
            <a:endParaRPr/>
          </a:p>
          <a:p>
            <a:pPr marL="228600" lvl="0" indent="-228600" algn="l" rtl="0">
              <a:lnSpc>
                <a:spcPct val="90000"/>
              </a:lnSpc>
              <a:spcBef>
                <a:spcPts val="1000"/>
              </a:spcBef>
              <a:spcAft>
                <a:spcPts val="0"/>
              </a:spcAft>
              <a:buClr>
                <a:schemeClr val="dk1"/>
              </a:buClr>
              <a:buSzPct val="100000"/>
              <a:buFont typeface="Arial"/>
              <a:buChar char="•"/>
            </a:pPr>
            <a:r>
              <a:rPr lang="en-US"/>
              <a:t>Designed for critical infrastructure and commercial organizations</a:t>
            </a:r>
            <a:endParaRPr/>
          </a:p>
          <a:p>
            <a:pPr marL="228600" lvl="0" indent="-228600" algn="l" rtl="0">
              <a:lnSpc>
                <a:spcPct val="90000"/>
              </a:lnSpc>
              <a:spcBef>
                <a:spcPts val="1000"/>
              </a:spcBef>
              <a:spcAft>
                <a:spcPts val="0"/>
              </a:spcAft>
              <a:buClr>
                <a:schemeClr val="dk1"/>
              </a:buClr>
              <a:buSzPct val="100000"/>
              <a:buFont typeface="Arial"/>
              <a:buChar char="•"/>
            </a:pPr>
            <a:r>
              <a:rPr lang="en-US"/>
              <a:t>Consists of five functions:</a:t>
            </a:r>
            <a:endParaRPr/>
          </a:p>
          <a:p>
            <a:pPr marL="742950" lvl="1" indent="-285750" algn="l" rtl="0">
              <a:lnSpc>
                <a:spcPct val="90000"/>
              </a:lnSpc>
              <a:spcBef>
                <a:spcPts val="500"/>
              </a:spcBef>
              <a:spcAft>
                <a:spcPts val="0"/>
              </a:spcAft>
              <a:buClr>
                <a:schemeClr val="dk1"/>
              </a:buClr>
              <a:buSzPct val="100000"/>
              <a:buFont typeface="Arial"/>
              <a:buChar char="•"/>
            </a:pPr>
            <a:r>
              <a:rPr lang="en-US"/>
              <a:t>Identify</a:t>
            </a:r>
            <a:endParaRPr/>
          </a:p>
          <a:p>
            <a:pPr marL="742950" lvl="1" indent="-285750" algn="l" rtl="0">
              <a:lnSpc>
                <a:spcPct val="90000"/>
              </a:lnSpc>
              <a:spcBef>
                <a:spcPts val="500"/>
              </a:spcBef>
              <a:spcAft>
                <a:spcPts val="0"/>
              </a:spcAft>
              <a:buClr>
                <a:schemeClr val="dk1"/>
              </a:buClr>
              <a:buSzPct val="100000"/>
              <a:buFont typeface="Arial"/>
              <a:buChar char="•"/>
            </a:pPr>
            <a:r>
              <a:rPr lang="en-US"/>
              <a:t>Protect</a:t>
            </a:r>
            <a:endParaRPr/>
          </a:p>
          <a:p>
            <a:pPr marL="742950" lvl="1" indent="-285750" algn="l" rtl="0">
              <a:lnSpc>
                <a:spcPct val="90000"/>
              </a:lnSpc>
              <a:spcBef>
                <a:spcPts val="500"/>
              </a:spcBef>
              <a:spcAft>
                <a:spcPts val="0"/>
              </a:spcAft>
              <a:buClr>
                <a:schemeClr val="dk1"/>
              </a:buClr>
              <a:buSzPct val="100000"/>
              <a:buFont typeface="Arial"/>
              <a:buChar char="•"/>
            </a:pPr>
            <a:r>
              <a:rPr lang="en-US"/>
              <a:t>Detect</a:t>
            </a:r>
            <a:endParaRPr/>
          </a:p>
          <a:p>
            <a:pPr marL="742950" lvl="1" indent="-285750" algn="l" rtl="0">
              <a:lnSpc>
                <a:spcPct val="90000"/>
              </a:lnSpc>
              <a:spcBef>
                <a:spcPts val="500"/>
              </a:spcBef>
              <a:spcAft>
                <a:spcPts val="0"/>
              </a:spcAft>
              <a:buClr>
                <a:schemeClr val="dk1"/>
              </a:buClr>
              <a:buSzPct val="100000"/>
              <a:buFont typeface="Arial"/>
              <a:buChar char="•"/>
            </a:pPr>
            <a:r>
              <a:rPr lang="en-US"/>
              <a:t>Respond</a:t>
            </a:r>
            <a:endParaRPr/>
          </a:p>
          <a:p>
            <a:pPr marL="742950" lvl="1" indent="-285750" algn="l" rtl="0">
              <a:lnSpc>
                <a:spcPct val="90000"/>
              </a:lnSpc>
              <a:spcBef>
                <a:spcPts val="500"/>
              </a:spcBef>
              <a:spcAft>
                <a:spcPts val="0"/>
              </a:spcAft>
              <a:buClr>
                <a:schemeClr val="dk1"/>
              </a:buClr>
              <a:buSzPct val="100000"/>
              <a:buFont typeface="Arial"/>
              <a:buChar char="•"/>
            </a:pPr>
            <a:r>
              <a:rPr lang="en-US"/>
              <a:t>Recover</a:t>
            </a:r>
            <a:endParaRPr/>
          </a:p>
          <a:p>
            <a:pPr marL="228600" lvl="0" indent="-228600" algn="l" rtl="0">
              <a:lnSpc>
                <a:spcPct val="90000"/>
              </a:lnSpc>
              <a:spcBef>
                <a:spcPts val="1000"/>
              </a:spcBef>
              <a:spcAft>
                <a:spcPts val="0"/>
              </a:spcAft>
              <a:buClr>
                <a:schemeClr val="dk1"/>
              </a:buClr>
              <a:buSzPct val="100000"/>
              <a:buFont typeface="Arial"/>
              <a:buChar char="•"/>
            </a:pPr>
            <a:r>
              <a:rPr lang="en-US"/>
              <a:t>Not a checklist or procedure, but a prescription of operational activities to improve security over time</a:t>
            </a:r>
            <a:endParaRPr/>
          </a:p>
          <a:p>
            <a:pPr marL="228600" lvl="0" indent="-228600" algn="l" rtl="0">
              <a:lnSpc>
                <a:spcPct val="90000"/>
              </a:lnSpc>
              <a:spcBef>
                <a:spcPts val="1000"/>
              </a:spcBef>
              <a:spcAft>
                <a:spcPts val="0"/>
              </a:spcAft>
              <a:buClr>
                <a:schemeClr val="dk1"/>
              </a:buClr>
              <a:buSzPct val="100000"/>
              <a:buFont typeface="Arial"/>
              <a:buChar char="•"/>
            </a:pPr>
            <a:r>
              <a:rPr lang="en-US"/>
              <a:t>An improvement system rather than a specific risk management process or security infrastructure</a:t>
            </a:r>
            <a:endParaRPr/>
          </a:p>
          <a:p>
            <a:pPr marL="228600" lvl="0" indent="-64135"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Any Questions??</a:t>
            </a:r>
            <a:endParaRPr/>
          </a:p>
        </p:txBody>
      </p:sp>
      <p:sp>
        <p:nvSpPr>
          <p:cNvPr id="411" name="Google Shape;411;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19F990-B237-39BB-6132-930EB366D169}"/>
              </a:ext>
            </a:extLst>
          </p:cNvPr>
          <p:cNvSpPr txBox="1"/>
          <p:nvPr/>
        </p:nvSpPr>
        <p:spPr>
          <a:xfrm>
            <a:off x="380999" y="797511"/>
            <a:ext cx="10308771" cy="5047536"/>
          </a:xfrm>
          <a:prstGeom prst="rect">
            <a:avLst/>
          </a:prstGeom>
          <a:noFill/>
        </p:spPr>
        <p:txBody>
          <a:bodyPr wrap="square">
            <a:spAutoFit/>
          </a:bodyPr>
          <a:lstStyle/>
          <a:p>
            <a:pPr>
              <a:buNone/>
            </a:pPr>
            <a:r>
              <a:rPr lang="en-US" b="1" dirty="0"/>
              <a:t>Misuse Case Scenario: Unauthorized Access to Student Portal</a:t>
            </a:r>
          </a:p>
          <a:p>
            <a:pPr>
              <a:buFont typeface="Arial" panose="020B0604020202020204" pitchFamily="34" charset="0"/>
              <a:buChar char="•"/>
            </a:pPr>
            <a:r>
              <a:rPr lang="en-US" b="1" dirty="0"/>
              <a:t>System</a:t>
            </a:r>
            <a:r>
              <a:rPr lang="en-US" dirty="0"/>
              <a:t>: University Student Information System (SIS)</a:t>
            </a:r>
          </a:p>
          <a:p>
            <a:pPr>
              <a:buFont typeface="Arial" panose="020B0604020202020204" pitchFamily="34" charset="0"/>
              <a:buChar char="•"/>
            </a:pPr>
            <a:r>
              <a:rPr lang="en-US" b="1" dirty="0"/>
              <a:t>Actor (Malicious)</a:t>
            </a:r>
            <a:r>
              <a:rPr lang="en-US" dirty="0"/>
              <a:t>: Cyber Attacker / Disgruntled Student</a:t>
            </a:r>
          </a:p>
          <a:p>
            <a:pPr>
              <a:buFont typeface="Arial" panose="020B0604020202020204" pitchFamily="34" charset="0"/>
              <a:buChar char="•"/>
            </a:pPr>
            <a:r>
              <a:rPr lang="en-US" b="1" dirty="0"/>
              <a:t>Misuse Goal</a:t>
            </a:r>
            <a:r>
              <a:rPr lang="en-US" dirty="0"/>
              <a:t>: Gain unauthorized access to another student’s account</a:t>
            </a:r>
          </a:p>
          <a:p>
            <a:pPr>
              <a:buNone/>
            </a:pPr>
            <a:r>
              <a:rPr lang="en-US" b="1" dirty="0"/>
              <a:t>Preconditions</a:t>
            </a:r>
          </a:p>
          <a:p>
            <a:pPr>
              <a:buFont typeface="Arial" panose="020B0604020202020204" pitchFamily="34" charset="0"/>
              <a:buChar char="•"/>
            </a:pPr>
            <a:r>
              <a:rPr lang="en-US" dirty="0"/>
              <a:t>Student portal is live and accessible via the internet</a:t>
            </a:r>
          </a:p>
          <a:p>
            <a:pPr>
              <a:buFont typeface="Arial" panose="020B0604020202020204" pitchFamily="34" charset="0"/>
              <a:buChar char="•"/>
            </a:pPr>
            <a:r>
              <a:rPr lang="en-US" dirty="0"/>
              <a:t>Some students use weak or reused passwords</a:t>
            </a:r>
          </a:p>
          <a:p>
            <a:pPr>
              <a:buFont typeface="Arial" panose="020B0604020202020204" pitchFamily="34" charset="0"/>
              <a:buChar char="•"/>
            </a:pPr>
            <a:r>
              <a:rPr lang="en-US" dirty="0"/>
              <a:t>No multi-factor authentication (MFA) is enforced</a:t>
            </a:r>
          </a:p>
          <a:p>
            <a:pPr>
              <a:buNone/>
            </a:pPr>
            <a:r>
              <a:rPr lang="en-US" b="1" dirty="0"/>
              <a:t>Basic Misuse Flow</a:t>
            </a:r>
          </a:p>
          <a:p>
            <a:pPr>
              <a:buFont typeface="+mj-lt"/>
              <a:buAutoNum type="arabicPeriod"/>
            </a:pPr>
            <a:r>
              <a:rPr lang="en-US" dirty="0"/>
              <a:t>Attacker navigates to the university login page.</a:t>
            </a:r>
          </a:p>
          <a:p>
            <a:pPr>
              <a:buFont typeface="+mj-lt"/>
              <a:buAutoNum type="arabicPeriod"/>
            </a:pPr>
            <a:r>
              <a:rPr lang="en-US" dirty="0"/>
              <a:t>Attacker launches a brute-force attack or credential stuffing attack.</a:t>
            </a:r>
          </a:p>
          <a:p>
            <a:pPr>
              <a:buFont typeface="+mj-lt"/>
              <a:buAutoNum type="arabicPeriod"/>
            </a:pPr>
            <a:r>
              <a:rPr lang="en-US" dirty="0"/>
              <a:t>System fails to detect unusual login attempts.</a:t>
            </a:r>
          </a:p>
          <a:p>
            <a:pPr>
              <a:buFont typeface="+mj-lt"/>
              <a:buAutoNum type="arabicPeriod"/>
            </a:pPr>
            <a:r>
              <a:rPr lang="en-US" dirty="0"/>
              <a:t>Attacker successfully logs in using guessed/reused credentials.</a:t>
            </a:r>
          </a:p>
          <a:p>
            <a:pPr>
              <a:buFont typeface="+mj-lt"/>
              <a:buAutoNum type="arabicPeriod"/>
            </a:pPr>
            <a:r>
              <a:rPr lang="en-US" dirty="0"/>
              <a:t>Attacker views or modifies sensitive student records (grades, financial data, etc.).</a:t>
            </a:r>
          </a:p>
          <a:p>
            <a:pPr>
              <a:buNone/>
            </a:pPr>
            <a:r>
              <a:rPr lang="en-US" b="1" dirty="0"/>
              <a:t>Postconditions</a:t>
            </a:r>
          </a:p>
          <a:p>
            <a:pPr>
              <a:buFont typeface="Arial" panose="020B0604020202020204" pitchFamily="34" charset="0"/>
              <a:buChar char="•"/>
            </a:pPr>
            <a:r>
              <a:rPr lang="en-US" dirty="0"/>
              <a:t>Student’s data confidentiality and integrity are compromised.</a:t>
            </a:r>
          </a:p>
          <a:p>
            <a:pPr>
              <a:buFont typeface="Arial" panose="020B0604020202020204" pitchFamily="34" charset="0"/>
              <a:buChar char="•"/>
            </a:pPr>
            <a:r>
              <a:rPr lang="en-US" dirty="0"/>
              <a:t>University reputation is at risk.</a:t>
            </a:r>
          </a:p>
          <a:p>
            <a:pPr>
              <a:buFont typeface="Arial" panose="020B0604020202020204" pitchFamily="34" charset="0"/>
              <a:buChar char="•"/>
            </a:pPr>
            <a:r>
              <a:rPr lang="en-US" dirty="0"/>
              <a:t>Victim student may face academic or financial issues.</a:t>
            </a:r>
          </a:p>
          <a:p>
            <a:pPr>
              <a:buNone/>
            </a:pPr>
            <a:r>
              <a:rPr lang="en-US" b="1" dirty="0"/>
              <a:t>Mitigation / Countermeasures</a:t>
            </a:r>
          </a:p>
          <a:p>
            <a:pPr>
              <a:buFont typeface="Arial" panose="020B0604020202020204" pitchFamily="34" charset="0"/>
              <a:buChar char="•"/>
            </a:pPr>
            <a:r>
              <a:rPr lang="en-US" dirty="0"/>
              <a:t>Enforce strong password policies.</a:t>
            </a:r>
          </a:p>
          <a:p>
            <a:pPr>
              <a:buFont typeface="Arial" panose="020B0604020202020204" pitchFamily="34" charset="0"/>
              <a:buChar char="•"/>
            </a:pPr>
            <a:r>
              <a:rPr lang="en-US" dirty="0"/>
              <a:t>Enable MFA for all accounts.</a:t>
            </a:r>
          </a:p>
          <a:p>
            <a:pPr>
              <a:buFont typeface="Arial" panose="020B0604020202020204" pitchFamily="34" charset="0"/>
              <a:buChar char="•"/>
            </a:pPr>
            <a:r>
              <a:rPr lang="en-US" dirty="0"/>
              <a:t>Implement account lockout after multiple failed attempts.</a:t>
            </a:r>
          </a:p>
          <a:p>
            <a:pPr>
              <a:buFont typeface="Arial" panose="020B0604020202020204" pitchFamily="34" charset="0"/>
              <a:buChar char="•"/>
            </a:pPr>
            <a:r>
              <a:rPr lang="en-US" dirty="0"/>
              <a:t>Deploy anomaly detection for login attempts.</a:t>
            </a:r>
          </a:p>
        </p:txBody>
      </p:sp>
    </p:spTree>
    <p:extLst>
      <p:ext uri="{BB962C8B-B14F-4D97-AF65-F5344CB8AC3E}">
        <p14:creationId xmlns:p14="http://schemas.microsoft.com/office/powerpoint/2010/main" val="4177554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8463</Words>
  <Application>Microsoft Office PowerPoint</Application>
  <PresentationFormat>Widescreen</PresentationFormat>
  <Paragraphs>583</Paragraphs>
  <Slides>57</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Aptos</vt:lpstr>
      <vt:lpstr>Aptos Display</vt:lpstr>
      <vt:lpstr>Arial</vt:lpstr>
      <vt:lpstr>Calibri</vt:lpstr>
      <vt:lpstr>Cambria Math</vt:lpstr>
      <vt:lpstr>Georgia</vt:lpstr>
      <vt:lpstr>Noto Sans Symbols</vt:lpstr>
      <vt:lpstr>Office Theme</vt:lpstr>
      <vt:lpstr>RISK Management </vt:lpstr>
      <vt:lpstr>Risk</vt:lpstr>
      <vt:lpstr>Risk Management Concepts</vt:lpstr>
      <vt:lpstr>Continuous Risk Management</vt:lpstr>
      <vt:lpstr>PowerPoint Presentation</vt:lpstr>
      <vt:lpstr>Risk Terminologies</vt:lpstr>
      <vt:lpstr>Risk Terminologies</vt:lpstr>
      <vt:lpstr>PowerPoint Presentation</vt:lpstr>
      <vt:lpstr>Asset Valuation in Risk Analysis</vt:lpstr>
      <vt:lpstr>Factors in Asset Valuation</vt:lpstr>
      <vt:lpstr>Cost/Benefit Analysis of Security Controls</vt:lpstr>
      <vt:lpstr>Identifying Threats and Vulnerabilities</vt:lpstr>
      <vt:lpstr>Identifying Threats and Vulnerabilities</vt:lpstr>
      <vt:lpstr>Risk Assessment/Analysis Responsibilities</vt:lpstr>
      <vt:lpstr>Risk Assessment/Analysis Responsibilities</vt:lpstr>
      <vt:lpstr>Qualitative Risk Analysis</vt:lpstr>
      <vt:lpstr>Qualitative Risk Analysis</vt:lpstr>
      <vt:lpstr>Scenario</vt:lpstr>
      <vt:lpstr>Scenario</vt:lpstr>
      <vt:lpstr>Delphi Technique</vt:lpstr>
      <vt:lpstr>Quantitative Risk Analysis</vt:lpstr>
      <vt:lpstr>Quantitative Risk Analysis</vt:lpstr>
      <vt:lpstr>Quantitative Risk Analysis</vt:lpstr>
      <vt:lpstr>PowerPoint Presentation</vt:lpstr>
      <vt:lpstr>PowerPoint Presentation</vt:lpstr>
      <vt:lpstr>Risk Responses</vt:lpstr>
      <vt:lpstr>Risk Responses</vt:lpstr>
      <vt:lpstr>Risk Responses</vt:lpstr>
      <vt:lpstr>Cost vs. Benefit of Security Controls</vt:lpstr>
      <vt:lpstr>Cost vs. Benefit of Security Controls</vt:lpstr>
      <vt:lpstr>Cost vs. Benefit of Security Controls</vt:lpstr>
      <vt:lpstr>Cost vs. Benefit of Security Controls</vt:lpstr>
      <vt:lpstr>Countermeasure Selection and Implementation</vt:lpstr>
      <vt:lpstr>PowerPoint Presentation</vt:lpstr>
      <vt:lpstr>Types of Countermeasures</vt:lpstr>
      <vt:lpstr>Countermeasure Selection Process</vt:lpstr>
      <vt:lpstr>Countermeasure Implementation Process</vt:lpstr>
      <vt:lpstr>Challenges in Countermeasure Selection and Implementation</vt:lpstr>
      <vt:lpstr>Best Practices for Countermeasure Selection and Implementation</vt:lpstr>
      <vt:lpstr>Controls …. </vt:lpstr>
      <vt:lpstr>Security Control Assessment</vt:lpstr>
      <vt:lpstr>Key Elements of Security Control Assessment</vt:lpstr>
      <vt:lpstr>Types of Security Control Assessment</vt:lpstr>
      <vt:lpstr>Monitoring and Measurement in Security Controls</vt:lpstr>
      <vt:lpstr>Measuring Countermeasure Effectiveness</vt:lpstr>
      <vt:lpstr>Starting Point for Measuring Benefits</vt:lpstr>
      <vt:lpstr>Cost-Effective Countermeasure Deployment</vt:lpstr>
      <vt:lpstr>Risk Reporting</vt:lpstr>
      <vt:lpstr>Risk Register</vt:lpstr>
      <vt:lpstr>Continuous Improvement</vt:lpstr>
      <vt:lpstr>Enterprise Risk Management (ERM)</vt:lpstr>
      <vt:lpstr>Legacy Devices</vt:lpstr>
      <vt:lpstr>What is a Risk Framework?</vt:lpstr>
      <vt:lpstr>NIST Risk Management Framework (RMF)</vt:lpstr>
      <vt:lpstr>NIST Cybersecurity Framework (CSF)</vt:lpstr>
      <vt:lpstr>Any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sumera saleem</dc:creator>
  <cp:lastModifiedBy>sumera saleem</cp:lastModifiedBy>
  <cp:revision>2</cp:revision>
  <dcterms:created xsi:type="dcterms:W3CDTF">2025-09-16T05:51:30Z</dcterms:created>
  <dcterms:modified xsi:type="dcterms:W3CDTF">2025-09-25T10:28:13Z</dcterms:modified>
</cp:coreProperties>
</file>